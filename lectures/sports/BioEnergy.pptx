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76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sz="15620"/>
    <p:restoredTop sz="94660"/>
  </p:normalViewPr>
  <p:slideViewPr>
    <p:cSldViewPr snapToGrid="0">
      <p:cViewPr varScale="1">
        <p:scale>
          <a:sx d="100" n="63"/>
          <a:sy d="100" n="63"/>
        </p:scale>
        <p:origin x="64" y="432"/>
      </p:cViewPr>
      <p:guideLst/>
    </p:cSldViewPr>
  </p:slideViewPr>
  <p:notesTextViewPr>
    <p:cViewPr>
      <p:scale>
        <a:sx d="1" n="1"/>
        <a:sy d="1" n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7" Type="http://schemas.microsoft.com/office/2015/10/relationships/revisionInfo" Target="revisionInfo.xml" /><Relationship Id="rId22" Type="http://schemas.openxmlformats.org/officeDocument/2006/relationships/presProps" Target="presProps.xml" /><Relationship Id="rId26" Type="http://schemas.microsoft.com/office/2016/11/relationships/changesInfo" Target="changesInfos/changesInfo1.xml" /><Relationship Id="rId1" Type="http://schemas.openxmlformats.org/officeDocument/2006/relationships/slideMaster" Target="slideMasters/slideMaster1.xml" /><Relationship Id="rId25" Type="http://schemas.openxmlformats.org/officeDocument/2006/relationships/tableStyles" Target="tableStyles.xml" /><Relationship Id="rId24" Type="http://schemas.openxmlformats.org/officeDocument/2006/relationships/theme" Target="theme/theme1.xml" /><Relationship Id="rId23" Type="http://schemas.openxmlformats.org/officeDocument/2006/relationships/viewProps" Target="view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F9204-3F29-4C3A-BA41-3063400202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3393CD-7262-4AC7-80E6-52FE6F3F39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0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D430AE-0210-4E82-AD7B-41B112DE7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fld id="{11A6662E-FAF4-44BC-88B5-85A7CBFB6D30}" type="datetime1">
              <a:rPr lang="en-US" smtClean="0"/>
              <a:pPr/>
              <a:t>2/19/2022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221974-7DEC-459D-9642-CB5B59C82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endParaRPr lang="en-US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731837-C94E-4B5B-BCF0-110C69EDB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080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CC1FC-ADE8-488C-A1DA-2FD569FD4D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694" y="365760"/>
            <a:ext cx="10895106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F02842-38C3-46D6-8527-0F6FE623C5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864CF5-F681-40C2-88CC-E02206C9C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2/19/2022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C04753-4FE4-4A6F-99BB-CFFC92E0C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A569D1-DB13-4BD9-8BA9-0DEAD98F8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6674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20B05-7BF6-4073-9106-FA19E9727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8EE8D7-6B58-4A3F-9DD5-E563D5192A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02990E-9F0A-446A-B5B8-459CA8D98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17D9E-721A-44BB-8863-9873FE64DA75}" type="datetime1">
              <a:rPr lang="en-US" smtClean="0"/>
              <a:t>2/19/2022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E68EAA-4377-45FF-9D7C-9E77BC9F2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07FA71-74C3-44B8-A0AC-E18A1E76B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9310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71F12-2D88-4F76-AF46-BD5156C12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694" y="365760"/>
            <a:ext cx="10895106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E1AA46-E3EB-4704-B019-F90F1E6177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8695" y="1825625"/>
            <a:ext cx="5561106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17480F-A530-4D05-9A22-E573FB4BA6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1825625"/>
            <a:ext cx="5561105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B56FDA-C47A-4F4A-A364-BA60A25AB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DA2F-80B8-49CF-99FB-5ABCA53A607A}" type="datetime1">
              <a:rPr lang="en-US" smtClean="0"/>
              <a:t>2/19/2022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6D8DD-6D84-44D4-8A1B-57615B3ED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C8FE31-B577-4017-8AFE-A8BA09596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5751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C28C9-B8CC-413F-9FFA-626680E4A8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694" y="365125"/>
            <a:ext cx="1127461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53FE72-9D42-45F5-A37F-B12130388A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5256" y="1752600"/>
            <a:ext cx="5532319" cy="823912"/>
          </a:xfrm>
        </p:spPr>
        <p:txBody>
          <a:bodyPr anchor="b"/>
          <a:lstStyle>
            <a:lvl1pPr marL="0" indent="0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E3A31D-9B5F-4DE3-B18D-F7F77782EB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5256" y="2666999"/>
            <a:ext cx="5532319" cy="35226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BE1D2D-822C-466C-A7B9-1A2D97366A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752600"/>
            <a:ext cx="5561106" cy="823912"/>
          </a:xfrm>
        </p:spPr>
        <p:txBody>
          <a:bodyPr anchor="b"/>
          <a:lstStyle>
            <a:lvl1pPr marL="0" indent="0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F13B2C-44CA-49C4-BC84-02AF1638F3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66999"/>
            <a:ext cx="5561106" cy="35226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93CB55-E9C1-4CE6-9B61-81B71475B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52172-E6C9-4B6C-929A-A9DE3837BBF1}" type="datetime1">
              <a:rPr lang="en-US" smtClean="0"/>
              <a:t>2/19/2022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F22318-747B-4EC9-862C-D9FD488CC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FBDDDF-16BD-438D-937D-0E3E30E74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0406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92D5F-0BD4-4517-9233-E08AF405B6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694" y="365760"/>
            <a:ext cx="1127461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3523B8-51E3-48B8-BFD8-CE95061980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8693" y="6416675"/>
            <a:ext cx="2921715" cy="365125"/>
          </a:xfrm>
        </p:spPr>
        <p:txBody>
          <a:bodyPr/>
          <a:lstStyle/>
          <a:p>
            <a:fld id="{3AB41CFF-90C9-47B3-9DA1-F2BF8D839F7E}" type="datetime1">
              <a:rPr lang="en-US" smtClean="0"/>
              <a:t>2/19/2022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739B90-5D50-4424-B51D-53C3916218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6F9286-3A00-4D3C-A3F0-50AC9045C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078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933BE2-665A-42DA-A3B7-835F81A3F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48FA-06AB-4884-A69B-986B96E68A24}" type="datetime1">
              <a:rPr lang="en-US" smtClean="0"/>
              <a:t>2/19/2022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4DBCBD-AD42-432D-ABA9-20D616AF3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140251-3596-4673-B24B-59A6F9ED8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1635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A81A1-6D8E-4DD6-8E49-DABDE6D10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93F18F-F78D-4A31-A6BC-6552105BCF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82C2F4-BDF4-4A4F-AA3D-52692932C2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13850F-5C87-4F08-9658-EAF049B60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B7ABA-0172-4F9C-889D-567164F66BCD}" type="datetime1">
              <a:rPr lang="en-US" smtClean="0"/>
              <a:t>2/19/2022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0BCE9A-A746-4439-B5D3-966FBC8E5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1D3B51-AA2E-4AA1-8062-A0D476D80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21792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02CF7-F453-4B3E-9510-D74797987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E2A1B9-8A2A-4B49-8B79-76D3EEB36B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9FEA03-0EC4-4085-AE63-4AA492D61A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05AD5B-0DEA-4C6F-94D2-FAA99F2E5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6A5B-8AE7-4A41-B5A7-9ADC6686DC18}" type="datetime1">
              <a:rPr lang="en-US" smtClean="0"/>
              <a:t>2/19/2022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DC6744-7CBA-4A1D-8F87-10699F981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AD9048-35FF-4BE9-8157-BE4BAA1C7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6791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ABDD2-E186-4F25-8FDE-D1E875E9C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18CC5B-A7E0-48B1-8329-6533AC76E7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905B1B-77FE-4BFC-BF87-87DA989F0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59632-1575-4E14-B53B-3DC3D5ED3947}" type="datetime1">
              <a:rPr lang="en-US" smtClean="0"/>
              <a:t>2/19/2022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18531E-1B90-4631-BD37-4BB1DBFAB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8A55E8-88DC-4280-8E04-FF50FF8ED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1208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960633D-90E4-4F5A-9EBF-DDEC2B0B47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DD3065-FA3D-42C8-BFDA-967C87F4F2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DC126F-38E2-4425-861F-98ED43228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6868-2568-4CC9-B302-F37117B01A6E}" type="datetime1">
              <a:rPr lang="en-US" smtClean="0"/>
              <a:t>2/19/2022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9645D8-F22A-4354-A8B3-96E8A2D23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9E2295-A616-4D57-8800-7B7E213A8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06814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13" Target="../media/image1.png" Type="http://schemas.openxmlformats.org/officeDocument/2006/relationships/image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BABF38A-8A0D-492E-BD20-6CF4D46B5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4"/>
          </a:xfrm>
          <a:prstGeom prst="rect">
            <a:avLst/>
          </a:prstGeom>
          <a:solidFill>
            <a:schemeClr val="bg2">
              <a:lumMod val="9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dirty="0" lang="en-US">
              <a:solidFill>
                <a:schemeClr val="tx1">
                  <a:lumMod val="65000"/>
                  <a:lumOff val="35000"/>
                </a:schemeClr>
              </a:solidFill>
              <a:latin charset="0" panose="020B0504020202020204" pitchFamily="34" typeface="AvenirNext LT Pro Medium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984D45-0ED3-4D03-8E44-5E355C913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694" y="425450"/>
            <a:ext cx="11274612" cy="1325563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dirty="0"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687D6E-D1E9-489C-9AA9-3575C39BAA0B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458694" y="1949450"/>
            <a:ext cx="11274612" cy="4195763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364E9C-08EE-4B1B-B3FC-D6D997F4EA38}"/>
              </a:ext>
            </a:extLst>
          </p:cNvPr>
          <p:cNvSpPr>
            <a:spLocks noGrp="1"/>
          </p:cNvSpPr>
          <p:nvPr>
            <p:ph idx="2" sz="half" type="dt"/>
          </p:nvPr>
        </p:nvSpPr>
        <p:spPr>
          <a:xfrm>
            <a:off x="458694" y="6416675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fld id="{57E0CF6C-748E-4B7A-BC8B-3011EF78ED13}" type="datetime1">
              <a:rPr lang="en-US" smtClean="0"/>
              <a:pPr/>
              <a:t>2/19/2022</a:t>
            </a:fld>
            <a:endParaRPr dirty="0"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B0A1F1-38FE-4C27-81E6-A43A54793FC3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4038600" y="6416675"/>
            <a:ext cx="41148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endParaRPr dirty="0" lang="en-US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26B39A-FFD8-42EF-ADC7-7DB3B302F8B2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990106" y="6416675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dirty="0" lang="en-US"/>
          </a:p>
        </p:txBody>
      </p:sp>
      <p:pic>
        <p:nvPicPr>
          <p:cNvPr descr="A picture containing sitting  Description automatically generated" id="14" name="Picture 13">
            <a:extLst>
              <a:ext uri="{FF2B5EF4-FFF2-40B4-BE49-F238E27FC236}">
                <a16:creationId xmlns:a16="http://schemas.microsoft.com/office/drawing/2014/main" id="{BC526B7A-4801-4FD1-95C8-03AF22629E87}"/>
              </a:ext>
            </a:extLst>
          </p:cNvPr>
          <p:cNvPicPr>
            <a:picLocks noChangeAspect="1"/>
          </p:cNvPicPr>
          <p:nvPr/>
        </p:nvPicPr>
        <p:blipFill>
          <a:blip r:embed="rId13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400" y="0"/>
            <a:ext cx="3654612" cy="4575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0629062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761" r:id="rId1"/>
    <p:sldLayoutId id="2147483762" r:id="rId2"/>
    <p:sldLayoutId id="2147483752" r:id="rId3"/>
    <p:sldLayoutId id="2147483753" r:id="rId4"/>
    <p:sldLayoutId id="2147483754" r:id="rId5"/>
    <p:sldLayoutId id="2147483755" r:id="rId6"/>
    <p:sldLayoutId id="2147483756" r:id="rId7"/>
    <p:sldLayoutId id="2147483760" r:id="rId8"/>
    <p:sldLayoutId id="2147483757" r:id="rId9"/>
    <p:sldLayoutId id="2147483758" r:id="rId10"/>
    <p:sldLayoutId id="2147483759" r:id="rId11"/>
  </p:sldLayoutIdLst>
  <p:hf dt="0" ftr="0" hdr="0" sldNum="0"/>
  <p:txStyles>
    <p:titleStyle>
      <a:lvl1pPr algn="l" defTabSz="914400" eaLnBrk="1" hangingPunct="1" latinLnBrk="0" rtl="0">
        <a:lnSpc>
          <a:spcPct val="100000"/>
        </a:lnSpc>
        <a:spcBef>
          <a:spcPct val="0"/>
        </a:spcBef>
        <a:buNone/>
        <a:defRPr b="0" kern="1200"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110000"/>
        </a:lnSpc>
        <a:spcBef>
          <a:spcPts val="1000"/>
        </a:spcBef>
        <a:buClr>
          <a:schemeClr val="accent1"/>
        </a:buClr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110000"/>
        </a:lnSpc>
        <a:spcBef>
          <a:spcPts val="500"/>
        </a:spcBef>
        <a:buClr>
          <a:schemeClr val="accent1"/>
        </a:buClr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110000"/>
        </a:lnSpc>
        <a:spcBef>
          <a:spcPts val="500"/>
        </a:spcBef>
        <a:buClr>
          <a:schemeClr val="accent1"/>
        </a:buClr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110000"/>
        </a:lnSpc>
        <a:spcBef>
          <a:spcPts val="500"/>
        </a:spcBef>
        <a:buClr>
          <a:schemeClr val="accent1"/>
        </a:buClr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110000"/>
        </a:lnSpc>
        <a:spcBef>
          <a:spcPts val="500"/>
        </a:spcBef>
        <a:buClr>
          <a:schemeClr val="accent1"/>
        </a:buClr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www.youtube.com/embed/HDG4GSypcIE" TargetMode="Externa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F9204-3F29-4C3A-BA41-3063400202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Eugene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3393CD-7262-4AC7-80E6-52FE6F3F39BA}"/>
              </a:ext>
            </a:extLst>
          </p:cNvPr>
          <p:cNvSpPr>
            <a:spLocks noGrp="1"/>
          </p:cNvSpPr>
          <p:nvPr>
            <p:ph idx="1" type="subTitle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pPr lvl="0" indent="0" marL="0">
              <a:buNone/>
            </a:pPr>
            <a:br/>
            <a:br/>
            <a:r>
              <a:rPr/>
              <a:t>Energy in Sport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D430AE-0210-4E82-AD7B-41B112DE7F7D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March 02 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CC1FC-ADE8-488C-A1DA-2FD569FD4D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694" y="365760"/>
            <a:ext cx="10895106" cy="1325563"/>
          </a:xfrm>
        </p:spPr>
        <p:txBody>
          <a:bodyPr/>
          <a:lstStyle/>
          <a:p>
            <a:pPr lvl="0" indent="0" marL="0">
              <a:buNone/>
            </a:pPr>
            <a:r>
              <a:rPr/>
              <a:t>Energy &amp; Training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F02842-38C3-46D6-8527-0F6FE623C5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Homeostasis</a:t>
            </a:r>
          </a:p>
          <a:p>
            <a:pPr lvl="0"/>
            <a:r>
              <a:rPr/>
              <a:t>optimum temperature</a:t>
            </a:r>
          </a:p>
          <a:p>
            <a:pPr lvl="0"/>
            <a:r>
              <a:rPr/>
              <a:t>optimum pH</a:t>
            </a:r>
          </a:p>
          <a:p>
            <a:pPr lvl="0"/>
            <a:r>
              <a:rPr/>
              <a:t>optimal glucose levels</a:t>
            </a:r>
          </a:p>
          <a:p>
            <a:pPr lvl="0"/>
            <a:r>
              <a:rPr/>
              <a:t>etc</a:t>
            </a:r>
          </a:p>
          <a:p>
            <a:pPr lvl="0" indent="0" marL="0">
              <a:buNone/>
            </a:pPr>
            <a:r>
              <a:rPr/>
              <a:t>Adaptations</a:t>
            </a:r>
          </a:p>
          <a:p>
            <a:pPr lvl="0"/>
            <a:r>
              <a:rPr/>
              <a:t>overload principle</a:t>
            </a:r>
          </a:p>
          <a:p>
            <a:pPr lvl="0"/>
            <a:r>
              <a:rPr/>
              <a:t>specificity</a:t>
            </a:r>
          </a:p>
          <a:p>
            <a:pPr lvl="0"/>
            <a:r>
              <a:rPr/>
              <a:t>reversibility</a:t>
            </a:r>
          </a:p>
          <a:p>
            <a:pPr lvl="0"/>
            <a:r>
              <a:rPr/>
              <a:t>individuality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CC1FC-ADE8-488C-A1DA-2FD569FD4D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694" y="365760"/>
            <a:ext cx="10895106" cy="1325563"/>
          </a:xfrm>
        </p:spPr>
        <p:txBody>
          <a:bodyPr/>
          <a:lstStyle/>
          <a:p>
            <a:pPr lvl="0" indent="0" marL="0">
              <a:buNone/>
            </a:pPr>
            <a:r>
              <a:rPr/>
              <a:t>Calorimetry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F02842-38C3-46D6-8527-0F6FE623C5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Direct: measure heat produced during exercise - Human Calorimetry Chamber</a:t>
            </a:r>
          </a:p>
          <a:p>
            <a:pPr lvl="0"/>
            <a:r>
              <a:rPr/>
              <a:t>Indirect: measure O</a:t>
            </a:r>
            <a:r>
              <a:rPr baseline="-25000"/>
              <a:t>2</a:t>
            </a:r>
            <a:r>
              <a:rPr/>
              <a:t> consumption (VO</a:t>
            </a:r>
            <a:r>
              <a:rPr baseline="-25000"/>
              <a:t>2</a:t>
            </a:r>
            <a:r>
              <a:rPr/>
              <a:t>) typically about 0.25mL/kg/s of VO</a:t>
            </a:r>
            <a:r>
              <a:rPr baseline="-25000"/>
              <a:t>2</a:t>
            </a:r>
            <a:r>
              <a:rPr/>
              <a:t> during exercise 0.05mL/kg/s of VO</a:t>
            </a:r>
            <a:r>
              <a:rPr baseline="-25000"/>
              <a:t>2</a:t>
            </a:r>
            <a:r>
              <a:rPr/>
              <a:t> during rest</a:t>
            </a:r>
          </a:p>
          <a:p>
            <a:pPr lvl="0"/>
            <a:r>
              <a:rPr/>
              <a:t>Maximum VO</a:t>
            </a:r>
            <a:r>
              <a:rPr baseline="-25000"/>
              <a:t>2</a:t>
            </a:r>
            <a:r>
              <a:rPr/>
              <a:t> measured by exercising to exhaustion get up to 1mL/kg/s</a:t>
            </a:r>
          </a:p>
          <a:p>
            <a:pPr lvl="0"/>
            <a:r>
              <a:rPr/>
              <a:t>corresponds to about 250 Watts of power</a:t>
            </a:r>
          </a:p>
          <a:p>
            <a:pPr lvl="0"/>
            <a:r>
              <a:rPr/>
              <a:t>training will increase your VO</a:t>
            </a:r>
            <a:r>
              <a:rPr baseline="-25000"/>
              <a:t>2</a:t>
            </a:r>
            <a:r>
              <a:rPr/>
              <a:t> max</a:t>
            </a:r>
          </a:p>
          <a:p>
            <a:pPr lvl="0"/>
            <a:r>
              <a:rPr/>
              <a:t>cardiovascular adaptations giving better O</a:t>
            </a:r>
            <a:r>
              <a:rPr baseline="-25000"/>
              <a:t>2</a:t>
            </a:r>
            <a:r>
              <a:rPr/>
              <a:t> delivery</a:t>
            </a:r>
          </a:p>
          <a:p>
            <a:pPr lvl="0"/>
            <a:r>
              <a:rPr/>
              <a:t>muscle mitocondrial O</a:t>
            </a:r>
            <a:r>
              <a:rPr baseline="-25000"/>
              <a:t>2</a:t>
            </a:r>
            <a:r>
              <a:rPr/>
              <a:t> utilisation</a:t>
            </a:r>
          </a:p>
          <a:p>
            <a:pPr lvl="0"/>
            <a:r>
              <a:rPr/>
              <a:t>athletes using large muscle masses for extended periods tend to have highest VO</a:t>
            </a:r>
            <a:r>
              <a:rPr baseline="-25000"/>
              <a:t>2</a:t>
            </a:r>
            <a:r>
              <a:rPr/>
              <a:t> max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CC1FC-ADE8-488C-A1DA-2FD569FD4D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694" y="365760"/>
            <a:ext cx="10895106" cy="1325563"/>
          </a:xfrm>
        </p:spPr>
        <p:txBody>
          <a:bodyPr/>
          <a:lstStyle/>
          <a:p>
            <a:pPr lvl="0" indent="0" marL="0">
              <a:buNone/>
            </a:pPr>
            <a:r>
              <a:rPr/>
              <a:t>Respiratory Exchange Ratio (RER)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7F02842-38C3-46D6-8527-0F6FE623C51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as well as measuring O</a:t>
                </a:r>
                <a:r>
                  <a:rPr baseline="-25000"/>
                  <a:t>2</a:t>
                </a:r>
                <a:r>
                  <a:rPr/>
                  <a:t> levels we also monitor CO</a:t>
                </a:r>
                <a:r>
                  <a:rPr baseline="-25000"/>
                  <a:t>2</a:t>
                </a:r>
                <a:r>
                  <a:rPr/>
                  <a:t> gives us the RER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R</m:t>
                      </m:r>
                      <m:r>
                        <m:t>E</m:t>
                      </m:r>
                      <m:r>
                        <m:t>R</m:t>
                      </m:r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sSub>
                            <m:e>
                              <m:r>
                                <m:t>V</m:t>
                              </m:r>
                            </m:e>
                            <m:sub>
                              <m:r>
                                <m:t>C</m:t>
                              </m:r>
                              <m:sSub>
                                <m:e>
                                  <m:r>
                                    <m:t>O</m:t>
                                  </m:r>
                                </m:e>
                                <m:sub>
                                  <m:r>
                                    <m:t>2</m:t>
                                  </m:r>
                                </m:sub>
                              </m:sSub>
                            </m:sub>
                          </m:sSub>
                        </m:num>
                        <m:den>
                          <m:sSub>
                            <m:e>
                              <m:r>
                                <m:t>V</m:t>
                              </m:r>
                            </m:e>
                            <m:sub>
                              <m:sSub>
                                <m:e>
                                  <m:r>
                                    <m:t>O</m:t>
                                  </m:r>
                                </m:e>
                                <m:sub>
                                  <m:r>
                                    <m:t>2</m:t>
                                  </m:r>
                                </m:sub>
                              </m:sSub>
                            </m:sub>
                          </m:sSub>
                        </m:den>
                      </m:f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This gives information on type of food being used</a:t>
                </a:r>
              </a:p>
              <a:p>
                <a:pPr lvl="0"/>
                <a:r>
                  <a:rPr/>
                  <a:t>for fats, RER = 0.7</a:t>
                </a:r>
              </a:p>
              <a:p>
                <a:pPr lvl="0"/>
                <a:r>
                  <a:rPr/>
                  <a:t>for glucose, RER = 1.0</a:t>
                </a:r>
              </a:p>
              <a:p>
                <a:pPr lvl="0" indent="0" marL="0">
                  <a:buNone/>
                </a:pPr>
                <a:r>
                  <a:rPr/>
                  <a:t>Fats, e.g. palmitate, C</a:t>
                </a:r>
                <a:r>
                  <a:rPr baseline="-25000"/>
                  <a:t>16</a:t>
                </a:r>
                <a:r>
                  <a:rPr/>
                  <a:t>H</a:t>
                </a:r>
                <a:r>
                  <a:rPr baseline="-25000"/>
                  <a:t>32</a:t>
                </a:r>
                <a:r>
                  <a:rPr/>
                  <a:t>O</a:t>
                </a:r>
                <a:r>
                  <a:rPr baseline="-25000"/>
                  <a:t>2</a:t>
                </a:r>
                <a:r>
                  <a:rPr/>
                  <a:t> + 23 O</a:t>
                </a:r>
                <a:r>
                  <a:rPr baseline="-25000"/>
                  <a:t>2</a:t>
                </a:r>
                <a:r>
                  <a:rPr/>
                  <a:t> -&gt; 16 CO</a:t>
                </a:r>
                <a:r>
                  <a:rPr baseline="-25000"/>
                  <a:t>2</a:t>
                </a:r>
                <a:r>
                  <a:rPr/>
                  <a:t> + 16 H</a:t>
                </a:r>
                <a:r>
                  <a:rPr baseline="-25000"/>
                  <a:t>2</a:t>
                </a:r>
                <a:r>
                  <a:rPr/>
                  <a:t>O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f>
                        <m:fPr>
                          <m:type m:val="bar"/>
                        </m:fPr>
                        <m:num>
                          <m:r>
                            <m:t>16</m:t>
                          </m:r>
                        </m:num>
                        <m:den>
                          <m:r>
                            <m:t>23</m:t>
                          </m:r>
                        </m:den>
                      </m:f>
                      <m:r>
                        <m:rPr>
                          <m:sty m:val="p"/>
                        </m:rPr>
                        <m:t>=</m:t>
                      </m:r>
                      <m:r>
                        <m:t>0.70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Glucose, C</a:t>
                </a:r>
                <a:r>
                  <a:rPr baseline="-25000"/>
                  <a:t>6</a:t>
                </a:r>
                <a:r>
                  <a:rPr/>
                  <a:t>H</a:t>
                </a:r>
                <a:r>
                  <a:rPr baseline="-25000"/>
                  <a:t>12</a:t>
                </a:r>
                <a:r>
                  <a:rPr/>
                  <a:t>O</a:t>
                </a:r>
                <a:r>
                  <a:rPr baseline="-25000"/>
                  <a:t>6</a:t>
                </a:r>
                <a:r>
                  <a:rPr/>
                  <a:t> + 6 O</a:t>
                </a:r>
                <a:r>
                  <a:rPr baseline="-25000"/>
                  <a:t>2</a:t>
                </a:r>
                <a:r>
                  <a:rPr/>
                  <a:t> -&gt; 6 CO</a:t>
                </a:r>
                <a:r>
                  <a:rPr baseline="-25000"/>
                  <a:t>2</a:t>
                </a:r>
                <a:r>
                  <a:rPr/>
                  <a:t> + 6 H</a:t>
                </a:r>
                <a:r>
                  <a:rPr baseline="-25000"/>
                  <a:t>2</a:t>
                </a:r>
                <a:r>
                  <a:rPr/>
                  <a:t>O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f>
                        <m:fPr>
                          <m:type m:val="bar"/>
                        </m:fPr>
                        <m:num>
                          <m:r>
                            <m:t>6</m:t>
                          </m:r>
                        </m:num>
                        <m:den>
                          <m:r>
                            <m:t>6</m:t>
                          </m:r>
                        </m:den>
                      </m:f>
                      <m:r>
                        <m:rPr>
                          <m:sty m:val="p"/>
                        </m:rPr>
                        <m:t>=</m:t>
                      </m:r>
                      <m:r>
                        <m:t>1.0</m:t>
                      </m:r>
                    </m:oMath>
                  </m:oMathPara>
                </a14:m>
              </a:p>
            </p:txBody>
          </p:sp>
        </mc:Choice>
      </mc:AlternateContent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CC1FC-ADE8-488C-A1DA-2FD569FD4D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694" y="365760"/>
            <a:ext cx="10895106" cy="1325563"/>
          </a:xfrm>
        </p:spPr>
        <p:txBody>
          <a:bodyPr/>
          <a:lstStyle/>
          <a:p>
            <a:pPr lvl="0" indent="0" marL="0">
              <a:buNone/>
            </a:pPr>
            <a:r>
              <a:rPr/>
              <a:t>Fuel depends on Type of Exercise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F02842-38C3-46D6-8527-0F6FE623C5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for long distance, endurance, RER lets us deduce that mostly fats are burned</a:t>
            </a:r>
          </a:p>
          <a:p>
            <a:pPr lvl="0"/>
            <a:r>
              <a:rPr/>
              <a:t>for high-powered activities like sprinting, mostly carbohydrates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CC1FC-ADE8-488C-A1DA-2FD569FD4D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694" y="365760"/>
            <a:ext cx="10895106" cy="1325563"/>
          </a:xfrm>
        </p:spPr>
        <p:txBody>
          <a:bodyPr/>
          <a:lstStyle/>
          <a:p>
            <a:pPr lvl="0" indent="0" marL="0">
              <a:buNone/>
            </a:pPr>
            <a:r>
              <a:rPr/>
              <a:t>Fuel used During a Marathon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F02842-38C3-46D6-8527-0F6FE623C5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muscle triglycerides: provide ~ 30% of energy initially but fades to ~10% gradually over four hours</a:t>
            </a:r>
          </a:p>
          <a:p>
            <a:pPr lvl="0"/>
            <a:r>
              <a:rPr/>
              <a:t>plasma FFA: provide ~ 20% initially but this grows to 50% over four hours</a:t>
            </a:r>
          </a:p>
          <a:p>
            <a:pPr lvl="0"/>
            <a:r>
              <a:rPr/>
              <a:t>blood glucose: provides 10% initially, this grows to 40% after four hours</a:t>
            </a:r>
          </a:p>
          <a:p>
            <a:pPr lvl="0"/>
            <a:r>
              <a:rPr/>
              <a:t>muscle glycogen: provides ~ 40% initially but fades out over about 3 hours</a:t>
            </a:r>
          </a:p>
          <a:p>
            <a:pPr lvl="0"/>
            <a:r>
              <a:rPr/>
              <a:t>decrease in CHO use leads to a decrease inperformance and to the onset of fatigue</a:t>
            </a:r>
          </a:p>
          <a:p>
            <a:pPr lvl="0" indent="0" marL="0">
              <a:buNone/>
            </a:pPr>
            <a:r>
              <a:rPr/>
              <a:t>See </a:t>
            </a:r>
            <a:r>
              <a:rPr>
                <a:hlinkClick r:id="rId2"/>
              </a:rPr>
              <a:t>this video</a:t>
            </a:r>
            <a:r>
              <a:rPr/>
              <a:t> for a discussion of energy use in sled dogs.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CC1FC-ADE8-488C-A1DA-2FD569FD4D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694" y="365760"/>
            <a:ext cx="10895106" cy="1325563"/>
          </a:xfrm>
        </p:spPr>
        <p:txBody>
          <a:bodyPr/>
          <a:lstStyle/>
          <a:p>
            <a:pPr lvl="0" indent="0" marL="0">
              <a:buNone/>
            </a:pPr>
            <a:r>
              <a:rPr/>
              <a:t>Fuel used During a Marathon</a:t>
            </a:r>
          </a:p>
        </p:txBody>
      </p:sp>
      <p:pic>
        <p:nvPicPr>
          <p:cNvPr descr="BioEnergy_files/figure-pptx/marathon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467100" y="1943100"/>
            <a:ext cx="5232400" cy="4191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CC1FC-ADE8-488C-A1DA-2FD569FD4D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694" y="365760"/>
            <a:ext cx="10895106" cy="1325563"/>
          </a:xfrm>
        </p:spPr>
        <p:txBody>
          <a:bodyPr/>
          <a:lstStyle/>
          <a:p>
            <a:pPr lvl="0" indent="0" marL="0">
              <a:buNone/>
            </a:pPr>
            <a:r>
              <a:rPr/>
              <a:t>Crossover Concept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F02842-38C3-46D6-8527-0F6FE623C5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As exercise intensity increases</a:t>
            </a:r>
          </a:p>
          <a:p>
            <a:pPr lvl="0"/>
            <a:r>
              <a:rPr/>
              <a:t>progressive </a:t>
            </a:r>
            <a:r>
              <a:rPr b="1"/>
              <a:t>decrease</a:t>
            </a:r>
            <a:r>
              <a:rPr/>
              <a:t> in </a:t>
            </a:r>
            <a:r>
              <a:rPr b="1"/>
              <a:t>fats</a:t>
            </a:r>
            <a:r>
              <a:rPr/>
              <a:t> as fuel source</a:t>
            </a:r>
          </a:p>
          <a:p>
            <a:pPr lvl="0"/>
            <a:r>
              <a:rPr/>
              <a:t>progressive </a:t>
            </a:r>
            <a:r>
              <a:rPr b="1"/>
              <a:t>increase</a:t>
            </a:r>
            <a:r>
              <a:rPr/>
              <a:t> in </a:t>
            </a:r>
            <a:r>
              <a:rPr b="1"/>
              <a:t>CHO</a:t>
            </a:r>
            <a:r>
              <a:rPr/>
              <a:t> as fuel source</a:t>
            </a:r>
          </a:p>
          <a:p>
            <a:pPr lvl="0" indent="0" marL="0">
              <a:buNone/>
            </a:pPr>
            <a:r>
              <a:rPr/>
              <a:t>Training adaptation - push this crossover point to higher intensities</a:t>
            </a:r>
          </a:p>
          <a:p>
            <a:pPr lvl="0" indent="0" marL="0">
              <a:buNone/>
            </a:pPr>
            <a:r>
              <a:rPr/>
              <a:t>Leads to sparing of precious CHO stores</a:t>
            </a:r>
          </a:p>
          <a:p>
            <a:pPr lvl="0" indent="0" marL="0">
              <a:buNone/>
            </a:pPr>
            <a:r>
              <a:rPr/>
              <a:t>Pushes back onset of fatigue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CC1FC-ADE8-488C-A1DA-2FD569FD4D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694" y="365760"/>
            <a:ext cx="10895106" cy="1325563"/>
          </a:xfrm>
        </p:spPr>
        <p:txBody>
          <a:bodyPr/>
          <a:lstStyle/>
          <a:p>
            <a:pPr lvl="0" indent="0" marL="0">
              <a:buNone/>
            </a:pPr>
            <a:r>
              <a:rPr/>
              <a:t>ATP &amp; Muscle Work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7F02842-38C3-46D6-8527-0F6FE623C51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Only ATP can be used to directly cause muscle contraction</a:t>
                </a:r>
              </a:p>
              <a:p>
                <a:pPr lvl="0"/>
                <a:r>
                  <a:rPr/>
                  <a:t>Breakdown of ATP allows crossbridge formation between actin and myosin (enzyme ATPase)</a:t>
                </a:r>
              </a:p>
              <a:p>
                <a:pPr lvl="0"/>
                <a:r>
                  <a:rPr/>
                  <a:t>Amount of ATP in muscle is extremely low</a:t>
                </a:r>
              </a:p>
              <a:p>
                <a:pPr lvl="0"/>
                <a:r>
                  <a:rPr/>
                  <a:t>During exercise as ATP utilisation goes up, need to replace it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A</m:t>
                      </m:r>
                      <m:r>
                        <m:t>T</m:t>
                      </m:r>
                      <m:sSub>
                        <m:e>
                          <m:r>
                            <m:t>P</m:t>
                          </m:r>
                        </m:e>
                        <m:sub>
                          <m:r>
                            <m:t>p</m:t>
                          </m:r>
                          <m:r>
                            <m:t>r</m:t>
                          </m:r>
                          <m:r>
                            <m:t>o</m:t>
                          </m:r>
                          <m:r>
                            <m:t>d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r>
                        <m:t>A</m:t>
                      </m:r>
                      <m:r>
                        <m:t>T</m:t>
                      </m:r>
                      <m:sSub>
                        <m:e>
                          <m:r>
                            <m:t>P</m:t>
                          </m:r>
                        </m:e>
                        <m:sub>
                          <m:r>
                            <m:t>u</m:t>
                          </m:r>
                          <m:r>
                            <m:t>t</m:t>
                          </m:r>
                          <m:r>
                            <m:t>i</m:t>
                          </m:r>
                          <m:r>
                            <m:t>l</m:t>
                          </m:r>
                        </m:sub>
                      </m:sSub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ATP producing pathways turns on by the </a:t>
                </a:r>
                <a:r>
                  <a:rPr i="1"/>
                  <a:t>energy charge</a:t>
                </a:r>
                <a:r>
                  <a:rPr/>
                  <a:t> in the cell</a:t>
                </a:r>
              </a:p>
              <a:p>
                <a:pPr lvl="0" indent="0" marL="0">
                  <a:buNone/>
                </a:pPr>
                <a:r>
                  <a:rPr/>
                  <a:t>$$ Energy\; Charge = \frac{[ATP] + {1\over2} [ADP]}{[ATP] + [ADP] + [AMP]} $$</a:t>
                </a:r>
              </a:p>
              <a:p>
                <a:pPr lvl="0" indent="0" marL="0">
                  <a:buNone/>
                </a:pPr>
                <a:r>
                  <a:rPr/>
                  <a:t>At rest, the </a:t>
                </a:r>
                <a:r>
                  <a:rPr i="1"/>
                  <a:t>energy charge</a:t>
                </a:r>
                <a:r>
                  <a:rPr/>
                  <a:t> in muscle is about 0.85 As </a:t>
                </a:r>
                <a:r>
                  <a:rPr i="1"/>
                  <a:t>energy charge</a:t>
                </a:r>
                <a:r>
                  <a:rPr/>
                  <a:t> decreases, ATP producing pathways are turned on while ATP utilising pathways are turned off</a:t>
                </a:r>
              </a:p>
            </p:txBody>
          </p:sp>
        </mc:Choice>
      </mc:AlternateContent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CC1FC-ADE8-488C-A1DA-2FD569FD4D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694" y="365760"/>
            <a:ext cx="10895106" cy="1325563"/>
          </a:xfrm>
        </p:spPr>
        <p:txBody>
          <a:bodyPr/>
          <a:lstStyle/>
          <a:p>
            <a:pPr lvl="0" indent="0" marL="0">
              <a:buNone/>
            </a:pPr>
            <a:r>
              <a:rPr/>
              <a:t>Mitochondria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F02842-38C3-46D6-8527-0F6FE623C5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Oxidative production of ATP occurs in mitochondria.</a:t>
            </a:r>
          </a:p>
          <a:p>
            <a:pPr lvl="0" indent="0" marL="0">
              <a:buNone/>
            </a:pPr>
            <a:r>
              <a:rPr/>
              <a:t>This is vast majority of ATP production.</a:t>
            </a:r>
          </a:p>
          <a:p>
            <a:pPr lvl="0"/>
            <a:r>
              <a:rPr/>
              <a:t>Aerobic activity</a:t>
            </a:r>
          </a:p>
          <a:p>
            <a:pPr lvl="0"/>
            <a:r>
              <a:rPr/>
              <a:t>Last minutes or longer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CC1FC-ADE8-488C-A1DA-2FD569FD4D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694" y="365760"/>
            <a:ext cx="10895106" cy="1325563"/>
          </a:xfrm>
        </p:spPr>
        <p:txBody>
          <a:bodyPr/>
          <a:lstStyle/>
          <a:p>
            <a:pPr lvl="0" indent="0" marL="0">
              <a:buNone/>
            </a:pPr>
            <a:r>
              <a:rPr/>
              <a:t>Anaerobic Sources of Energy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7F02842-38C3-46D6-8527-0F6FE623C51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Activities lasting seconds need energy immediately Access stores of ATP in the cell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A</m:t>
                      </m:r>
                      <m:r>
                        <m:t>T</m:t>
                      </m:r>
                      <m:r>
                        <m:t>P</m:t>
                      </m:r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H</m:t>
                          </m:r>
                        </m:e>
                        <m:sub>
                          <m:r>
                            <m:t>2</m:t>
                          </m:r>
                        </m:sub>
                      </m:sSub>
                      <m:r>
                        <m:t>O</m:t>
                      </m:r>
                      <m:r>
                        <m:t> </m:t>
                      </m:r>
                      <m:r>
                        <m:rPr>
                          <m:sty m:val="p"/>
                        </m:rPr>
                        <m:t>→</m:t>
                      </m:r>
                      <m:r>
                        <m:t> </m:t>
                      </m:r>
                      <m:r>
                        <m:t>A</m:t>
                      </m:r>
                      <m:r>
                        <m:t>D</m:t>
                      </m:r>
                      <m:r>
                        <m:t>P</m:t>
                      </m:r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P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  <m:r>
                        <m:t>  </m:t>
                      </m:r>
                      <m:r>
                        <m:t>A</m:t>
                      </m:r>
                      <m:r>
                        <m:t>T</m:t>
                      </m:r>
                      <m:sSub>
                        <m:e>
                          <m:r>
                            <m:t>P</m:t>
                          </m:r>
                        </m:e>
                        <m:sub>
                          <m:r>
                            <m:t>a</m:t>
                          </m:r>
                          <m:r>
                            <m:t>s</m:t>
                          </m:r>
                          <m:r>
                            <m:t>e</m:t>
                          </m:r>
                        </m:sub>
                      </m:sSub>
                    </m:oMath>
                  </m:oMathPara>
                </a14:m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C</m:t>
                      </m:r>
                      <m:r>
                        <m:t>P</m:t>
                      </m:r>
                      <m:r>
                        <m:rPr>
                          <m:sty m:val="p"/>
                        </m:rPr>
                        <m:t>+</m:t>
                      </m:r>
                      <m:r>
                        <m:t>A</m:t>
                      </m:r>
                      <m:r>
                        <m:t>D</m:t>
                      </m:r>
                      <m:r>
                        <m:t>P</m:t>
                      </m:r>
                      <m:r>
                        <m:t> </m:t>
                      </m:r>
                      <m:r>
                        <m:rPr>
                          <m:sty m:val="p"/>
                        </m:rPr>
                        <m:t>→</m:t>
                      </m:r>
                      <m:r>
                        <m:t> </m:t>
                      </m:r>
                      <m:r>
                        <m:t>A</m:t>
                      </m:r>
                      <m:r>
                        <m:t>T</m:t>
                      </m:r>
                      <m:r>
                        <m:t>P</m:t>
                      </m:r>
                      <m:r>
                        <m:rPr>
                          <m:sty m:val="p"/>
                        </m:rPr>
                        <m:t>+</m:t>
                      </m:r>
                      <m:r>
                        <m:t>C</m:t>
                      </m:r>
                      <m:r>
                        <m:t>  </m:t>
                      </m:r>
                      <m:r>
                        <m:t>c</m:t>
                      </m:r>
                      <m:r>
                        <m:t>r</m:t>
                      </m:r>
                      <m:r>
                        <m:t>e</m:t>
                      </m:r>
                      <m:r>
                        <m:t>a</m:t>
                      </m:r>
                      <m:r>
                        <m:t>t</m:t>
                      </m:r>
                      <m:r>
                        <m:t>i</m:t>
                      </m:r>
                      <m:r>
                        <m:t>n</m:t>
                      </m:r>
                      <m:r>
                        <m:t>e</m:t>
                      </m:r>
                      <m:r>
                        <m:t> </m:t>
                      </m:r>
                      <m:r>
                        <m:t>k</m:t>
                      </m:r>
                      <m:r>
                        <m:t>i</m:t>
                      </m:r>
                      <m:r>
                        <m:t>n</m:t>
                      </m:r>
                      <m:r>
                        <m:t>a</m:t>
                      </m:r>
                      <m:r>
                        <m:t>s</m:t>
                      </m:r>
                      <m:r>
                        <m:t>e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No O</a:t>
                </a:r>
                <a:r>
                  <a:rPr baseline="-25000"/>
                  <a:t>2</a:t>
                </a:r>
                <a:r>
                  <a:rPr/>
                  <a:t> in either process</a:t>
                </a:r>
              </a:p>
            </p:txBody>
          </p:sp>
        </mc:Choice>
      </mc:AlternateContent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CC1FC-ADE8-488C-A1DA-2FD569FD4D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694" y="365760"/>
            <a:ext cx="10895106" cy="1325563"/>
          </a:xfrm>
        </p:spPr>
        <p:txBody>
          <a:bodyPr/>
          <a:lstStyle/>
          <a:p>
            <a:pPr lvl="0" indent="0" marL="0">
              <a:buNone/>
            </a:pPr>
            <a:r>
              <a:rPr/>
              <a:t>Carbohydrates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7F02842-38C3-46D6-8527-0F6FE623C51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Carbohydrate can be broken down anaerobically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C</m:t>
                          </m:r>
                        </m:e>
                        <m:sub>
                          <m:r>
                            <m:t>6</m:t>
                          </m:r>
                        </m:sub>
                      </m:sSub>
                      <m:sSub>
                        <m:e>
                          <m:r>
                            <m:t>H</m:t>
                          </m:r>
                        </m:e>
                        <m:sub>
                          <m:r>
                            <m:t>12</m:t>
                          </m:r>
                        </m:sub>
                      </m:sSub>
                      <m:sSub>
                        <m:e>
                          <m:r>
                            <m:t>O</m:t>
                          </m:r>
                        </m:e>
                        <m:sub>
                          <m:r>
                            <m:t>6</m:t>
                          </m:r>
                        </m:sub>
                      </m:sSub>
                      <m:r>
                        <m:t> </m:t>
                      </m:r>
                      <m:r>
                        <m:rPr>
                          <m:sty m:val="p"/>
                        </m:rPr>
                        <m:t>→</m:t>
                      </m:r>
                      <m:r>
                        <m:t> </m:t>
                      </m:r>
                      <m:r>
                        <m:t>2</m:t>
                      </m:r>
                      <m:r>
                        <m:t>A</m:t>
                      </m:r>
                      <m:r>
                        <m:t>T</m:t>
                      </m:r>
                      <m:r>
                        <m:t>P</m:t>
                      </m:r>
                      <m:r>
                        <m:rPr>
                          <m:sty m:val="p"/>
                        </m:rPr>
                        <m:t>+</m:t>
                      </m:r>
                      <m:r>
                        <m:t>2</m:t>
                      </m:r>
                      <m:r>
                        <m:t> </m:t>
                      </m:r>
                      <m:r>
                        <m:t>l</m:t>
                      </m:r>
                      <m:r>
                        <m:t>a</m:t>
                      </m:r>
                      <m:r>
                        <m:t>c</m:t>
                      </m:r>
                      <m:r>
                        <m:t>t</m:t>
                      </m:r>
                      <m:r>
                        <m:t>a</m:t>
                      </m:r>
                      <m:r>
                        <m:t>t</m:t>
                      </m:r>
                      <m:r>
                        <m:t>e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Or aerobically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C</m:t>
                          </m:r>
                        </m:e>
                        <m:sub>
                          <m:r>
                            <m:t>6</m:t>
                          </m:r>
                        </m:sub>
                      </m:sSub>
                      <m:sSub>
                        <m:e>
                          <m:r>
                            <m:t>H</m:t>
                          </m:r>
                        </m:e>
                        <m:sub>
                          <m:r>
                            <m:t>12</m:t>
                          </m:r>
                        </m:sub>
                      </m:sSub>
                      <m:sSub>
                        <m:e>
                          <m:r>
                            <m:t>O</m:t>
                          </m:r>
                        </m:e>
                        <m:sub>
                          <m:r>
                            <m:t>6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r>
                        <m:t>6</m:t>
                      </m:r>
                      <m:sSub>
                        <m:e>
                          <m:r>
                            <m:t>O</m:t>
                          </m:r>
                        </m:e>
                        <m:sub>
                          <m:r>
                            <m:t>2</m:t>
                          </m:r>
                        </m:sub>
                      </m:sSub>
                      <m:r>
                        <m:t> </m:t>
                      </m:r>
                      <m:r>
                        <m:rPr>
                          <m:sty m:val="p"/>
                        </m:rPr>
                        <m:t>→</m:t>
                      </m:r>
                      <m:r>
                        <m:t> </m:t>
                      </m:r>
                      <m:r>
                        <m:t>30</m:t>
                      </m:r>
                      <m:r>
                        <m:t>A</m:t>
                      </m:r>
                      <m:r>
                        <m:t>T</m:t>
                      </m:r>
                      <m:r>
                        <m:t>P</m:t>
                      </m:r>
                      <m:r>
                        <m:rPr>
                          <m:sty m:val="p"/>
                        </m:rPr>
                        <m:t>+</m:t>
                      </m:r>
                      <m:r>
                        <m:t>6</m:t>
                      </m:r>
                      <m:r>
                        <m:t>C</m:t>
                      </m:r>
                      <m:sSub>
                        <m:e>
                          <m:r>
                            <m:t>O</m:t>
                          </m:r>
                        </m:e>
                        <m:sub>
                          <m: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r>
                        <m:t>6</m:t>
                      </m:r>
                      <m:sSub>
                        <m:e>
                          <m:r>
                            <m:t>H</m:t>
                          </m:r>
                        </m:e>
                        <m:sub>
                          <m:r>
                            <m:t>2</m:t>
                          </m:r>
                        </m:sub>
                      </m:sSub>
                      <m:r>
                        <m:t>O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(note, for the same glucose molecule we get 15 times more ATP when broken aerobically) Limited amount of carbohydrate in the body, aerobic metabolism helps preserves carbohydrate stores.</a:t>
                </a:r>
              </a:p>
              <a:p>
                <a:pPr lvl="0" indent="0" marL="0">
                  <a:buNone/>
                </a:pPr>
                <a:r>
                  <a:rPr/>
                  <a:t>Fats can also be broken down aerobically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P</m:t>
                      </m:r>
                      <m:r>
                        <m:t>a</m:t>
                      </m:r>
                      <m:r>
                        <m:t>l</m:t>
                      </m:r>
                      <m:r>
                        <m:t>m</m:t>
                      </m:r>
                      <m:r>
                        <m:t>i</m:t>
                      </m:r>
                      <m:r>
                        <m:t>t</m:t>
                      </m:r>
                      <m:r>
                        <m:t>a</m:t>
                      </m:r>
                      <m:r>
                        <m:t>t</m:t>
                      </m:r>
                      <m:r>
                        <m:t>e</m:t>
                      </m:r>
                      <m:r>
                        <m:rPr>
                          <m:sty m:val="p"/>
                        </m:rPr>
                        <m:t>+</m:t>
                      </m:r>
                      <m:r>
                        <m:t>23</m:t>
                      </m:r>
                      <m:sSub>
                        <m:e>
                          <m:r>
                            <m:t>O</m:t>
                          </m:r>
                        </m:e>
                        <m:sub>
                          <m:r>
                            <m:t>2</m:t>
                          </m:r>
                        </m:sub>
                      </m:sSub>
                      <m:r>
                        <m:t> </m:t>
                      </m:r>
                      <m:r>
                        <m:rPr>
                          <m:sty m:val="p"/>
                        </m:rPr>
                        <m:t>→</m:t>
                      </m:r>
                      <m:r>
                        <m:t> </m:t>
                      </m:r>
                      <m:r>
                        <m:t>108</m:t>
                      </m:r>
                      <m:r>
                        <m:t>A</m:t>
                      </m:r>
                      <m:r>
                        <m:t>T</m:t>
                      </m:r>
                      <m:r>
                        <m:t>P</m:t>
                      </m:r>
                      <m:r>
                        <m:rPr>
                          <m:sty m:val="p"/>
                        </m:rPr>
                        <m:t>+</m:t>
                      </m:r>
                      <m:r>
                        <m:t>16</m:t>
                      </m:r>
                      <m:r>
                        <m:t>C</m:t>
                      </m:r>
                      <m:sSub>
                        <m:e>
                          <m:r>
                            <m:t>O</m:t>
                          </m:r>
                        </m:e>
                        <m:sub>
                          <m:r>
                            <m:t>2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</mc:AlternateContent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CC1FC-ADE8-488C-A1DA-2FD569FD4D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694" y="365760"/>
            <a:ext cx="10895106" cy="1325563"/>
          </a:xfrm>
        </p:spPr>
        <p:txBody>
          <a:bodyPr/>
          <a:lstStyle/>
          <a:p>
            <a:pPr lvl="0" indent="0" marL="0">
              <a:buNone/>
            </a:pPr>
            <a:r>
              <a:rPr/>
              <a:t>Carbohydrate Storage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F02842-38C3-46D6-8527-0F6FE623C5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Carbohydrates stored as </a:t>
            </a:r>
            <a:r>
              <a:rPr i="1"/>
              <a:t>Glycogen</a:t>
            </a:r>
          </a:p>
          <a:p>
            <a:pPr lvl="0" indent="0" marL="0">
              <a:buNone/>
            </a:pPr>
            <a:r>
              <a:rPr/>
              <a:t>Glycogen = strings of glucose attached to each other</a:t>
            </a:r>
          </a:p>
          <a:p>
            <a:pPr lvl="0" indent="0" marL="0">
              <a:buNone/>
            </a:pPr>
            <a:r>
              <a:rPr/>
              <a:t>When glucose needed, peeled off from glycogen</a:t>
            </a:r>
          </a:p>
          <a:p>
            <a:pPr lvl="0" indent="0" marL="0">
              <a:buNone/>
            </a:pPr>
            <a:r>
              <a:rPr/>
              <a:t>Muscle Glycogen</a:t>
            </a:r>
          </a:p>
          <a:p>
            <a:pPr lvl="0"/>
            <a:r>
              <a:rPr/>
              <a:t>typically 400g = 1600kCal</a:t>
            </a:r>
          </a:p>
          <a:p>
            <a:pPr lvl="0"/>
            <a:r>
              <a:rPr/>
              <a:t>this is ~90mM/kg of muscle</a:t>
            </a:r>
          </a:p>
          <a:p>
            <a:pPr lvl="0"/>
            <a:r>
              <a:rPr/>
              <a:t>can be depleted in minutes</a:t>
            </a:r>
          </a:p>
          <a:p>
            <a:pPr lvl="0"/>
            <a:r>
              <a:rPr/>
              <a:t>carbohydrate loading: supercharges muscles with up to 250mM/kg of muscle</a:t>
            </a:r>
          </a:p>
          <a:p>
            <a:pPr lvl="0"/>
            <a:r>
              <a:rPr/>
              <a:t>useful for exercises of &gt; 90 minutes</a:t>
            </a:r>
          </a:p>
          <a:p>
            <a:pPr lvl="0" indent="0" marL="0">
              <a:buNone/>
            </a:pPr>
            <a:r>
              <a:rPr/>
              <a:t>Liver Glycogen</a:t>
            </a:r>
          </a:p>
          <a:p>
            <a:pPr lvl="0"/>
            <a:r>
              <a:rPr/>
              <a:t>typically 100g = 400kCal</a:t>
            </a:r>
          </a:p>
          <a:p>
            <a:pPr lvl="0"/>
            <a:r>
              <a:rPr/>
              <a:t>needed to maintain blood glucose levels</a:t>
            </a:r>
          </a:p>
          <a:p>
            <a:pPr lvl="0" indent="0" marL="0">
              <a:buNone/>
            </a:pPr>
            <a:r>
              <a:rPr/>
              <a:t>Blood</a:t>
            </a:r>
          </a:p>
          <a:p>
            <a:pPr lvl="0"/>
            <a:r>
              <a:rPr/>
              <a:t>typically 3g = 12kCal (i.e. not very much)</a:t>
            </a:r>
          </a:p>
          <a:p>
            <a:pPr lvl="0" indent="0" marL="0">
              <a:buNone/>
            </a:pPr>
            <a:r>
              <a:rPr/>
              <a:t>Total of 2000kCal can be depleted during endurance exercise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CC1FC-ADE8-488C-A1DA-2FD569FD4D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694" y="365760"/>
            <a:ext cx="10895106" cy="1325563"/>
          </a:xfrm>
        </p:spPr>
        <p:txBody>
          <a:bodyPr/>
          <a:lstStyle/>
          <a:p>
            <a:pPr lvl="0" indent="0" marL="0">
              <a:buNone/>
            </a:pPr>
            <a:r>
              <a:rPr/>
              <a:t>Compare to Fat Storage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F02842-38C3-46D6-8527-0F6FE623C5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Adipose Tissue</a:t>
            </a:r>
          </a:p>
          <a:p>
            <a:pPr lvl="0"/>
            <a:r>
              <a:rPr/>
              <a:t>typically 12kg = 108,000kCal</a:t>
            </a:r>
          </a:p>
          <a:p>
            <a:pPr lvl="0"/>
            <a:r>
              <a:rPr/>
              <a:t>fifty times more energy than carbohydrates</a:t>
            </a:r>
          </a:p>
          <a:p>
            <a:pPr lvl="0"/>
            <a:r>
              <a:rPr/>
              <a:t>key aerobic training adaptation is being able to use fat stores</a:t>
            </a:r>
          </a:p>
          <a:p>
            <a:pPr lvl="0"/>
            <a:r>
              <a:rPr/>
              <a:t>this preserves carbohydrate stores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CC1FC-ADE8-488C-A1DA-2FD569FD4D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694" y="365760"/>
            <a:ext cx="10895106" cy="1325563"/>
          </a:xfrm>
        </p:spPr>
        <p:txBody>
          <a:bodyPr/>
          <a:lstStyle/>
          <a:p>
            <a:pPr lvl="0" indent="0" marL="0">
              <a:buNone/>
            </a:pPr>
            <a:r>
              <a:rPr/>
              <a:t>To What Extent do we use Carbohydrates?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F02842-38C3-46D6-8527-0F6FE623C5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Intensity and duration of exercise</a:t>
            </a:r>
          </a:p>
          <a:p>
            <a:pPr lvl="0"/>
            <a:r>
              <a:rPr/>
              <a:t>at low intensities use fats</a:t>
            </a:r>
          </a:p>
          <a:p>
            <a:pPr lvl="0"/>
            <a:r>
              <a:rPr/>
              <a:t>at high intensities use carbohydrates</a:t>
            </a:r>
          </a:p>
          <a:p>
            <a:pPr lvl="0"/>
            <a:r>
              <a:rPr/>
              <a:t>at high intensities use mostly type II muscle fibres</a:t>
            </a:r>
          </a:p>
          <a:p>
            <a:pPr lvl="0"/>
            <a:r>
              <a:rPr/>
              <a:t>Type of activity</a:t>
            </a:r>
          </a:p>
          <a:p>
            <a:pPr lvl="0"/>
            <a:r>
              <a:rPr/>
              <a:t>Nutritional status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CC1FC-ADE8-488C-A1DA-2FD569FD4D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694" y="365760"/>
            <a:ext cx="10895106" cy="1325563"/>
          </a:xfrm>
        </p:spPr>
        <p:txBody>
          <a:bodyPr/>
          <a:lstStyle/>
          <a:p>
            <a:pPr lvl="0" indent="0" marL="0">
              <a:buNone/>
            </a:pPr>
            <a:r>
              <a:rPr/>
              <a:t>Different Muscle Fibres</a:t>
            </a:r>
          </a:p>
        </p:txBody>
      </p:sp>
      <p:pic>
        <p:nvPicPr>
          <p:cNvPr descr="fibre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632200" y="1943100"/>
            <a:ext cx="4914900" cy="3683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5626100"/>
            <a:ext cx="112649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Muscle Fibres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F02842-38C3-46D6-8527-0F6FE623C5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Training level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CC1FC-ADE8-488C-A1DA-2FD569FD4D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694" y="365760"/>
            <a:ext cx="10895106" cy="1325563"/>
          </a:xfrm>
        </p:spPr>
        <p:txBody>
          <a:bodyPr/>
          <a:lstStyle/>
          <a:p>
            <a:pPr lvl="0" indent="0" marL="0">
              <a:buNone/>
            </a:pPr>
            <a:r>
              <a:rPr/>
              <a:t>Liver Glycogen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F02842-38C3-46D6-8527-0F6FE623C5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provides glucose for blood glucose levels</a:t>
            </a:r>
          </a:p>
          <a:p>
            <a:pPr lvl="0"/>
            <a:r>
              <a:rPr/>
              <a:t>necessary to avoid exercise induced hypoglycemia</a:t>
            </a:r>
          </a:p>
          <a:p>
            <a:pPr lvl="0"/>
            <a:r>
              <a:rPr/>
              <a:t>muscle uptake from blood is up to 50mM/min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CC1FC-ADE8-488C-A1DA-2FD569FD4D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694" y="365760"/>
            <a:ext cx="10895106" cy="1325563"/>
          </a:xfrm>
        </p:spPr>
        <p:txBody>
          <a:bodyPr/>
          <a:lstStyle/>
          <a:p>
            <a:pPr lvl="0" indent="0" marL="0">
              <a:buNone/>
            </a:pPr>
            <a:r>
              <a:rPr/>
              <a:t>Carbohydrate Loading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F02842-38C3-46D6-8527-0F6FE623C5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increase CHO content in muscles prior to exercise</a:t>
            </a:r>
          </a:p>
          <a:p>
            <a:pPr lvl="0"/>
            <a:r>
              <a:rPr/>
              <a:t>can get up to 250 mM/kg of muscle</a:t>
            </a:r>
          </a:p>
          <a:p>
            <a:pPr lvl="0"/>
            <a:r>
              <a:rPr/>
              <a:t>(compare to 90 mM/kg normally)</a:t>
            </a:r>
          </a:p>
          <a:p>
            <a:pPr lvl="0"/>
            <a:r>
              <a:rPr/>
              <a:t>increase CHO intake in week prior to exercise</a:t>
            </a:r>
          </a:p>
          <a:p>
            <a:pPr lvl="0"/>
            <a:r>
              <a:rPr/>
              <a:t>roughly double it to ~0.6kg/day</a:t>
            </a:r>
          </a:p>
          <a:p>
            <a:pPr lvl="0"/>
            <a:r>
              <a:rPr/>
              <a:t>rest for day or so before exercise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CC1FC-ADE8-488C-A1DA-2FD569FD4D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694" y="365760"/>
            <a:ext cx="10895106" cy="1325563"/>
          </a:xfrm>
        </p:spPr>
        <p:txBody>
          <a:bodyPr/>
          <a:lstStyle/>
          <a:p>
            <a:pPr lvl="0" indent="0" marL="0">
              <a:buNone/>
            </a:pPr>
            <a:r>
              <a:rPr/>
              <a:t>Carbohydrate Feeding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F02842-38C3-46D6-8527-0F6FE623C5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consumption of very dilute CHO drink during exercise</a:t>
            </a:r>
          </a:p>
          <a:p>
            <a:pPr lvl="0"/>
            <a:r>
              <a:rPr/>
              <a:t>athletes at 70 VO</a:t>
            </a:r>
            <a:r>
              <a:rPr baseline="-25000"/>
              <a:t>2</a:t>
            </a:r>
            <a:r>
              <a:rPr/>
              <a:t> max can exercise for ~4 hours rather than 3 hours before fatigue</a:t>
            </a:r>
          </a:p>
          <a:p>
            <a:pPr lvl="0"/>
            <a:r>
              <a:rPr/>
              <a:t>gives addition source of CHO thus sparing liver glycogen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CC1FC-ADE8-488C-A1DA-2FD569FD4D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694" y="365760"/>
            <a:ext cx="10895106" cy="1325563"/>
          </a:xfrm>
        </p:spPr>
        <p:txBody>
          <a:bodyPr/>
          <a:lstStyle/>
          <a:p>
            <a:pPr lvl="0" indent="0" marL="0">
              <a:buNone/>
            </a:pPr>
            <a:r>
              <a:rPr/>
              <a:t>Training Adaptations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F02842-38C3-46D6-8527-0F6FE623C5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sedentary individuals can double their cell mitochondrial content through training</a:t>
            </a:r>
          </a:p>
          <a:p>
            <a:pPr lvl="0"/>
            <a:r>
              <a:rPr/>
              <a:t>takes several weeks</a:t>
            </a:r>
          </a:p>
          <a:p>
            <a:pPr lvl="0"/>
            <a:r>
              <a:rPr/>
              <a:t>means using more CHO aerobically rather than anaerobically</a:t>
            </a:r>
          </a:p>
          <a:p>
            <a:pPr lvl="0"/>
            <a:r>
              <a:rPr/>
              <a:t>as we’ve seen, this is more more efficient</a:t>
            </a:r>
          </a:p>
          <a:p>
            <a:pPr lvl="0"/>
            <a:r>
              <a:rPr/>
              <a:t>spares muscle CHO content</a:t>
            </a:r>
          </a:p>
          <a:p>
            <a:pPr lvl="0"/>
            <a:r>
              <a:rPr/>
              <a:t>also observe a lower </a:t>
            </a:r>
            <a:r>
              <a:rPr b="1" i="1"/>
              <a:t>RER</a:t>
            </a:r>
            <a:r>
              <a:rPr/>
              <a:t> for individuals after training</a:t>
            </a:r>
          </a:p>
          <a:p>
            <a:pPr lvl="0"/>
            <a:r>
              <a:rPr/>
              <a:t>lower RER means greater fat usage</a:t>
            </a:r>
          </a:p>
          <a:p>
            <a:pPr lvl="0"/>
            <a:r>
              <a:rPr/>
              <a:t>this happens at all VO</a:t>
            </a:r>
            <a:r>
              <a:rPr baseline="-25000"/>
              <a:t>2</a:t>
            </a:r>
            <a:r>
              <a:rPr/>
              <a:t> % levels</a:t>
            </a:r>
          </a:p>
        </p:txBody>
      </p:sp>
    </p:spTree>
  </p:cSld>
</p:sld>
</file>

<file path=ppt/theme/theme1.xml><?xml version="1.0" encoding="utf-8"?>
<a:theme xmlns:a="http://schemas.openxmlformats.org/drawingml/2006/main" name="DappledVTI">
  <a:themeElements>
    <a:clrScheme name="AnalogousFromLightSeedRightStep">
      <a:dk1>
        <a:srgbClr val="000000"/>
      </a:dk1>
      <a:lt1>
        <a:srgbClr val="FFFFFF"/>
      </a:lt1>
      <a:dk2>
        <a:srgbClr val="3A3621"/>
      </a:dk2>
      <a:lt2>
        <a:srgbClr val="E2E8E5"/>
      </a:lt2>
      <a:accent1>
        <a:srgbClr val="EA73A4"/>
      </a:accent1>
      <a:accent2>
        <a:srgbClr val="E55454"/>
      </a:accent2>
      <a:accent3>
        <a:srgbClr val="E59053"/>
      </a:accent3>
      <a:accent4>
        <a:srgbClr val="B6A343"/>
      </a:accent4>
      <a:accent5>
        <a:srgbClr val="95AB54"/>
      </a:accent5>
      <a:accent6>
        <a:srgbClr val="69B643"/>
      </a:accent6>
      <a:hlink>
        <a:srgbClr val="578F78"/>
      </a:hlink>
      <a:folHlink>
        <a:srgbClr val="7F7F7F"/>
      </a:folHlink>
    </a:clrScheme>
    <a:fontScheme name="Custom 67">
      <a:majorFont>
        <a:latin typeface="Sabon Next LT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ppledVTI" id="{204FEFAB-F02B-4FE8-B509-C50A618B972D}" vid="{7EAEADA8-5A8E-45B2-B0E4-448EC7E7A94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Avenir Next LT Pro</vt:lpstr>
      <vt:lpstr>AvenirNext LT Pro Medium</vt:lpstr>
      <vt:lpstr>Sabon Next LT</vt:lpstr>
      <vt:lpstr>DappledVTI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Eugene</dc:title>
  <dc:creator>Energy in Sport</dc:creator>
  <cp:keywords/>
  <dcterms:created xsi:type="dcterms:W3CDTF">2026-03-02T08:06:20Z</dcterms:created>
  <dcterms:modified xsi:type="dcterms:W3CDTF">2026-03-02T08:06:20Z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March 02 2026</vt:lpwstr>
  </property>
  <property fmtid="{D5CDD505-2E9C-101B-9397-08002B2CF9AE}" pid="3" name="output">
    <vt:lpwstr/>
  </property>
</Properties>
</file>