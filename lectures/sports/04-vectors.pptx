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10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F4FE7-4AAA-4B63-9A95-940948C736F6}" type="datetimeFigureOut">
              <a:rPr lang="en-IE" smtClean="0"/>
              <a:pPr/>
              <a:t>11/03/2013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F2DBE-263F-44B2-8728-0565C8775A08}" type="slidenum">
              <a:rPr lang="en-IE" smtClean="0"/>
              <a:pPr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4508-32D9-4D4E-8438-BC48874ED86B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971600" y="436806"/>
            <a:ext cx="6912768" cy="6232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E0481-37FD-4918-956A-C715987F4E07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9C151-58AC-4AFB-AB51-54677D91E011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16EE-A619-4588-B293-4564CC75717F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0222C-BDDC-4CF4-BC62-636A125A60FF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23A6-1C7C-482E-A88C-380648B43BFB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17D6-0223-4155-AE05-7E6703ED8315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5DA5-277D-45AB-82E9-FDF12972A496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355B-7F31-4FC6-998D-EF4953E5152E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AC3F-8189-4364-96A4-E14828FC7C29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5324-4FC3-4DFD-98D4-948AF509B32A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27B53-55CE-4A05-B0BF-C1E0C23AE42C}" type="datetime1">
              <a:rPr lang="en-IE" smtClean="0"/>
              <a:pPr/>
              <a:t>11/03/2013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B4144-EFDA-4D95-973F-F3B5BED00DC9}" type="slidenum">
              <a:rPr lang="en-IE" smtClean="0"/>
              <a:pPr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792" y="2204864"/>
            <a:ext cx="4424536" cy="3433936"/>
          </a:xfrm>
        </p:spPr>
        <p:txBody>
          <a:bodyPr>
            <a:normAutofit fontScale="55000" lnSpcReduction="20000"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What are vectors?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Addition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Multiplication by a scalar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Subtraction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Components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Magnitude of a vector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Dot product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Angle between vectors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Vectors in 3 dimensions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Right hand rule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Cross product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Volume of a box</a:t>
            </a:r>
          </a:p>
          <a:p>
            <a:endParaRPr lang="en-IE" dirty="0" smtClean="0"/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</a:t>
            </a:fld>
            <a:endParaRPr lang="en-I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What are Vectors?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Lots of quantities we’ve met so far just have a size, and that’s all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Example; energy. Just need to know how much there is, no other info required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But vectors also have direction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Need to specify where they’re going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Seen this already with quantities like velocity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Velocity can be positive or negative along one dimension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Depends whether it goes forwards or backwards</a:t>
            </a:r>
          </a:p>
          <a:p>
            <a:pPr algn="l">
              <a:buFont typeface="Arial" pitchFamily="34" charset="0"/>
              <a:buChar char="•"/>
            </a:pPr>
            <a:endParaRPr lang="en-IE" dirty="0" smtClean="0">
              <a:solidFill>
                <a:schemeClr val="tx1"/>
              </a:solidFill>
            </a:endParaRPr>
          </a:p>
          <a:p>
            <a:endParaRPr lang="en-IE" dirty="0" smtClean="0"/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2</a:t>
            </a:fld>
            <a:endParaRPr lang="en-I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What are Vectors?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Having a sign (+</a:t>
            </a:r>
            <a:r>
              <a:rPr lang="en-IE" dirty="0" err="1" smtClean="0">
                <a:solidFill>
                  <a:schemeClr val="tx1"/>
                </a:solidFill>
              </a:rPr>
              <a:t>ve</a:t>
            </a:r>
            <a:r>
              <a:rPr lang="en-IE" dirty="0" smtClean="0">
                <a:solidFill>
                  <a:schemeClr val="tx1"/>
                </a:solidFill>
              </a:rPr>
              <a:t> or –</a:t>
            </a:r>
            <a:r>
              <a:rPr lang="en-IE" dirty="0" err="1" smtClean="0">
                <a:solidFill>
                  <a:schemeClr val="tx1"/>
                </a:solidFill>
              </a:rPr>
              <a:t>ve</a:t>
            </a:r>
            <a:r>
              <a:rPr lang="en-IE" dirty="0" smtClean="0">
                <a:solidFill>
                  <a:schemeClr val="tx1"/>
                </a:solidFill>
              </a:rPr>
              <a:t>) isn’t enough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Temperature, for example, isn’t a vector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The sign has to convey the concept of direction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3</a:t>
            </a:fld>
            <a:endParaRPr lang="en-IE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5267" y="1"/>
            <a:ext cx="1738732" cy="1124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Representing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When written in text, we’ll use an arrow over the vector name to indicate that this is a vector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Examples: 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Textbooks often use bold type to indicate vectors (e.g. </a:t>
            </a:r>
            <a:r>
              <a:rPr lang="en-IE" b="1" dirty="0" smtClean="0">
                <a:solidFill>
                  <a:schemeClr val="tx1"/>
                </a:solidFill>
              </a:rPr>
              <a:t>F, v, p, L, </a:t>
            </a:r>
            <a:r>
              <a:rPr lang="el-GR" b="1" dirty="0" smtClean="0">
                <a:solidFill>
                  <a:schemeClr val="tx1"/>
                </a:solidFill>
              </a:rPr>
              <a:t>ω</a:t>
            </a:r>
            <a:r>
              <a:rPr lang="en-IE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4</a:t>
            </a:fld>
            <a:endParaRPr lang="en-IE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059832" y="3388832"/>
          <a:ext cx="1872208" cy="592866"/>
        </p:xfrm>
        <a:graphic>
          <a:graphicData uri="http://schemas.openxmlformats.org/presentationml/2006/ole">
            <p:oleObj spid="_x0000_s1026" name="Equation" r:id="rId3" imgW="76176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Representing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Graphically, we’ll draw vectors as arrows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 the length indicates the size of the vector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the direction of the arrow is the same as that of the vector.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5</a:t>
            </a:fld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3275856" y="4653136"/>
            <a:ext cx="2819792" cy="646331"/>
            <a:chOff x="3275856" y="4653136"/>
            <a:chExt cx="2819792" cy="646331"/>
          </a:xfrm>
        </p:grpSpPr>
        <p:sp>
          <p:nvSpPr>
            <p:cNvPr id="6" name="Right Arrow 5"/>
            <p:cNvSpPr/>
            <p:nvPr/>
          </p:nvSpPr>
          <p:spPr>
            <a:xfrm rot="19304774">
              <a:off x="3290354" y="4694930"/>
              <a:ext cx="2805294" cy="321912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75856" y="4653136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A</a:t>
              </a:r>
              <a:endParaRPr lang="en-IE" sz="36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3347864" y="472514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Adding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Add two vectors by lacing them heel to toe and seeing where the end result finishes.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6</a:t>
            </a:fld>
            <a:endParaRPr lang="en-IE"/>
          </a:p>
        </p:txBody>
      </p:sp>
      <p:grpSp>
        <p:nvGrpSpPr>
          <p:cNvPr id="22" name="Group 21"/>
          <p:cNvGrpSpPr/>
          <p:nvPr/>
        </p:nvGrpSpPr>
        <p:grpSpPr>
          <a:xfrm>
            <a:off x="2051720" y="2852936"/>
            <a:ext cx="4481430" cy="2806571"/>
            <a:chOff x="2051720" y="2852936"/>
            <a:chExt cx="4481430" cy="2806571"/>
          </a:xfrm>
        </p:grpSpPr>
        <p:grpSp>
          <p:nvGrpSpPr>
            <p:cNvPr id="5" name="Group 9"/>
            <p:cNvGrpSpPr/>
            <p:nvPr/>
          </p:nvGrpSpPr>
          <p:grpSpPr>
            <a:xfrm>
              <a:off x="2051720" y="3933056"/>
              <a:ext cx="2819792" cy="646331"/>
              <a:chOff x="3275856" y="4653136"/>
              <a:chExt cx="2819792" cy="646331"/>
            </a:xfrm>
          </p:grpSpPr>
          <p:sp>
            <p:nvSpPr>
              <p:cNvPr id="6" name="Right Arrow 5"/>
              <p:cNvSpPr/>
              <p:nvPr/>
            </p:nvSpPr>
            <p:spPr>
              <a:xfrm rot="19304774">
                <a:off x="3290354" y="4694930"/>
                <a:ext cx="2805294" cy="321912"/>
              </a:xfrm>
              <a:prstGeom prst="rightArrow">
                <a:avLst>
                  <a:gd name="adj1" fmla="val 50000"/>
                  <a:gd name="adj2" fmla="val 1000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275856" y="4653136"/>
                <a:ext cx="4523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endParaRPr lang="en-IE" sz="3600" dirty="0"/>
              </a:p>
            </p:txBody>
          </p:sp>
          <p:cxnSp>
            <p:nvCxnSpPr>
              <p:cNvPr id="9" name="Straight Arrow Connector 8"/>
              <p:cNvCxnSpPr/>
              <p:nvPr/>
            </p:nvCxnSpPr>
            <p:spPr>
              <a:xfrm>
                <a:off x="3347864" y="472514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ight Arrow 10"/>
            <p:cNvSpPr/>
            <p:nvPr/>
          </p:nvSpPr>
          <p:spPr>
            <a:xfrm rot="1017928">
              <a:off x="4648999" y="3408710"/>
              <a:ext cx="1884151" cy="328611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64088" y="2852936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B</a:t>
              </a:r>
              <a:endParaRPr lang="en-IE" sz="36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436096" y="2924944"/>
              <a:ext cx="28803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14"/>
            <p:cNvSpPr/>
            <p:nvPr/>
          </p:nvSpPr>
          <p:spPr>
            <a:xfrm rot="20715047">
              <a:off x="2416373" y="4391808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427984" y="508518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35896" y="5013176"/>
              <a:ext cx="11416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A + B</a:t>
              </a:r>
              <a:endParaRPr lang="en-IE" sz="3600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3707904" y="508518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Multiplying a Vector by a Scalar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Multiplying by a scalar just means multiplying by a number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Makes vector longer or shorter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Doesn’t change direction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7</a:t>
            </a:fld>
            <a:endParaRPr lang="en-IE"/>
          </a:p>
        </p:txBody>
      </p:sp>
      <p:grpSp>
        <p:nvGrpSpPr>
          <p:cNvPr id="18" name="Group 17"/>
          <p:cNvGrpSpPr/>
          <p:nvPr/>
        </p:nvGrpSpPr>
        <p:grpSpPr>
          <a:xfrm>
            <a:off x="1763688" y="5013176"/>
            <a:ext cx="4322873" cy="862355"/>
            <a:chOff x="1403648" y="5229200"/>
            <a:chExt cx="4322873" cy="862355"/>
          </a:xfrm>
        </p:grpSpPr>
        <p:grpSp>
          <p:nvGrpSpPr>
            <p:cNvPr id="8" name="Group 9"/>
            <p:cNvGrpSpPr/>
            <p:nvPr/>
          </p:nvGrpSpPr>
          <p:grpSpPr>
            <a:xfrm>
              <a:off x="1403648" y="5229200"/>
              <a:ext cx="2819792" cy="646331"/>
              <a:chOff x="3275856" y="4653136"/>
              <a:chExt cx="2819792" cy="646331"/>
            </a:xfrm>
          </p:grpSpPr>
          <p:sp>
            <p:nvSpPr>
              <p:cNvPr id="6" name="Right Arrow 5"/>
              <p:cNvSpPr/>
              <p:nvPr/>
            </p:nvSpPr>
            <p:spPr>
              <a:xfrm rot="19304774">
                <a:off x="3290354" y="4694930"/>
                <a:ext cx="2805294" cy="321912"/>
              </a:xfrm>
              <a:prstGeom prst="rightArrow">
                <a:avLst>
                  <a:gd name="adj1" fmla="val 50000"/>
                  <a:gd name="adj2" fmla="val 1000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275856" y="4653136"/>
                <a:ext cx="4523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endParaRPr lang="en-IE" sz="3600" dirty="0"/>
              </a:p>
            </p:txBody>
          </p:sp>
          <p:cxnSp>
            <p:nvCxnSpPr>
              <p:cNvPr id="9" name="Straight Arrow Connector 8"/>
              <p:cNvCxnSpPr/>
              <p:nvPr/>
            </p:nvCxnSpPr>
            <p:spPr>
              <a:xfrm>
                <a:off x="3347864" y="472514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/>
            <p:cNvCxnSpPr/>
            <p:nvPr/>
          </p:nvCxnSpPr>
          <p:spPr>
            <a:xfrm>
              <a:off x="5220072" y="5517232"/>
              <a:ext cx="28803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14"/>
            <p:cNvSpPr/>
            <p:nvPr/>
          </p:nvSpPr>
          <p:spPr>
            <a:xfrm rot="19381793">
              <a:off x="1676592" y="5304545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3779912" y="5517232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707904" y="5445224"/>
              <a:ext cx="2016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3600" dirty="0" smtClean="0"/>
                <a:t>B = 3/2 A</a:t>
              </a:r>
              <a:endParaRPr lang="en-IE" sz="36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Subtracting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Subtracting vectors just means adding a vector multiplied by (-1)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Turn second vector around, then add together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8</a:t>
            </a:fld>
            <a:endParaRPr lang="en-IE"/>
          </a:p>
        </p:txBody>
      </p:sp>
      <p:grpSp>
        <p:nvGrpSpPr>
          <p:cNvPr id="35" name="Group 34"/>
          <p:cNvGrpSpPr/>
          <p:nvPr/>
        </p:nvGrpSpPr>
        <p:grpSpPr>
          <a:xfrm>
            <a:off x="3347864" y="3501008"/>
            <a:ext cx="4481430" cy="2806571"/>
            <a:chOff x="1907704" y="3573016"/>
            <a:chExt cx="4481430" cy="2806571"/>
          </a:xfrm>
        </p:grpSpPr>
        <p:grpSp>
          <p:nvGrpSpPr>
            <p:cNvPr id="16" name="Group 9"/>
            <p:cNvGrpSpPr/>
            <p:nvPr/>
          </p:nvGrpSpPr>
          <p:grpSpPr>
            <a:xfrm>
              <a:off x="1907704" y="4653136"/>
              <a:ext cx="2819792" cy="646331"/>
              <a:chOff x="3275856" y="4653136"/>
              <a:chExt cx="2819792" cy="646331"/>
            </a:xfrm>
          </p:grpSpPr>
          <p:sp>
            <p:nvSpPr>
              <p:cNvPr id="26" name="Right Arrow 25"/>
              <p:cNvSpPr/>
              <p:nvPr/>
            </p:nvSpPr>
            <p:spPr>
              <a:xfrm rot="19304774">
                <a:off x="3290354" y="4694930"/>
                <a:ext cx="2805294" cy="321912"/>
              </a:xfrm>
              <a:prstGeom prst="rightArrow">
                <a:avLst>
                  <a:gd name="adj1" fmla="val 50000"/>
                  <a:gd name="adj2" fmla="val 1000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275856" y="4653136"/>
                <a:ext cx="4523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endParaRPr lang="en-IE" sz="3600" dirty="0"/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3347864" y="472514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ight Arrow 17"/>
            <p:cNvSpPr/>
            <p:nvPr/>
          </p:nvSpPr>
          <p:spPr>
            <a:xfrm rot="11865272">
              <a:off x="4504983" y="4128790"/>
              <a:ext cx="1884151" cy="328611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20072" y="3573016"/>
              <a:ext cx="6815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-B </a:t>
              </a:r>
              <a:endParaRPr lang="en-IE" sz="3600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5436096" y="3645024"/>
              <a:ext cx="28803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ight Arrow 21"/>
            <p:cNvSpPr/>
            <p:nvPr/>
          </p:nvSpPr>
          <p:spPr>
            <a:xfrm rot="20715047">
              <a:off x="2272357" y="5111888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283968" y="580526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491880" y="5733256"/>
              <a:ext cx="10534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A - B</a:t>
              </a:r>
              <a:endParaRPr lang="en-IE" sz="3600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3563888" y="580526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187624" y="4437112"/>
            <a:ext cx="1884151" cy="896094"/>
            <a:chOff x="6377434" y="3645024"/>
            <a:chExt cx="1884151" cy="896094"/>
          </a:xfrm>
        </p:grpSpPr>
        <p:sp>
          <p:nvSpPr>
            <p:cNvPr id="31" name="Right Arrow 30"/>
            <p:cNvSpPr/>
            <p:nvPr/>
          </p:nvSpPr>
          <p:spPr>
            <a:xfrm rot="1144837">
              <a:off x="6377434" y="4212507"/>
              <a:ext cx="1884151" cy="328611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36296" y="3645024"/>
              <a:ext cx="5405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B </a:t>
              </a:r>
              <a:endParaRPr lang="en-IE" sz="3600" dirty="0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7308304" y="3717032"/>
              <a:ext cx="28803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Components of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Easy to express vectors as sum of standard vectors at right angles (orthogonal vectors)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Gives idea of vector components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Have unit vectors, standard step size in each direction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9</a:t>
            </a:fld>
            <a:endParaRPr lang="en-IE"/>
          </a:p>
        </p:txBody>
      </p:sp>
      <p:grpSp>
        <p:nvGrpSpPr>
          <p:cNvPr id="35" name="Group 34"/>
          <p:cNvGrpSpPr/>
          <p:nvPr/>
        </p:nvGrpSpPr>
        <p:grpSpPr>
          <a:xfrm>
            <a:off x="1979712" y="4437112"/>
            <a:ext cx="5265937" cy="2158499"/>
            <a:chOff x="1979712" y="4437112"/>
            <a:chExt cx="5265937" cy="2158499"/>
          </a:xfrm>
        </p:grpSpPr>
        <p:sp>
          <p:nvSpPr>
            <p:cNvPr id="22" name="Right Arrow 21"/>
            <p:cNvSpPr/>
            <p:nvPr/>
          </p:nvSpPr>
          <p:spPr>
            <a:xfrm rot="20091916">
              <a:off x="2798532" y="5280613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6" name="Group 9"/>
            <p:cNvGrpSpPr/>
            <p:nvPr/>
          </p:nvGrpSpPr>
          <p:grpSpPr>
            <a:xfrm>
              <a:off x="1979712" y="4437112"/>
              <a:ext cx="1058699" cy="1845415"/>
              <a:chOff x="3275856" y="3573016"/>
              <a:chExt cx="1058699" cy="2421479"/>
            </a:xfrm>
          </p:grpSpPr>
          <p:sp>
            <p:nvSpPr>
              <p:cNvPr id="26" name="Right Arrow 25"/>
              <p:cNvSpPr/>
              <p:nvPr/>
            </p:nvSpPr>
            <p:spPr>
              <a:xfrm rot="16200000" flipV="1">
                <a:off x="3062518" y="4722458"/>
                <a:ext cx="2421479" cy="122595"/>
              </a:xfrm>
              <a:prstGeom prst="rightArrow">
                <a:avLst>
                  <a:gd name="adj1" fmla="val 50000"/>
                  <a:gd name="adj2" fmla="val 10009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275856" y="4653136"/>
                <a:ext cx="585417" cy="848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r>
                  <a:rPr lang="en-IE" sz="3600" baseline="-25000" dirty="0" smtClean="0"/>
                  <a:t>y</a:t>
                </a:r>
                <a:endParaRPr lang="en-IE" sz="3600" baseline="-25000" dirty="0"/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3347864" y="472514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ight Arrow 17"/>
            <p:cNvSpPr/>
            <p:nvPr/>
          </p:nvSpPr>
          <p:spPr>
            <a:xfrm>
              <a:off x="2918851" y="6210612"/>
              <a:ext cx="3741381" cy="98708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6660232" y="5949280"/>
              <a:ext cx="585417" cy="646331"/>
              <a:chOff x="6660232" y="5949280"/>
              <a:chExt cx="585417" cy="646331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660232" y="5949280"/>
                <a:ext cx="5854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err="1" smtClean="0"/>
                  <a:t>A</a:t>
                </a:r>
                <a:r>
                  <a:rPr lang="en-IE" sz="3600" baseline="-25000" dirty="0" err="1" smtClean="0"/>
                  <a:t>x</a:t>
                </a:r>
                <a:endParaRPr lang="en-IE" sz="3600" baseline="-25000" dirty="0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>
                <a:off x="6732240" y="6021288"/>
                <a:ext cx="288032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4139952" y="4941168"/>
              <a:ext cx="452368" cy="646331"/>
              <a:chOff x="4211960" y="4437112"/>
              <a:chExt cx="452368" cy="646331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4283968" y="4509120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4211960" y="4437112"/>
                <a:ext cx="4523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endParaRPr lang="en-IE" sz="3600" dirty="0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Components of Vectors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10</a:t>
            </a:fld>
            <a:endParaRPr lang="en-IE"/>
          </a:p>
        </p:txBody>
      </p:sp>
      <p:grpSp>
        <p:nvGrpSpPr>
          <p:cNvPr id="38" name="Group 37"/>
          <p:cNvGrpSpPr/>
          <p:nvPr/>
        </p:nvGrpSpPr>
        <p:grpSpPr>
          <a:xfrm>
            <a:off x="3491880" y="2132856"/>
            <a:ext cx="4977905" cy="3907596"/>
            <a:chOff x="2051720" y="2636912"/>
            <a:chExt cx="4977905" cy="3115508"/>
          </a:xfrm>
        </p:grpSpPr>
        <p:sp>
          <p:nvSpPr>
            <p:cNvPr id="22" name="Right Arrow 21"/>
            <p:cNvSpPr/>
            <p:nvPr/>
          </p:nvSpPr>
          <p:spPr>
            <a:xfrm rot="20091916">
              <a:off x="2582508" y="3840453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6" name="Right Arrow 25"/>
            <p:cNvSpPr/>
            <p:nvPr/>
          </p:nvSpPr>
          <p:spPr>
            <a:xfrm rot="16200000" flipV="1">
              <a:off x="1838382" y="3858362"/>
              <a:ext cx="1845415" cy="122595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2051720" y="2636912"/>
              <a:ext cx="585417" cy="646331"/>
              <a:chOff x="1763688" y="3820114"/>
              <a:chExt cx="585417" cy="64633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763688" y="3820114"/>
                <a:ext cx="5854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r>
                  <a:rPr lang="en-IE" sz="3600" baseline="-25000" dirty="0" smtClean="0"/>
                  <a:t>y</a:t>
                </a:r>
                <a:endParaRPr lang="en-IE" sz="3600" baseline="-25000" dirty="0"/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1835696" y="3874992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ight Arrow 17"/>
            <p:cNvSpPr/>
            <p:nvPr/>
          </p:nvSpPr>
          <p:spPr>
            <a:xfrm>
              <a:off x="2702827" y="4770452"/>
              <a:ext cx="3741381" cy="98708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7" name="Group 33"/>
            <p:cNvGrpSpPr/>
            <p:nvPr/>
          </p:nvGrpSpPr>
          <p:grpSpPr>
            <a:xfrm>
              <a:off x="6444208" y="4509120"/>
              <a:ext cx="585417" cy="646331"/>
              <a:chOff x="6660232" y="5949280"/>
              <a:chExt cx="585417" cy="646331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660232" y="5949280"/>
                <a:ext cx="5854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err="1" smtClean="0"/>
                  <a:t>A</a:t>
                </a:r>
                <a:r>
                  <a:rPr lang="en-IE" sz="3600" baseline="-25000" dirty="0" err="1" smtClean="0"/>
                  <a:t>x</a:t>
                </a:r>
                <a:endParaRPr lang="en-IE" sz="3600" baseline="-25000" dirty="0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>
                <a:off x="6732240" y="6021288"/>
                <a:ext cx="288032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29"/>
            <p:cNvGrpSpPr/>
            <p:nvPr/>
          </p:nvGrpSpPr>
          <p:grpSpPr>
            <a:xfrm>
              <a:off x="3923928" y="3501008"/>
              <a:ext cx="452368" cy="646331"/>
              <a:chOff x="4211960" y="4437112"/>
              <a:chExt cx="452368" cy="646331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4283968" y="4509120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4211960" y="4437112"/>
                <a:ext cx="4523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3600" dirty="0" smtClean="0"/>
                  <a:t>A</a:t>
                </a:r>
                <a:endParaRPr lang="en-IE" sz="3600" dirty="0"/>
              </a:p>
            </p:txBody>
          </p:sp>
        </p:grpSp>
        <p:sp>
          <p:nvSpPr>
            <p:cNvPr id="20" name="Right Arrow 19"/>
            <p:cNvSpPr/>
            <p:nvPr/>
          </p:nvSpPr>
          <p:spPr>
            <a:xfrm rot="16200000">
              <a:off x="2303748" y="4545124"/>
              <a:ext cx="504056" cy="144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2771800" y="5085184"/>
              <a:ext cx="432048" cy="144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771800" y="5229200"/>
              <a:ext cx="360040" cy="523220"/>
              <a:chOff x="2771800" y="5229200"/>
              <a:chExt cx="360040" cy="523220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2771800" y="5229200"/>
                <a:ext cx="3401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2800" dirty="0" smtClean="0"/>
                  <a:t>x</a:t>
                </a:r>
                <a:endParaRPr lang="en-IE" sz="2800" dirty="0"/>
              </a:p>
            </p:txBody>
          </p:sp>
          <p:cxnSp>
            <p:nvCxnSpPr>
              <p:cNvPr id="32" name="Straight Arrow Connector 31"/>
              <p:cNvCxnSpPr/>
              <p:nvPr/>
            </p:nvCxnSpPr>
            <p:spPr>
              <a:xfrm>
                <a:off x="2843808" y="5373216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>
            <a:xfrm>
              <a:off x="2123728" y="4221088"/>
              <a:ext cx="360040" cy="523220"/>
              <a:chOff x="2771800" y="5229200"/>
              <a:chExt cx="360040" cy="523220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2771800" y="5229200"/>
                <a:ext cx="3465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2800" dirty="0" smtClean="0"/>
                  <a:t>y</a:t>
                </a:r>
                <a:endParaRPr lang="en-IE" sz="2800" dirty="0"/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>
                <a:off x="2843808" y="5373216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/>
          <p:cNvGrpSpPr/>
          <p:nvPr/>
        </p:nvGrpSpPr>
        <p:grpSpPr>
          <a:xfrm>
            <a:off x="611560" y="2060848"/>
            <a:ext cx="3317575" cy="4524315"/>
            <a:chOff x="611560" y="2060848"/>
            <a:chExt cx="3317575" cy="4524315"/>
          </a:xfrm>
        </p:grpSpPr>
        <p:sp>
          <p:nvSpPr>
            <p:cNvPr id="39" name="TextBox 38"/>
            <p:cNvSpPr txBox="1"/>
            <p:nvPr/>
          </p:nvSpPr>
          <p:spPr>
            <a:xfrm>
              <a:off x="611560" y="2060848"/>
              <a:ext cx="3317575" cy="452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200" dirty="0" smtClean="0"/>
                <a:t>A = </a:t>
              </a:r>
              <a:r>
                <a:rPr lang="en-IE" sz="3200" dirty="0" err="1" smtClean="0"/>
                <a:t>A</a:t>
              </a:r>
              <a:r>
                <a:rPr lang="en-IE" sz="3200" baseline="-25000" dirty="0" err="1" smtClean="0"/>
                <a:t>x</a:t>
              </a:r>
              <a:r>
                <a:rPr lang="en-IE" sz="3200" dirty="0" smtClean="0"/>
                <a:t> + A</a:t>
              </a:r>
              <a:r>
                <a:rPr lang="en-IE" sz="3200" baseline="-25000" dirty="0" smtClean="0"/>
                <a:t>y</a:t>
              </a:r>
            </a:p>
            <a:p>
              <a:r>
                <a:rPr lang="en-IE" sz="3200" dirty="0" smtClean="0"/>
                <a:t>   = </a:t>
              </a:r>
              <a:r>
                <a:rPr lang="en-IE" sz="3200" dirty="0" err="1" smtClean="0"/>
                <a:t>A</a:t>
              </a:r>
              <a:r>
                <a:rPr lang="en-IE" sz="3200" baseline="-25000" dirty="0" err="1" smtClean="0"/>
                <a:t>x</a:t>
              </a:r>
              <a:r>
                <a:rPr lang="en-IE" sz="3200" dirty="0" smtClean="0"/>
                <a:t> x + A</a:t>
              </a:r>
              <a:r>
                <a:rPr lang="en-IE" sz="3200" baseline="-25000" dirty="0" smtClean="0"/>
                <a:t>y</a:t>
              </a:r>
              <a:r>
                <a:rPr lang="en-IE" sz="3200" dirty="0" smtClean="0"/>
                <a:t> y</a:t>
              </a:r>
            </a:p>
            <a:p>
              <a:endParaRPr lang="en-IE" sz="3200" dirty="0" smtClean="0"/>
            </a:p>
            <a:p>
              <a:r>
                <a:rPr lang="en-IE" sz="3200" dirty="0" err="1" smtClean="0"/>
                <a:t>A</a:t>
              </a:r>
              <a:r>
                <a:rPr lang="en-IE" sz="3200" baseline="-25000" dirty="0" err="1" smtClean="0"/>
                <a:t>x</a:t>
              </a:r>
              <a:r>
                <a:rPr lang="en-IE" sz="3200" dirty="0" smtClean="0"/>
                <a:t> </a:t>
              </a:r>
              <a:r>
                <a:rPr lang="en-IE" sz="3200" dirty="0" smtClean="0"/>
                <a:t>and A</a:t>
              </a:r>
              <a:r>
                <a:rPr lang="en-IE" sz="3200" baseline="-25000" dirty="0" smtClean="0"/>
                <a:t>y</a:t>
              </a:r>
              <a:r>
                <a:rPr lang="en-IE" sz="3200" dirty="0" smtClean="0"/>
                <a:t> are </a:t>
              </a:r>
            </a:p>
            <a:p>
              <a:r>
                <a:rPr lang="en-IE" sz="3200" dirty="0" smtClean="0"/>
                <a:t>the component </a:t>
              </a:r>
            </a:p>
            <a:p>
              <a:r>
                <a:rPr lang="en-IE" sz="3200" dirty="0" smtClean="0"/>
                <a:t>vectors of A</a:t>
              </a:r>
            </a:p>
            <a:p>
              <a:r>
                <a:rPr lang="en-IE" sz="3200" dirty="0" smtClean="0"/>
                <a:t> </a:t>
              </a:r>
              <a:r>
                <a:rPr lang="en-IE" sz="3200" dirty="0" err="1" smtClean="0"/>
                <a:t>A</a:t>
              </a:r>
              <a:r>
                <a:rPr lang="en-IE" sz="3200" baseline="-25000" dirty="0" err="1" smtClean="0"/>
                <a:t>x</a:t>
              </a:r>
              <a:r>
                <a:rPr lang="en-IE" sz="3200" dirty="0" smtClean="0"/>
                <a:t> are A</a:t>
              </a:r>
              <a:r>
                <a:rPr lang="en-IE" sz="3200" baseline="-25000" dirty="0" smtClean="0"/>
                <a:t>y</a:t>
              </a:r>
              <a:r>
                <a:rPr lang="en-IE" sz="3200" dirty="0" smtClean="0"/>
                <a:t> are the</a:t>
              </a:r>
            </a:p>
            <a:p>
              <a:r>
                <a:rPr lang="en-IE" sz="3200" dirty="0" smtClean="0"/>
                <a:t>scalar components</a:t>
              </a:r>
            </a:p>
            <a:p>
              <a:r>
                <a:rPr lang="en-IE" sz="3200" dirty="0" smtClean="0"/>
                <a:t>of A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611560" y="21328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1259632" y="21328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979712" y="21328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691680" y="2708920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2627784" y="2708920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611560" y="357301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835696" y="357301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2411760" y="4581128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The Magnitude of a Vector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Magnitude of a vector conveys how big it is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Written as |A|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In terms of components:</a:t>
            </a:r>
          </a:p>
          <a:p>
            <a:pPr lvl="1" algn="l"/>
            <a:r>
              <a:rPr lang="en-IE" dirty="0" smtClean="0">
                <a:solidFill>
                  <a:schemeClr val="tx1"/>
                </a:solidFill>
              </a:rPr>
              <a:t>	 </a:t>
            </a:r>
            <a:r>
              <a:rPr lang="en-IE" sz="3200" dirty="0" smtClean="0">
                <a:solidFill>
                  <a:schemeClr val="tx1"/>
                </a:solidFill>
              </a:rPr>
              <a:t>|A|</a:t>
            </a:r>
            <a:r>
              <a:rPr lang="en-IE" sz="3200" baseline="30000" dirty="0" smtClean="0">
                <a:solidFill>
                  <a:schemeClr val="tx1"/>
                </a:solidFill>
              </a:rPr>
              <a:t>2</a:t>
            </a:r>
            <a:r>
              <a:rPr lang="en-IE" sz="3200" dirty="0" smtClean="0">
                <a:solidFill>
                  <a:schemeClr val="tx1"/>
                </a:solidFill>
              </a:rPr>
              <a:t> = A</a:t>
            </a:r>
            <a:r>
              <a:rPr lang="en-IE" sz="3200" baseline="-25000" dirty="0" smtClean="0">
                <a:solidFill>
                  <a:schemeClr val="tx1"/>
                </a:solidFill>
              </a:rPr>
              <a:t>x</a:t>
            </a:r>
            <a:r>
              <a:rPr lang="en-IE" sz="3200" baseline="30000" dirty="0" smtClean="0">
                <a:solidFill>
                  <a:schemeClr val="tx1"/>
                </a:solidFill>
              </a:rPr>
              <a:t>2</a:t>
            </a:r>
            <a:r>
              <a:rPr lang="en-IE" sz="3200" dirty="0" smtClean="0">
                <a:solidFill>
                  <a:schemeClr val="tx1"/>
                </a:solidFill>
              </a:rPr>
              <a:t> + A</a:t>
            </a:r>
            <a:r>
              <a:rPr lang="en-IE" sz="3200" baseline="-25000" dirty="0" smtClean="0">
                <a:solidFill>
                  <a:schemeClr val="tx1"/>
                </a:solidFill>
              </a:rPr>
              <a:t>y</a:t>
            </a:r>
            <a:r>
              <a:rPr lang="en-IE" sz="3200" baseline="30000" dirty="0" smtClean="0">
                <a:solidFill>
                  <a:schemeClr val="tx1"/>
                </a:solidFill>
              </a:rPr>
              <a:t>2</a:t>
            </a:r>
            <a:endParaRPr lang="en-IE" baseline="300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11</a:t>
            </a:fld>
            <a:endParaRPr lang="en-I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Dot Product of Two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3456384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Also called scalar product, because outcome is a scalar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Depends on sizes of vectors but also angle between them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In terms of components</a:t>
            </a:r>
            <a:endParaRPr lang="en-IE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12</a:t>
            </a:fld>
            <a:endParaRPr lang="en-IE"/>
          </a:p>
        </p:txBody>
      </p:sp>
      <p:grpSp>
        <p:nvGrpSpPr>
          <p:cNvPr id="12" name="Group 11"/>
          <p:cNvGrpSpPr/>
          <p:nvPr/>
        </p:nvGrpSpPr>
        <p:grpSpPr>
          <a:xfrm>
            <a:off x="2267744" y="4869160"/>
            <a:ext cx="3786614" cy="707886"/>
            <a:chOff x="3779912" y="5661248"/>
            <a:chExt cx="3786614" cy="707886"/>
          </a:xfrm>
        </p:grpSpPr>
        <p:sp>
          <p:nvSpPr>
            <p:cNvPr id="6" name="TextBox 5"/>
            <p:cNvSpPr txBox="1"/>
            <p:nvPr/>
          </p:nvSpPr>
          <p:spPr>
            <a:xfrm>
              <a:off x="3779912" y="5661248"/>
              <a:ext cx="37866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/>
              <a:r>
                <a:rPr lang="en-IE" sz="4000" dirty="0" smtClean="0"/>
                <a:t>A.B = </a:t>
              </a:r>
              <a:r>
                <a:rPr lang="en-IE" sz="4000" dirty="0" err="1" smtClean="0"/>
                <a:t>A</a:t>
              </a:r>
              <a:r>
                <a:rPr lang="en-IE" sz="4000" baseline="-25000" dirty="0" err="1" smtClean="0"/>
                <a:t>x</a:t>
              </a:r>
              <a:r>
                <a:rPr lang="en-IE" sz="4000" dirty="0" smtClean="0"/>
                <a:t> </a:t>
              </a:r>
              <a:r>
                <a:rPr lang="en-IE" sz="4000" dirty="0" err="1" smtClean="0"/>
                <a:t>B</a:t>
              </a:r>
              <a:r>
                <a:rPr lang="en-IE" sz="4000" baseline="-25000" dirty="0" err="1" smtClean="0"/>
                <a:t>x</a:t>
              </a:r>
              <a:r>
                <a:rPr lang="en-IE" sz="4000" dirty="0" smtClean="0"/>
                <a:t> + A</a:t>
              </a:r>
              <a:r>
                <a:rPr lang="en-IE" sz="4000" baseline="-25000" dirty="0" smtClean="0"/>
                <a:t>y</a:t>
              </a:r>
              <a:r>
                <a:rPr lang="en-IE" sz="2400" dirty="0" smtClean="0"/>
                <a:t> </a:t>
              </a:r>
              <a:r>
                <a:rPr lang="en-IE" sz="4000" dirty="0" smtClean="0"/>
                <a:t>B</a:t>
              </a:r>
              <a:r>
                <a:rPr lang="en-IE" sz="4000" baseline="-25000" dirty="0" smtClean="0"/>
                <a:t>y</a:t>
              </a:r>
              <a:endParaRPr lang="en-IE" sz="4000" baseline="30000" dirty="0" smtClean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211960" y="57332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851920" y="57332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Dot Product of Two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988840"/>
            <a:ext cx="7488832" cy="3456384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In terms of the graphics:</a:t>
            </a:r>
            <a:endParaRPr lang="en-IE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13</a:t>
            </a:fld>
            <a:endParaRPr lang="en-IE"/>
          </a:p>
        </p:txBody>
      </p:sp>
      <p:grpSp>
        <p:nvGrpSpPr>
          <p:cNvPr id="5" name="Group 11"/>
          <p:cNvGrpSpPr/>
          <p:nvPr/>
        </p:nvGrpSpPr>
        <p:grpSpPr>
          <a:xfrm>
            <a:off x="1979712" y="4869160"/>
            <a:ext cx="3961726" cy="720080"/>
            <a:chOff x="3347863" y="5013176"/>
            <a:chExt cx="2849196" cy="720080"/>
          </a:xfrm>
        </p:grpSpPr>
        <p:sp>
          <p:nvSpPr>
            <p:cNvPr id="6" name="TextBox 5"/>
            <p:cNvSpPr txBox="1"/>
            <p:nvPr/>
          </p:nvSpPr>
          <p:spPr>
            <a:xfrm>
              <a:off x="3347863" y="5013176"/>
              <a:ext cx="28491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/>
              <a:r>
                <a:rPr lang="en-IE" sz="4000" dirty="0" smtClean="0"/>
                <a:t>A.B = |A||</a:t>
              </a:r>
              <a:r>
                <a:rPr lang="en-IE" sz="4000" dirty="0" err="1" smtClean="0"/>
                <a:t>B|cos</a:t>
              </a:r>
              <a:r>
                <a:rPr lang="en-IE" sz="4000" dirty="0" smtClean="0"/>
                <a:t> K</a:t>
              </a:r>
              <a:endParaRPr lang="en-IE" sz="4000" baseline="30000" dirty="0" smtClean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211960" y="57332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851920" y="573325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979712" y="3284984"/>
            <a:ext cx="4414582" cy="1366411"/>
            <a:chOff x="2051720" y="3861048"/>
            <a:chExt cx="4414582" cy="1366411"/>
          </a:xfrm>
        </p:grpSpPr>
        <p:sp>
          <p:nvSpPr>
            <p:cNvPr id="19" name="Right Arrow 18"/>
            <p:cNvSpPr/>
            <p:nvPr/>
          </p:nvSpPr>
          <p:spPr>
            <a:xfrm rot="19304774">
              <a:off x="2066218" y="3974850"/>
              <a:ext cx="2805294" cy="321912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51720" y="3933056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A</a:t>
              </a:r>
              <a:endParaRPr lang="en-IE" sz="3600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123728" y="400506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788024" y="4581128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600" dirty="0" smtClean="0"/>
                <a:t>B</a:t>
              </a:r>
              <a:endParaRPr lang="en-IE" sz="3600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860032" y="4653136"/>
              <a:ext cx="28803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Arrow 14"/>
            <p:cNvSpPr/>
            <p:nvPr/>
          </p:nvSpPr>
          <p:spPr>
            <a:xfrm rot="20715047">
              <a:off x="2416373" y="4391808"/>
              <a:ext cx="4049929" cy="350590"/>
            </a:xfrm>
            <a:prstGeom prst="rightArrow">
              <a:avLst>
                <a:gd name="adj1" fmla="val 50000"/>
                <a:gd name="adj2" fmla="val 1000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Arc 21"/>
            <p:cNvSpPr/>
            <p:nvPr/>
          </p:nvSpPr>
          <p:spPr>
            <a:xfrm rot="1945563">
              <a:off x="3009770" y="3987957"/>
              <a:ext cx="1069592" cy="729541"/>
            </a:xfrm>
            <a:prstGeom prst="arc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51920" y="3861048"/>
              <a:ext cx="15392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800" dirty="0" smtClean="0"/>
                <a:t>Angle = K</a:t>
              </a:r>
              <a:endParaRPr lang="en-IE" sz="28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0"/>
            <a:ext cx="7772400" cy="1470025"/>
          </a:xfrm>
        </p:spPr>
        <p:txBody>
          <a:bodyPr/>
          <a:lstStyle/>
          <a:p>
            <a:r>
              <a:rPr lang="en-IE" dirty="0" smtClean="0"/>
              <a:t>Cross Product of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124744"/>
            <a:ext cx="7488832" cy="4392488"/>
          </a:xfrm>
        </p:spPr>
        <p:txBody>
          <a:bodyPr>
            <a:normAutofit lnSpcReduction="10000"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Also called the vector product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Multiplies two vectors together to give a third vector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Resultant vector is at right angles to both vectors multiplied together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Needs third dimension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Size of resultant vectors given by product of two input vectors multiplied by the sine of the angle between them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14</a:t>
            </a:fld>
            <a:endParaRPr lang="en-IE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2979313" y="5351361"/>
          <a:ext cx="2024735" cy="1245991"/>
        </p:xfrm>
        <a:graphic>
          <a:graphicData uri="http://schemas.openxmlformats.org/presentationml/2006/ole">
            <p:oleObj spid="_x0000_s18434" name="Equation" r:id="rId3" imgW="99036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Cross Product of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In terms of components we get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15</a:t>
            </a:fld>
            <a:endParaRPr lang="en-IE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627784" y="2924943"/>
          <a:ext cx="3312368" cy="2725269"/>
        </p:xfrm>
        <a:graphic>
          <a:graphicData uri="http://schemas.openxmlformats.org/presentationml/2006/ole">
            <p:oleObj spid="_x0000_s19458" name="Equation" r:id="rId3" imgW="1358640" imgH="111744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IE" dirty="0" smtClean="0"/>
              <a:t>Cross Product of Vectors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88832" cy="439248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The direction of the cross product (whether it is up or down from the plane of the two input vectors) is given by the right hand rule.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A goes along your right thumb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B goes along your right index finger</a:t>
            </a:r>
          </a:p>
          <a:p>
            <a:pPr lvl="1"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C goes along your right middle finger</a:t>
            </a:r>
          </a:p>
          <a:p>
            <a:pPr algn="l">
              <a:buFont typeface="Arial" pitchFamily="34" charset="0"/>
              <a:buChar char="•"/>
            </a:pPr>
            <a:r>
              <a:rPr lang="en-IE" dirty="0" smtClean="0">
                <a:solidFill>
                  <a:schemeClr val="tx1"/>
                </a:solidFill>
              </a:rPr>
              <a:t>We get that 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16</a:t>
            </a:fld>
            <a:endParaRPr lang="en-IE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547664" y="400506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547664" y="458112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547664" y="508518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275856" y="6021288"/>
          <a:ext cx="1324947" cy="576064"/>
        </p:xfrm>
        <a:graphic>
          <a:graphicData uri="http://schemas.openxmlformats.org/presentationml/2006/ole">
            <p:oleObj spid="_x0000_s20482" name="Equation" r:id="rId3" imgW="583920" imgH="253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Comparing Dot and Cross Products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 smtClean="0"/>
              <a:t>Dot Product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 smtClean="0"/>
              <a:t>Produces a scalar</a:t>
            </a:r>
          </a:p>
          <a:p>
            <a:r>
              <a:rPr lang="en-IE" dirty="0" smtClean="0"/>
              <a:t>Magnitude given by:</a:t>
            </a:r>
          </a:p>
          <a:p>
            <a:endParaRPr lang="en-IE" dirty="0" smtClean="0"/>
          </a:p>
          <a:p>
            <a:endParaRPr lang="en-IE" dirty="0" smtClean="0"/>
          </a:p>
          <a:p>
            <a:r>
              <a:rPr lang="en-IE" dirty="0" smtClean="0"/>
              <a:t>Dot product is reversible</a:t>
            </a:r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E" dirty="0" smtClean="0"/>
              <a:t>Cross Product</a:t>
            </a:r>
            <a:endParaRPr lang="en-I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27985" y="2174875"/>
            <a:ext cx="4464496" cy="3951288"/>
          </a:xfrm>
        </p:spPr>
        <p:txBody>
          <a:bodyPr/>
          <a:lstStyle/>
          <a:p>
            <a:r>
              <a:rPr lang="en-IE" dirty="0" smtClean="0"/>
              <a:t>Produces a vector</a:t>
            </a:r>
          </a:p>
          <a:p>
            <a:r>
              <a:rPr lang="en-IE" dirty="0" smtClean="0"/>
              <a:t>Magnitude given by:</a:t>
            </a:r>
          </a:p>
          <a:p>
            <a:endParaRPr lang="en-IE" dirty="0" smtClean="0"/>
          </a:p>
          <a:p>
            <a:endParaRPr lang="en-IE" dirty="0" smtClean="0"/>
          </a:p>
          <a:p>
            <a:r>
              <a:rPr lang="en-IE" dirty="0" smtClean="0"/>
              <a:t>Cross product is not reversible</a:t>
            </a:r>
          </a:p>
          <a:p>
            <a:endParaRPr lang="en-IE" dirty="0" smtClean="0"/>
          </a:p>
          <a:p>
            <a:pPr lvl="1"/>
            <a:r>
              <a:rPr lang="en-IE" dirty="0" smtClean="0"/>
              <a:t>It produces a different vector pointing in the opposite direction</a:t>
            </a:r>
          </a:p>
          <a:p>
            <a:endParaRPr lang="en-IE" dirty="0" smtClean="0"/>
          </a:p>
          <a:p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17</a:t>
            </a:fld>
            <a:endParaRPr lang="en-IE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5220072" y="3212976"/>
          <a:ext cx="2268538" cy="647700"/>
        </p:xfrm>
        <a:graphic>
          <a:graphicData uri="http://schemas.openxmlformats.org/presentationml/2006/ole">
            <p:oleObj spid="_x0000_s21506" name="Equation" r:id="rId3" imgW="1155600" imgH="330120" progId="Equation.3">
              <p:embed/>
            </p:oleObj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971600" y="3212976"/>
          <a:ext cx="2143125" cy="647700"/>
        </p:xfrm>
        <a:graphic>
          <a:graphicData uri="http://schemas.openxmlformats.org/presentationml/2006/ole">
            <p:oleObj spid="_x0000_s21507" name="Equation" r:id="rId4" imgW="1091880" imgH="330120" progId="Equation.3">
              <p:embed/>
            </p:oleObj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1403648" y="4365104"/>
          <a:ext cx="1295400" cy="447675"/>
        </p:xfrm>
        <a:graphic>
          <a:graphicData uri="http://schemas.openxmlformats.org/presentationml/2006/ole">
            <p:oleObj spid="_x0000_s21508" name="Equation" r:id="rId5" imgW="660240" imgH="228600" progId="Equation.3">
              <p:embed/>
            </p:oleObj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5580112" y="4293096"/>
          <a:ext cx="1644650" cy="447675"/>
        </p:xfrm>
        <a:graphic>
          <a:graphicData uri="http://schemas.openxmlformats.org/presentationml/2006/ole">
            <p:oleObj spid="_x0000_s21509" name="Equation" r:id="rId6" imgW="83808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be 12"/>
          <p:cNvSpPr/>
          <p:nvPr/>
        </p:nvSpPr>
        <p:spPr>
          <a:xfrm>
            <a:off x="5580112" y="3573016"/>
            <a:ext cx="2088232" cy="1296144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Volume of a Box</a:t>
            </a:r>
            <a:endParaRPr lang="en-IE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IE" dirty="0" smtClean="0"/>
              <a:t>Combining dot and cross product gives a handy way to figure out the volume of a box</a:t>
            </a:r>
          </a:p>
          <a:p>
            <a:r>
              <a:rPr lang="en-IE" dirty="0" smtClean="0"/>
              <a:t>Three vectors will define the edges of a box</a:t>
            </a:r>
          </a:p>
          <a:p>
            <a:pPr>
              <a:buNone/>
            </a:pP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4144-EFDA-4D95-973F-F3B5BED00DC9}" type="slidenum">
              <a:rPr lang="en-IE" smtClean="0"/>
              <a:pPr/>
              <a:t>18</a:t>
            </a:fld>
            <a:endParaRPr lang="en-IE"/>
          </a:p>
        </p:txBody>
      </p:sp>
      <p:sp>
        <p:nvSpPr>
          <p:cNvPr id="10" name="Right Arrow 9"/>
          <p:cNvSpPr/>
          <p:nvPr/>
        </p:nvSpPr>
        <p:spPr>
          <a:xfrm>
            <a:off x="5580112" y="4725144"/>
            <a:ext cx="180020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Down Arrow 10"/>
          <p:cNvSpPr/>
          <p:nvPr/>
        </p:nvSpPr>
        <p:spPr>
          <a:xfrm rot="10800000">
            <a:off x="5436096" y="3861048"/>
            <a:ext cx="216024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ight Arrow 11"/>
          <p:cNvSpPr/>
          <p:nvPr/>
        </p:nvSpPr>
        <p:spPr>
          <a:xfrm rot="19350378">
            <a:off x="5531830" y="4575694"/>
            <a:ext cx="511497" cy="165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5940152" y="3573016"/>
            <a:ext cx="0" cy="86409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012160" y="4509120"/>
            <a:ext cx="1656184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0"/>
          <p:cNvGrpSpPr/>
          <p:nvPr/>
        </p:nvGrpSpPr>
        <p:grpSpPr>
          <a:xfrm>
            <a:off x="5148064" y="4221088"/>
            <a:ext cx="288032" cy="369332"/>
            <a:chOff x="3779912" y="4365104"/>
            <a:chExt cx="288032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3779912" y="436510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 smtClean="0"/>
                <a:t>A</a:t>
              </a:r>
              <a:endParaRPr lang="en-IE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3851920" y="4365104"/>
              <a:ext cx="2160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1"/>
          <p:cNvGrpSpPr/>
          <p:nvPr/>
        </p:nvGrpSpPr>
        <p:grpSpPr>
          <a:xfrm>
            <a:off x="6372200" y="4941168"/>
            <a:ext cx="288032" cy="369332"/>
            <a:chOff x="3779912" y="4365104"/>
            <a:chExt cx="288032" cy="369332"/>
          </a:xfrm>
        </p:grpSpPr>
        <p:sp>
          <p:nvSpPr>
            <p:cNvPr id="23" name="TextBox 22"/>
            <p:cNvSpPr txBox="1"/>
            <p:nvPr/>
          </p:nvSpPr>
          <p:spPr>
            <a:xfrm>
              <a:off x="3779912" y="436510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 smtClean="0"/>
                <a:t>B</a:t>
              </a:r>
              <a:endParaRPr lang="en-IE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3851920" y="4365104"/>
              <a:ext cx="2160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4"/>
          <p:cNvGrpSpPr/>
          <p:nvPr/>
        </p:nvGrpSpPr>
        <p:grpSpPr>
          <a:xfrm>
            <a:off x="5940152" y="4149080"/>
            <a:ext cx="288032" cy="369332"/>
            <a:chOff x="3779912" y="4365104"/>
            <a:chExt cx="288032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3779912" y="4365104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 smtClean="0"/>
                <a:t>C</a:t>
              </a:r>
              <a:endParaRPr lang="en-IE" dirty="0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851920" y="4365104"/>
              <a:ext cx="2160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899592" y="3933056"/>
          <a:ext cx="3999508" cy="879013"/>
        </p:xfrm>
        <a:graphic>
          <a:graphicData uri="http://schemas.openxmlformats.org/presentationml/2006/ole">
            <p:oleObj spid="_x0000_s22530" name="Equation" r:id="rId3" imgW="1155600" imgH="2538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667</Words>
  <Application>Microsoft Office PowerPoint</Application>
  <PresentationFormat>On-screen Show (4:3)</PresentationFormat>
  <Paragraphs>146</Paragraphs>
  <Slides>18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Equation</vt:lpstr>
      <vt:lpstr>Vectors</vt:lpstr>
      <vt:lpstr>What are Vectors?</vt:lpstr>
      <vt:lpstr>What are Vectors?</vt:lpstr>
      <vt:lpstr>Representing Vectors</vt:lpstr>
      <vt:lpstr>Representing Vectors</vt:lpstr>
      <vt:lpstr>Adding Vectors</vt:lpstr>
      <vt:lpstr>Multiplying a Vector by a Scalar</vt:lpstr>
      <vt:lpstr>Subtracting Vectors</vt:lpstr>
      <vt:lpstr>Components of Vectors</vt:lpstr>
      <vt:lpstr>Components of Vectors</vt:lpstr>
      <vt:lpstr>The Magnitude of a Vector</vt:lpstr>
      <vt:lpstr>Dot Product of Two Vectors</vt:lpstr>
      <vt:lpstr>Dot Product of Two Vectors</vt:lpstr>
      <vt:lpstr>Cross Product of Vectors</vt:lpstr>
      <vt:lpstr>Cross Product of Vectors</vt:lpstr>
      <vt:lpstr>Cross Product of Vectors</vt:lpstr>
      <vt:lpstr>Comparing Dot and Cross Products</vt:lpstr>
      <vt:lpstr>Volume of a Box</vt:lpstr>
    </vt:vector>
  </TitlesOfParts>
  <Company>Institute of Technology Tallaght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</dc:title>
  <dc:creator>eugene</dc:creator>
  <cp:lastModifiedBy>ea-coluasa</cp:lastModifiedBy>
  <cp:revision>56</cp:revision>
  <dcterms:created xsi:type="dcterms:W3CDTF">2011-11-22T13:39:57Z</dcterms:created>
  <dcterms:modified xsi:type="dcterms:W3CDTF">2013-03-11T10:11:47Z</dcterms:modified>
</cp:coreProperties>
</file>