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8"/>
  </p:notesMasterIdLst>
  <p:sldIdLst>
    <p:sldId id="256" r:id="rId2"/>
    <p:sldId id="301" r:id="rId3"/>
    <p:sldId id="302" r:id="rId4"/>
    <p:sldId id="303" r:id="rId5"/>
    <p:sldId id="345" r:id="rId6"/>
    <p:sldId id="346" r:id="rId7"/>
    <p:sldId id="347" r:id="rId8"/>
    <p:sldId id="348" r:id="rId9"/>
    <p:sldId id="354" r:id="rId10"/>
    <p:sldId id="357" r:id="rId11"/>
    <p:sldId id="355" r:id="rId12"/>
    <p:sldId id="356" r:id="rId13"/>
    <p:sldId id="351" r:id="rId14"/>
    <p:sldId id="352" r:id="rId15"/>
    <p:sldId id="353" r:id="rId16"/>
    <p:sldId id="358" r:id="rId17"/>
    <p:sldId id="363" r:id="rId18"/>
    <p:sldId id="349" r:id="rId19"/>
    <p:sldId id="350" r:id="rId20"/>
    <p:sldId id="307" r:id="rId21"/>
    <p:sldId id="308" r:id="rId22"/>
    <p:sldId id="309" r:id="rId23"/>
    <p:sldId id="310" r:id="rId24"/>
    <p:sldId id="311" r:id="rId25"/>
    <p:sldId id="312" r:id="rId26"/>
    <p:sldId id="313" r:id="rId27"/>
    <p:sldId id="331" r:id="rId28"/>
    <p:sldId id="359" r:id="rId29"/>
    <p:sldId id="360" r:id="rId30"/>
    <p:sldId id="362" r:id="rId31"/>
    <p:sldId id="314" r:id="rId32"/>
    <p:sldId id="315" r:id="rId33"/>
    <p:sldId id="316" r:id="rId34"/>
    <p:sldId id="317" r:id="rId35"/>
    <p:sldId id="318" r:id="rId36"/>
    <p:sldId id="319" r:id="rId37"/>
    <p:sldId id="320" r:id="rId38"/>
    <p:sldId id="321" r:id="rId39"/>
    <p:sldId id="337" r:id="rId40"/>
    <p:sldId id="335" r:id="rId41"/>
    <p:sldId id="336" r:id="rId42"/>
    <p:sldId id="333" r:id="rId43"/>
    <p:sldId id="339" r:id="rId44"/>
    <p:sldId id="366" r:id="rId45"/>
    <p:sldId id="364" r:id="rId46"/>
    <p:sldId id="365" r:id="rId47"/>
  </p:sldIdLst>
  <p:sldSz cx="10080625" cy="7559675"/>
  <p:notesSz cx="7559675" cy="10691813"/>
  <p:defaultTextStyle>
    <a:defPPr>
      <a:defRPr lang="en-GB"/>
    </a:defPPr>
    <a:lvl1pPr algn="l" defTabSz="449263" rtl="0" fontAlgn="base">
      <a:spcBef>
        <a:spcPct val="0"/>
      </a:spcBef>
      <a:spcAft>
        <a:spcPct val="0"/>
      </a:spcAft>
      <a:buClr>
        <a:srgbClr val="000000"/>
      </a:buClr>
      <a:buSzPct val="100000"/>
      <a:buFont typeface="Times New Roman" pitchFamily="18" charset="0"/>
      <a:defRPr kern="1200">
        <a:solidFill>
          <a:schemeClr val="bg1"/>
        </a:solidFill>
        <a:latin typeface="Arial" pitchFamily="34" charset="0"/>
        <a:ea typeface="DejaVu Sans"/>
        <a:cs typeface="DejaVu Sans"/>
      </a:defRPr>
    </a:lvl1pPr>
    <a:lvl2pPr marL="742950" indent="-285750" algn="l" defTabSz="449263" rtl="0" fontAlgn="base">
      <a:spcBef>
        <a:spcPct val="0"/>
      </a:spcBef>
      <a:spcAft>
        <a:spcPct val="0"/>
      </a:spcAft>
      <a:buClr>
        <a:srgbClr val="000000"/>
      </a:buClr>
      <a:buSzPct val="100000"/>
      <a:buFont typeface="Times New Roman" pitchFamily="18" charset="0"/>
      <a:defRPr kern="1200">
        <a:solidFill>
          <a:schemeClr val="bg1"/>
        </a:solidFill>
        <a:latin typeface="Arial" pitchFamily="34" charset="0"/>
        <a:ea typeface="DejaVu Sans"/>
        <a:cs typeface="DejaVu Sans"/>
      </a:defRPr>
    </a:lvl2pPr>
    <a:lvl3pPr marL="1143000" indent="-228600" algn="l" defTabSz="449263" rtl="0" fontAlgn="base">
      <a:spcBef>
        <a:spcPct val="0"/>
      </a:spcBef>
      <a:spcAft>
        <a:spcPct val="0"/>
      </a:spcAft>
      <a:buClr>
        <a:srgbClr val="000000"/>
      </a:buClr>
      <a:buSzPct val="100000"/>
      <a:buFont typeface="Times New Roman" pitchFamily="18" charset="0"/>
      <a:defRPr kern="1200">
        <a:solidFill>
          <a:schemeClr val="bg1"/>
        </a:solidFill>
        <a:latin typeface="Arial" pitchFamily="34" charset="0"/>
        <a:ea typeface="DejaVu Sans"/>
        <a:cs typeface="DejaVu Sans"/>
      </a:defRPr>
    </a:lvl3pPr>
    <a:lvl4pPr marL="1600200" indent="-228600" algn="l" defTabSz="449263" rtl="0" fontAlgn="base">
      <a:spcBef>
        <a:spcPct val="0"/>
      </a:spcBef>
      <a:spcAft>
        <a:spcPct val="0"/>
      </a:spcAft>
      <a:buClr>
        <a:srgbClr val="000000"/>
      </a:buClr>
      <a:buSzPct val="100000"/>
      <a:buFont typeface="Times New Roman" pitchFamily="18" charset="0"/>
      <a:defRPr kern="1200">
        <a:solidFill>
          <a:schemeClr val="bg1"/>
        </a:solidFill>
        <a:latin typeface="Arial" pitchFamily="34" charset="0"/>
        <a:ea typeface="DejaVu Sans"/>
        <a:cs typeface="DejaVu Sans"/>
      </a:defRPr>
    </a:lvl4pPr>
    <a:lvl5pPr marL="2057400" indent="-228600" algn="l" defTabSz="449263" rtl="0" fontAlgn="base">
      <a:spcBef>
        <a:spcPct val="0"/>
      </a:spcBef>
      <a:spcAft>
        <a:spcPct val="0"/>
      </a:spcAft>
      <a:buClr>
        <a:srgbClr val="000000"/>
      </a:buClr>
      <a:buSzPct val="100000"/>
      <a:buFont typeface="Times New Roman" pitchFamily="18" charset="0"/>
      <a:defRPr kern="1200">
        <a:solidFill>
          <a:schemeClr val="bg1"/>
        </a:solidFill>
        <a:latin typeface="Arial" pitchFamily="34" charset="0"/>
        <a:ea typeface="DejaVu Sans"/>
        <a:cs typeface="DejaVu Sans"/>
      </a:defRPr>
    </a:lvl5pPr>
    <a:lvl6pPr marL="2286000" algn="l" defTabSz="914400" rtl="0" eaLnBrk="1" latinLnBrk="0" hangingPunct="1">
      <a:defRPr kern="1200">
        <a:solidFill>
          <a:schemeClr val="bg1"/>
        </a:solidFill>
        <a:latin typeface="Arial" pitchFamily="34" charset="0"/>
        <a:ea typeface="DejaVu Sans"/>
        <a:cs typeface="DejaVu Sans"/>
      </a:defRPr>
    </a:lvl6pPr>
    <a:lvl7pPr marL="2743200" algn="l" defTabSz="914400" rtl="0" eaLnBrk="1" latinLnBrk="0" hangingPunct="1">
      <a:defRPr kern="1200">
        <a:solidFill>
          <a:schemeClr val="bg1"/>
        </a:solidFill>
        <a:latin typeface="Arial" pitchFamily="34" charset="0"/>
        <a:ea typeface="DejaVu Sans"/>
        <a:cs typeface="DejaVu Sans"/>
      </a:defRPr>
    </a:lvl7pPr>
    <a:lvl8pPr marL="3200400" algn="l" defTabSz="914400" rtl="0" eaLnBrk="1" latinLnBrk="0" hangingPunct="1">
      <a:defRPr kern="1200">
        <a:solidFill>
          <a:schemeClr val="bg1"/>
        </a:solidFill>
        <a:latin typeface="Arial" pitchFamily="34" charset="0"/>
        <a:ea typeface="DejaVu Sans"/>
        <a:cs typeface="DejaVu Sans"/>
      </a:defRPr>
    </a:lvl8pPr>
    <a:lvl9pPr marL="3657600" algn="l" defTabSz="914400" rtl="0" eaLnBrk="1" latinLnBrk="0" hangingPunct="1">
      <a:defRPr kern="1200">
        <a:solidFill>
          <a:schemeClr val="bg1"/>
        </a:solidFill>
        <a:latin typeface="Arial" pitchFamily="34" charset="0"/>
        <a:ea typeface="DejaVu Sans"/>
        <a:cs typeface="DejaVu San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94" autoAdjust="0"/>
    <p:restoredTop sz="94660"/>
  </p:normalViewPr>
  <p:slideViewPr>
    <p:cSldViewPr>
      <p:cViewPr varScale="1">
        <p:scale>
          <a:sx n="68" d="100"/>
          <a:sy n="68" d="100"/>
        </p:scale>
        <p:origin x="1148" y="68"/>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ugene Hickey" userId="17fcf2e9-1605-4812-b43a-1168e0459469" providerId="ADAL" clId="{8320A52B-8A6E-4FC2-B893-538BF6EFB537}"/>
    <pc:docChg chg="addSld modSld">
      <pc:chgData name="Eugene Hickey" userId="17fcf2e9-1605-4812-b43a-1168e0459469" providerId="ADAL" clId="{8320A52B-8A6E-4FC2-B893-538BF6EFB537}" dt="2023-05-09T09:49:35.241" v="5"/>
      <pc:docMkLst>
        <pc:docMk/>
      </pc:docMkLst>
      <pc:sldChg chg="addSp modSp new mod">
        <pc:chgData name="Eugene Hickey" userId="17fcf2e9-1605-4812-b43a-1168e0459469" providerId="ADAL" clId="{8320A52B-8A6E-4FC2-B893-538BF6EFB537}" dt="2023-05-09T09:49:35.241" v="5"/>
        <pc:sldMkLst>
          <pc:docMk/>
          <pc:sldMk cId="3226142208" sldId="366"/>
        </pc:sldMkLst>
        <pc:spChg chg="add mod">
          <ac:chgData name="Eugene Hickey" userId="17fcf2e9-1605-4812-b43a-1168e0459469" providerId="ADAL" clId="{8320A52B-8A6E-4FC2-B893-538BF6EFB537}" dt="2023-05-09T09:49:35.241" v="5"/>
          <ac:spMkLst>
            <pc:docMk/>
            <pc:sldMk cId="3226142208" sldId="366"/>
            <ac:spMk id="4" creationId="{4073CAD7-23A6-745D-E5C2-FBD20A7C3C8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AutoShape 1"/>
          <p:cNvSpPr>
            <a:spLocks noChangeArrowheads="1"/>
          </p:cNvSpPr>
          <p:nvPr/>
        </p:nvSpPr>
        <p:spPr bwMode="auto">
          <a:xfrm>
            <a:off x="0" y="0"/>
            <a:ext cx="7559675" cy="10691813"/>
          </a:xfrm>
          <a:prstGeom prst="roundRect">
            <a:avLst>
              <a:gd name="adj" fmla="val 19"/>
            </a:avLst>
          </a:prstGeom>
          <a:solidFill>
            <a:srgbClr val="FFFFFF"/>
          </a:solidFill>
          <a:ln w="9360">
            <a:noFill/>
            <a:miter lim="800000"/>
            <a:headEnd/>
            <a:tailEnd/>
          </a:ln>
          <a:effectLst/>
        </p:spPr>
        <p:txBody>
          <a:bodyPr wrap="none" anchor="ctr"/>
          <a:lstStyle/>
          <a:p>
            <a:endParaRPr lang="en-IE"/>
          </a:p>
        </p:txBody>
      </p:sp>
      <p:sp>
        <p:nvSpPr>
          <p:cNvPr id="3074" name="AutoShape 2"/>
          <p:cNvSpPr>
            <a:spLocks noChangeArrowheads="1"/>
          </p:cNvSpPr>
          <p:nvPr/>
        </p:nvSpPr>
        <p:spPr bwMode="auto">
          <a:xfrm>
            <a:off x="0" y="0"/>
            <a:ext cx="7559675" cy="10691813"/>
          </a:xfrm>
          <a:prstGeom prst="roundRect">
            <a:avLst>
              <a:gd name="adj" fmla="val 19"/>
            </a:avLst>
          </a:prstGeom>
          <a:solidFill>
            <a:srgbClr val="FFFFFF"/>
          </a:solidFill>
          <a:ln w="9525">
            <a:noFill/>
            <a:round/>
            <a:headEnd/>
            <a:tailEnd/>
          </a:ln>
          <a:effectLst/>
        </p:spPr>
        <p:txBody>
          <a:bodyPr wrap="none" anchor="ctr"/>
          <a:lstStyle/>
          <a:p>
            <a:endParaRPr lang="en-IE"/>
          </a:p>
        </p:txBody>
      </p:sp>
      <p:sp>
        <p:nvSpPr>
          <p:cNvPr id="3075" name="AutoShape 3"/>
          <p:cNvSpPr>
            <a:spLocks noChangeArrowheads="1"/>
          </p:cNvSpPr>
          <p:nvPr/>
        </p:nvSpPr>
        <p:spPr bwMode="auto">
          <a:xfrm>
            <a:off x="0" y="0"/>
            <a:ext cx="7559675" cy="10691813"/>
          </a:xfrm>
          <a:prstGeom prst="roundRect">
            <a:avLst>
              <a:gd name="adj" fmla="val 19"/>
            </a:avLst>
          </a:prstGeom>
          <a:solidFill>
            <a:srgbClr val="FFFFFF"/>
          </a:solidFill>
          <a:ln w="9525">
            <a:noFill/>
            <a:round/>
            <a:headEnd/>
            <a:tailEnd/>
          </a:ln>
          <a:effectLst/>
        </p:spPr>
        <p:txBody>
          <a:bodyPr wrap="none" anchor="ctr"/>
          <a:lstStyle/>
          <a:p>
            <a:endParaRPr lang="en-IE"/>
          </a:p>
        </p:txBody>
      </p:sp>
      <p:sp>
        <p:nvSpPr>
          <p:cNvPr id="3076" name="Rectangle 4"/>
          <p:cNvSpPr>
            <a:spLocks noGrp="1" noRot="1" noChangeAspect="1" noChangeArrowheads="1"/>
          </p:cNvSpPr>
          <p:nvPr>
            <p:ph type="sldImg"/>
          </p:nvPr>
        </p:nvSpPr>
        <p:spPr bwMode="auto">
          <a:xfrm>
            <a:off x="1106488" y="812800"/>
            <a:ext cx="5340350" cy="4003675"/>
          </a:xfrm>
          <a:prstGeom prst="rect">
            <a:avLst/>
          </a:prstGeom>
          <a:noFill/>
          <a:ln w="9525">
            <a:noFill/>
            <a:round/>
            <a:headEnd/>
            <a:tailEnd/>
          </a:ln>
          <a:effectLst/>
        </p:spPr>
      </p:sp>
      <p:sp>
        <p:nvSpPr>
          <p:cNvPr id="3077" name="Rectangle 5"/>
          <p:cNvSpPr>
            <a:spLocks noGrp="1" noChangeArrowheads="1"/>
          </p:cNvSpPr>
          <p:nvPr>
            <p:ph type="body"/>
          </p:nvPr>
        </p:nvSpPr>
        <p:spPr bwMode="auto">
          <a:xfrm>
            <a:off x="755650" y="5078413"/>
            <a:ext cx="6043613" cy="480695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p>
            <a:pPr lvl="0"/>
            <a:endParaRPr lang="en-US"/>
          </a:p>
        </p:txBody>
      </p:sp>
      <p:sp>
        <p:nvSpPr>
          <p:cNvPr id="3078" name="Text Box 6"/>
          <p:cNvSpPr txBox="1">
            <a:spLocks noChangeArrowheads="1"/>
          </p:cNvSpPr>
          <p:nvPr/>
        </p:nvSpPr>
        <p:spPr bwMode="auto">
          <a:xfrm>
            <a:off x="0" y="0"/>
            <a:ext cx="3279775" cy="534988"/>
          </a:xfrm>
          <a:prstGeom prst="rect">
            <a:avLst/>
          </a:prstGeom>
          <a:noFill/>
          <a:ln w="9525">
            <a:noFill/>
            <a:round/>
            <a:headEnd/>
            <a:tailEnd/>
          </a:ln>
          <a:effectLst/>
        </p:spPr>
        <p:txBody>
          <a:bodyPr wrap="none" anchor="ctr"/>
          <a:lstStyle/>
          <a:p>
            <a:endParaRPr lang="en-IE"/>
          </a:p>
        </p:txBody>
      </p:sp>
      <p:sp>
        <p:nvSpPr>
          <p:cNvPr id="3079" name="Text Box 7"/>
          <p:cNvSpPr txBox="1">
            <a:spLocks noChangeArrowheads="1"/>
          </p:cNvSpPr>
          <p:nvPr/>
        </p:nvSpPr>
        <p:spPr bwMode="auto">
          <a:xfrm>
            <a:off x="4279900" y="0"/>
            <a:ext cx="3279775" cy="534988"/>
          </a:xfrm>
          <a:prstGeom prst="rect">
            <a:avLst/>
          </a:prstGeom>
          <a:noFill/>
          <a:ln w="9525">
            <a:noFill/>
            <a:round/>
            <a:headEnd/>
            <a:tailEnd/>
          </a:ln>
          <a:effectLst/>
        </p:spPr>
        <p:txBody>
          <a:bodyPr wrap="none" anchor="ctr"/>
          <a:lstStyle/>
          <a:p>
            <a:endParaRPr lang="en-IE"/>
          </a:p>
        </p:txBody>
      </p:sp>
      <p:sp>
        <p:nvSpPr>
          <p:cNvPr id="3080" name="Text Box 8"/>
          <p:cNvSpPr txBox="1">
            <a:spLocks noChangeArrowheads="1"/>
          </p:cNvSpPr>
          <p:nvPr/>
        </p:nvSpPr>
        <p:spPr bwMode="auto">
          <a:xfrm>
            <a:off x="0" y="10156825"/>
            <a:ext cx="3279775" cy="534988"/>
          </a:xfrm>
          <a:prstGeom prst="rect">
            <a:avLst/>
          </a:prstGeom>
          <a:noFill/>
          <a:ln w="9525">
            <a:noFill/>
            <a:round/>
            <a:headEnd/>
            <a:tailEnd/>
          </a:ln>
          <a:effectLst/>
        </p:spPr>
        <p:txBody>
          <a:bodyPr wrap="none" anchor="ctr"/>
          <a:lstStyle/>
          <a:p>
            <a:endParaRPr lang="en-IE"/>
          </a:p>
        </p:txBody>
      </p:sp>
      <p:sp>
        <p:nvSpPr>
          <p:cNvPr id="3081" name="Rectangle 9"/>
          <p:cNvSpPr>
            <a:spLocks noGrp="1" noChangeArrowheads="1"/>
          </p:cNvSpPr>
          <p:nvPr>
            <p:ph type="sldNum"/>
          </p:nvPr>
        </p:nvSpPr>
        <p:spPr bwMode="auto">
          <a:xfrm>
            <a:off x="4279900" y="10156825"/>
            <a:ext cx="3275013" cy="530225"/>
          </a:xfrm>
          <a:prstGeom prst="rect">
            <a:avLst/>
          </a:prstGeom>
          <a:noFill/>
          <a:ln w="9525">
            <a:noFill/>
            <a:round/>
            <a:headEnd/>
            <a:tailEnd/>
          </a:ln>
          <a:effectLst/>
        </p:spPr>
        <p:txBody>
          <a:bodyPr vert="horz" wrap="square" lIns="0" tIns="0" rIns="0" bIns="0" numCol="1" anchor="b" anchorCtr="0" compatLnSpc="1">
            <a:prstTxWarp prst="textNoShape">
              <a:avLst/>
            </a:prstTxWarp>
          </a:bodyPr>
          <a:lstStyle>
            <a:lvl1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400">
                <a:solidFill>
                  <a:srgbClr val="000000"/>
                </a:solidFill>
                <a:latin typeface="Times New Roman" pitchFamily="18" charset="0"/>
              </a:defRPr>
            </a:lvl1pPr>
          </a:lstStyle>
          <a:p>
            <a:fld id="{9CE6B88F-B585-4CB6-9BFE-C27F6C8B6909}" type="slidenum">
              <a:rPr lang="en-IE"/>
              <a:pPr/>
              <a:t>‹#›</a:t>
            </a:fld>
            <a:endParaRPr lang="en-IE"/>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9"/>
          <p:cNvSpPr>
            <a:spLocks noGrp="1" noChangeArrowheads="1"/>
          </p:cNvSpPr>
          <p:nvPr>
            <p:ph type="sldNum"/>
          </p:nvPr>
        </p:nvSpPr>
        <p:spPr>
          <a:ln/>
        </p:spPr>
        <p:txBody>
          <a:bodyPr/>
          <a:lstStyle/>
          <a:p>
            <a:fld id="{AD0BEE59-952E-48CA-8664-7277100B1D58}" type="slidenum">
              <a:rPr lang="en-IE"/>
              <a:pPr/>
              <a:t>1</a:t>
            </a:fld>
            <a:endParaRPr lang="en-IE"/>
          </a:p>
        </p:txBody>
      </p:sp>
      <p:sp>
        <p:nvSpPr>
          <p:cNvPr id="80897" name="Text Box 1"/>
          <p:cNvSpPr txBox="1">
            <a:spLocks noChangeArrowheads="1"/>
          </p:cNvSpPr>
          <p:nvPr/>
        </p:nvSpPr>
        <p:spPr bwMode="auto">
          <a:xfrm>
            <a:off x="4279900" y="10156825"/>
            <a:ext cx="3278188" cy="533400"/>
          </a:xfrm>
          <a:prstGeom prst="rect">
            <a:avLst/>
          </a:prstGeom>
          <a:noFill/>
          <a:ln w="9525">
            <a:noFill/>
            <a:round/>
            <a:headEnd/>
            <a:tailEnd/>
          </a:ln>
          <a:effectLst/>
        </p:spPr>
        <p:txBody>
          <a:bodyPr lIns="0" tIns="0" rIns="0" bIns="0" anchor="b"/>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3367F404-03C6-4D91-B9D5-26F4CAC11F5E}"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a:t>
            </a:fld>
            <a:endParaRPr lang="en-IE" sz="1400">
              <a:solidFill>
                <a:srgbClr val="000000"/>
              </a:solidFill>
              <a:latin typeface="Times New Roman" pitchFamily="18" charset="0"/>
            </a:endParaRPr>
          </a:p>
        </p:txBody>
      </p:sp>
      <p:sp>
        <p:nvSpPr>
          <p:cNvPr id="80898" name="Text Box 2"/>
          <p:cNvSpPr txBox="1">
            <a:spLocks noChangeArrowheads="1"/>
          </p:cNvSpPr>
          <p:nvPr/>
        </p:nvSpPr>
        <p:spPr bwMode="auto">
          <a:xfrm>
            <a:off x="1106488" y="812800"/>
            <a:ext cx="5345112" cy="4008438"/>
          </a:xfrm>
          <a:prstGeom prst="rect">
            <a:avLst/>
          </a:prstGeom>
          <a:solidFill>
            <a:srgbClr val="FFFFFF"/>
          </a:solidFill>
          <a:ln w="9360">
            <a:solidFill>
              <a:srgbClr val="000000"/>
            </a:solidFill>
            <a:miter lim="800000"/>
            <a:headEnd/>
            <a:tailEnd/>
          </a:ln>
          <a:effectLst/>
        </p:spPr>
        <p:txBody>
          <a:bodyPr wrap="none" anchor="ctr"/>
          <a:lstStyle/>
          <a:p>
            <a:endParaRPr lang="en-IE"/>
          </a:p>
        </p:txBody>
      </p:sp>
      <p:sp>
        <p:nvSpPr>
          <p:cNvPr id="80899" name="Rectangle 3"/>
          <p:cNvSpPr txBox="1">
            <a:spLocks noGrp="1" noChangeArrowheads="1"/>
          </p:cNvSpPr>
          <p:nvPr>
            <p:ph type="body"/>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9"/>
          <p:cNvSpPr>
            <a:spLocks noGrp="1" noChangeArrowheads="1"/>
          </p:cNvSpPr>
          <p:nvPr>
            <p:ph type="sldNum"/>
          </p:nvPr>
        </p:nvSpPr>
        <p:spPr>
          <a:ln/>
        </p:spPr>
        <p:txBody>
          <a:bodyPr/>
          <a:lstStyle/>
          <a:p>
            <a:fld id="{CE986448-9AEA-4549-9155-7765CEB9C1D3}" type="slidenum">
              <a:rPr lang="en-IE"/>
              <a:pPr/>
              <a:t>2</a:t>
            </a:fld>
            <a:endParaRPr lang="en-IE"/>
          </a:p>
        </p:txBody>
      </p:sp>
      <p:sp>
        <p:nvSpPr>
          <p:cNvPr id="126977" name="Text Box 1"/>
          <p:cNvSpPr txBox="1">
            <a:spLocks noChangeArrowheads="1"/>
          </p:cNvSpPr>
          <p:nvPr/>
        </p:nvSpPr>
        <p:spPr bwMode="auto">
          <a:xfrm>
            <a:off x="4279900" y="10156825"/>
            <a:ext cx="3278188" cy="533400"/>
          </a:xfrm>
          <a:prstGeom prst="rect">
            <a:avLst/>
          </a:prstGeom>
          <a:noFill/>
          <a:ln w="9525">
            <a:noFill/>
            <a:round/>
            <a:headEnd/>
            <a:tailEnd/>
          </a:ln>
          <a:effectLst/>
        </p:spPr>
        <p:txBody>
          <a:bodyPr lIns="0" tIns="0" rIns="0" bIns="0" anchor="b"/>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1D118BA7-EB16-4934-900F-C7025A9D7CE0}"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a:t>
            </a:fld>
            <a:endParaRPr lang="en-IE" sz="1400">
              <a:solidFill>
                <a:srgbClr val="000000"/>
              </a:solidFill>
              <a:latin typeface="Times New Roman" pitchFamily="18" charset="0"/>
            </a:endParaRPr>
          </a:p>
        </p:txBody>
      </p:sp>
      <p:sp>
        <p:nvSpPr>
          <p:cNvPr id="126978" name="Rectangle 2"/>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p:spPr>
      </p:sp>
      <p:sp>
        <p:nvSpPr>
          <p:cNvPr id="126979" name="Rectangle 3"/>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9"/>
          <p:cNvSpPr>
            <a:spLocks noGrp="1" noChangeArrowheads="1"/>
          </p:cNvSpPr>
          <p:nvPr>
            <p:ph type="sldNum"/>
          </p:nvPr>
        </p:nvSpPr>
        <p:spPr>
          <a:ln/>
        </p:spPr>
        <p:txBody>
          <a:bodyPr/>
          <a:lstStyle/>
          <a:p>
            <a:fld id="{E197E391-FF75-4B5B-9A02-D9E1AF5EDEB6}" type="slidenum">
              <a:rPr lang="en-IE"/>
              <a:pPr/>
              <a:t>3</a:t>
            </a:fld>
            <a:endParaRPr lang="en-IE"/>
          </a:p>
        </p:txBody>
      </p:sp>
      <p:sp>
        <p:nvSpPr>
          <p:cNvPr id="128001" name="Text Box 1"/>
          <p:cNvSpPr txBox="1">
            <a:spLocks noChangeArrowheads="1"/>
          </p:cNvSpPr>
          <p:nvPr/>
        </p:nvSpPr>
        <p:spPr bwMode="auto">
          <a:xfrm>
            <a:off x="4279900" y="10156825"/>
            <a:ext cx="3278188" cy="533400"/>
          </a:xfrm>
          <a:prstGeom prst="rect">
            <a:avLst/>
          </a:prstGeom>
          <a:noFill/>
          <a:ln w="9525">
            <a:noFill/>
            <a:round/>
            <a:headEnd/>
            <a:tailEnd/>
          </a:ln>
          <a:effectLst/>
        </p:spPr>
        <p:txBody>
          <a:bodyPr lIns="0" tIns="0" rIns="0" bIns="0" anchor="b"/>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FF86B17-63C9-42AC-B12C-BDB52EAA0185}"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a:t>
            </a:fld>
            <a:endParaRPr lang="en-IE" sz="1400">
              <a:solidFill>
                <a:srgbClr val="000000"/>
              </a:solidFill>
              <a:latin typeface="Times New Roman" pitchFamily="18" charset="0"/>
            </a:endParaRPr>
          </a:p>
        </p:txBody>
      </p:sp>
      <p:sp>
        <p:nvSpPr>
          <p:cNvPr id="128002" name="Rectangle 2"/>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p:spPr>
      </p:sp>
      <p:sp>
        <p:nvSpPr>
          <p:cNvPr id="128003" name="Rectangle 3"/>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9"/>
          <p:cNvSpPr>
            <a:spLocks noGrp="1" noChangeArrowheads="1"/>
          </p:cNvSpPr>
          <p:nvPr>
            <p:ph type="sldNum"/>
          </p:nvPr>
        </p:nvSpPr>
        <p:spPr>
          <a:ln/>
        </p:spPr>
        <p:txBody>
          <a:bodyPr/>
          <a:lstStyle/>
          <a:p>
            <a:fld id="{95A32E96-2DE2-4652-BD18-F02B8947D29D}" type="slidenum">
              <a:rPr lang="en-IE"/>
              <a:pPr/>
              <a:t>4</a:t>
            </a:fld>
            <a:endParaRPr lang="en-IE"/>
          </a:p>
        </p:txBody>
      </p:sp>
      <p:sp>
        <p:nvSpPr>
          <p:cNvPr id="129025" name="Text Box 1"/>
          <p:cNvSpPr txBox="1">
            <a:spLocks noChangeArrowheads="1"/>
          </p:cNvSpPr>
          <p:nvPr/>
        </p:nvSpPr>
        <p:spPr bwMode="auto">
          <a:xfrm>
            <a:off x="4279900" y="10156825"/>
            <a:ext cx="3278188" cy="533400"/>
          </a:xfrm>
          <a:prstGeom prst="rect">
            <a:avLst/>
          </a:prstGeom>
          <a:noFill/>
          <a:ln w="9525">
            <a:noFill/>
            <a:round/>
            <a:headEnd/>
            <a:tailEnd/>
          </a:ln>
          <a:effectLst/>
        </p:spPr>
        <p:txBody>
          <a:bodyPr lIns="0" tIns="0" rIns="0" bIns="0" anchor="b"/>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47F71D5-0D0A-4032-B9CD-1D66DFBA1635}"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a:t>
            </a:fld>
            <a:endParaRPr lang="en-IE" sz="1400">
              <a:solidFill>
                <a:srgbClr val="000000"/>
              </a:solidFill>
              <a:latin typeface="Times New Roman" pitchFamily="18" charset="0"/>
            </a:endParaRPr>
          </a:p>
        </p:txBody>
      </p:sp>
      <p:sp>
        <p:nvSpPr>
          <p:cNvPr id="129026" name="Rectangle 2"/>
          <p:cNvSpPr txBox="1">
            <a:spLocks noGrp="1" noRot="1" noChangeAspect="1" noChangeArrowheads="1"/>
          </p:cNvSpPr>
          <p:nvPr>
            <p:ph type="sldImg"/>
          </p:nvPr>
        </p:nvSpPr>
        <p:spPr bwMode="auto">
          <a:xfrm>
            <a:off x="1106488" y="812800"/>
            <a:ext cx="5345112" cy="4008438"/>
          </a:xfrm>
          <a:prstGeom prst="rect">
            <a:avLst/>
          </a:prstGeom>
          <a:solidFill>
            <a:srgbClr val="FFFFFF"/>
          </a:solidFill>
          <a:ln>
            <a:solidFill>
              <a:srgbClr val="000000"/>
            </a:solidFill>
            <a:miter lim="800000"/>
            <a:headEnd/>
            <a:tailEnd/>
          </a:ln>
        </p:spPr>
      </p:sp>
      <p:sp>
        <p:nvSpPr>
          <p:cNvPr id="129027" name="Rectangle 3"/>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AE83C8A9-5DF1-4066-9C7A-F103C80A2008}" type="slidenum">
              <a:rPr lang="en-IE"/>
              <a:pPr/>
              <a:t>5</a:t>
            </a:fld>
            <a:endParaRPr lang="en-IE"/>
          </a:p>
        </p:txBody>
      </p:sp>
      <p:sp>
        <p:nvSpPr>
          <p:cNvPr id="148481"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48482"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59115780-133F-4FA5-B623-608B6E584D44}" type="slidenum">
              <a:rPr lang="en-IE"/>
              <a:pPr/>
              <a:t>6</a:t>
            </a:fld>
            <a:endParaRPr lang="en-IE"/>
          </a:p>
        </p:txBody>
      </p:sp>
      <p:sp>
        <p:nvSpPr>
          <p:cNvPr id="149505"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49506"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9DC9FDF0-2C18-47F1-B6B2-0D03FB0737B5}" type="slidenum">
              <a:rPr lang="en-IE"/>
              <a:pPr/>
              <a:t>7</a:t>
            </a:fld>
            <a:endParaRPr lang="en-IE"/>
          </a:p>
        </p:txBody>
      </p:sp>
      <p:sp>
        <p:nvSpPr>
          <p:cNvPr id="150529"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0530"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068407C0-6DAE-4364-9868-767B57AA7A33}" type="slidenum">
              <a:rPr lang="en-IE"/>
              <a:pPr/>
              <a:t>8</a:t>
            </a:fld>
            <a:endParaRPr lang="en-IE"/>
          </a:p>
        </p:txBody>
      </p:sp>
      <p:sp>
        <p:nvSpPr>
          <p:cNvPr id="15155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155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9"/>
          <p:cNvSpPr>
            <a:spLocks noGrp="1" noChangeArrowheads="1"/>
          </p:cNvSpPr>
          <p:nvPr>
            <p:ph type="sldNum"/>
          </p:nvPr>
        </p:nvSpPr>
        <p:spPr>
          <a:ln/>
        </p:spPr>
        <p:txBody>
          <a:bodyPr/>
          <a:lstStyle/>
          <a:p>
            <a:fld id="{47DCE832-A474-4E17-B151-8EA5C6198163}" type="slidenum">
              <a:rPr lang="en-IE"/>
              <a:pPr/>
              <a:t>9</a:t>
            </a:fld>
            <a:endParaRPr lang="en-IE"/>
          </a:p>
        </p:txBody>
      </p:sp>
      <p:sp>
        <p:nvSpPr>
          <p:cNvPr id="130049" name="Text Box 1"/>
          <p:cNvSpPr txBox="1">
            <a:spLocks noChangeArrowheads="1"/>
          </p:cNvSpPr>
          <p:nvPr/>
        </p:nvSpPr>
        <p:spPr bwMode="auto">
          <a:xfrm>
            <a:off x="4279900" y="10156825"/>
            <a:ext cx="3278188" cy="533400"/>
          </a:xfrm>
          <a:prstGeom prst="rect">
            <a:avLst/>
          </a:prstGeom>
          <a:noFill/>
          <a:ln w="9525">
            <a:noFill/>
            <a:round/>
            <a:headEnd/>
            <a:tailEnd/>
          </a:ln>
          <a:effectLst/>
        </p:spPr>
        <p:txBody>
          <a:bodyPr lIns="0" tIns="0" rIns="0" bIns="0" anchor="b"/>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8EF4C89-F0F9-4C0A-85B6-00714B48DE3E}"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a:t>
            </a:fld>
            <a:endParaRPr lang="en-IE" sz="1400">
              <a:solidFill>
                <a:srgbClr val="000000"/>
              </a:solidFill>
              <a:latin typeface="Times New Roman" pitchFamily="18" charset="0"/>
            </a:endParaRPr>
          </a:p>
        </p:txBody>
      </p:sp>
      <p:sp>
        <p:nvSpPr>
          <p:cNvPr id="130050" name="Rectangle 2"/>
          <p:cNvSpPr txBox="1">
            <a:spLocks noGrp="1" noRot="1" noChangeAspect="1" noChangeArrowheads="1"/>
          </p:cNvSpPr>
          <p:nvPr>
            <p:ph type="sldImg"/>
          </p:nvPr>
        </p:nvSpPr>
        <p:spPr bwMode="auto">
          <a:xfrm>
            <a:off x="1081088" y="863600"/>
            <a:ext cx="4637087" cy="3478213"/>
          </a:xfrm>
          <a:prstGeom prst="rect">
            <a:avLst/>
          </a:prstGeom>
          <a:solidFill>
            <a:srgbClr val="FFFFFF"/>
          </a:solidFill>
          <a:ln>
            <a:solidFill>
              <a:srgbClr val="000000"/>
            </a:solidFill>
            <a:miter lim="800000"/>
            <a:headEnd/>
            <a:tailEnd/>
          </a:ln>
        </p:spPr>
      </p:sp>
      <p:sp>
        <p:nvSpPr>
          <p:cNvPr id="130051" name="Rectangle 3"/>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9"/>
          <p:cNvSpPr>
            <a:spLocks noGrp="1" noChangeArrowheads="1"/>
          </p:cNvSpPr>
          <p:nvPr>
            <p:ph type="sldNum"/>
          </p:nvPr>
        </p:nvSpPr>
        <p:spPr>
          <a:ln/>
        </p:spPr>
        <p:txBody>
          <a:bodyPr/>
          <a:lstStyle/>
          <a:p>
            <a:fld id="{47DCE832-A474-4E17-B151-8EA5C6198163}" type="slidenum">
              <a:rPr lang="en-IE"/>
              <a:pPr/>
              <a:t>10</a:t>
            </a:fld>
            <a:endParaRPr lang="en-IE"/>
          </a:p>
        </p:txBody>
      </p:sp>
      <p:sp>
        <p:nvSpPr>
          <p:cNvPr id="130049" name="Text Box 1"/>
          <p:cNvSpPr txBox="1">
            <a:spLocks noChangeArrowheads="1"/>
          </p:cNvSpPr>
          <p:nvPr/>
        </p:nvSpPr>
        <p:spPr bwMode="auto">
          <a:xfrm>
            <a:off x="4279900" y="10156825"/>
            <a:ext cx="3278188" cy="533400"/>
          </a:xfrm>
          <a:prstGeom prst="rect">
            <a:avLst/>
          </a:prstGeom>
          <a:noFill/>
          <a:ln w="9525">
            <a:noFill/>
            <a:round/>
            <a:headEnd/>
            <a:tailEnd/>
          </a:ln>
          <a:effectLst/>
        </p:spPr>
        <p:txBody>
          <a:bodyPr lIns="0" tIns="0" rIns="0" bIns="0" anchor="b"/>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8EF4C89-F0F9-4C0A-85B6-00714B48DE3E}"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a:t>
            </a:fld>
            <a:endParaRPr lang="en-IE" sz="1400">
              <a:solidFill>
                <a:srgbClr val="000000"/>
              </a:solidFill>
              <a:latin typeface="Times New Roman" pitchFamily="18" charset="0"/>
            </a:endParaRPr>
          </a:p>
        </p:txBody>
      </p:sp>
      <p:sp>
        <p:nvSpPr>
          <p:cNvPr id="130050" name="Rectangle 2"/>
          <p:cNvSpPr txBox="1">
            <a:spLocks noGrp="1" noRot="1" noChangeAspect="1" noChangeArrowheads="1"/>
          </p:cNvSpPr>
          <p:nvPr>
            <p:ph type="sldImg"/>
          </p:nvPr>
        </p:nvSpPr>
        <p:spPr bwMode="auto">
          <a:xfrm>
            <a:off x="1081088" y="863600"/>
            <a:ext cx="4637087" cy="3478213"/>
          </a:xfrm>
          <a:prstGeom prst="rect">
            <a:avLst/>
          </a:prstGeom>
          <a:solidFill>
            <a:srgbClr val="FFFFFF"/>
          </a:solidFill>
          <a:ln>
            <a:solidFill>
              <a:srgbClr val="000000"/>
            </a:solidFill>
            <a:miter lim="800000"/>
            <a:headEnd/>
            <a:tailEnd/>
          </a:ln>
        </p:spPr>
      </p:sp>
      <p:sp>
        <p:nvSpPr>
          <p:cNvPr id="130051" name="Rectangle 3"/>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9"/>
          <p:cNvSpPr>
            <a:spLocks noGrp="1" noChangeArrowheads="1"/>
          </p:cNvSpPr>
          <p:nvPr>
            <p:ph type="sldNum"/>
          </p:nvPr>
        </p:nvSpPr>
        <p:spPr>
          <a:ln/>
        </p:spPr>
        <p:txBody>
          <a:bodyPr/>
          <a:lstStyle/>
          <a:p>
            <a:fld id="{6F8A5144-AD28-4995-B230-F60583B6F2BC}" type="slidenum">
              <a:rPr lang="en-IE"/>
              <a:pPr/>
              <a:t>11</a:t>
            </a:fld>
            <a:endParaRPr lang="en-IE"/>
          </a:p>
        </p:txBody>
      </p:sp>
      <p:sp>
        <p:nvSpPr>
          <p:cNvPr id="131073" name="Text Box 1"/>
          <p:cNvSpPr txBox="1">
            <a:spLocks noChangeArrowheads="1"/>
          </p:cNvSpPr>
          <p:nvPr/>
        </p:nvSpPr>
        <p:spPr bwMode="auto">
          <a:xfrm>
            <a:off x="4279900" y="10156825"/>
            <a:ext cx="3278188" cy="533400"/>
          </a:xfrm>
          <a:prstGeom prst="rect">
            <a:avLst/>
          </a:prstGeom>
          <a:noFill/>
          <a:ln w="9525">
            <a:noFill/>
            <a:round/>
            <a:headEnd/>
            <a:tailEnd/>
          </a:ln>
          <a:effectLst/>
        </p:spPr>
        <p:txBody>
          <a:bodyPr lIns="0" tIns="0" rIns="0" bIns="0" anchor="b"/>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9AF35A8-3B5E-4C76-9B37-21C1578EB39A}"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a:t>
            </a:fld>
            <a:endParaRPr lang="en-IE" sz="1400">
              <a:solidFill>
                <a:srgbClr val="000000"/>
              </a:solidFill>
              <a:latin typeface="Times New Roman" pitchFamily="18" charset="0"/>
            </a:endParaRPr>
          </a:p>
        </p:txBody>
      </p:sp>
      <p:sp>
        <p:nvSpPr>
          <p:cNvPr id="131074" name="Rectangle 2"/>
          <p:cNvSpPr txBox="1">
            <a:spLocks noGrp="1" noRot="1" noChangeAspect="1" noChangeArrowheads="1"/>
          </p:cNvSpPr>
          <p:nvPr>
            <p:ph type="sldImg"/>
          </p:nvPr>
        </p:nvSpPr>
        <p:spPr bwMode="auto">
          <a:xfrm>
            <a:off x="1081088" y="863600"/>
            <a:ext cx="4637087" cy="3478213"/>
          </a:xfrm>
          <a:prstGeom prst="rect">
            <a:avLst/>
          </a:prstGeom>
          <a:solidFill>
            <a:srgbClr val="FFFFFF"/>
          </a:solidFill>
          <a:ln>
            <a:solidFill>
              <a:srgbClr val="000000"/>
            </a:solidFill>
            <a:miter lim="800000"/>
            <a:headEnd/>
            <a:tailEnd/>
          </a:ln>
        </p:spPr>
      </p:sp>
      <p:sp>
        <p:nvSpPr>
          <p:cNvPr id="131075" name="Rectangle 3"/>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9"/>
          <p:cNvSpPr>
            <a:spLocks noGrp="1" noChangeArrowheads="1"/>
          </p:cNvSpPr>
          <p:nvPr>
            <p:ph type="sldNum"/>
          </p:nvPr>
        </p:nvSpPr>
        <p:spPr>
          <a:ln/>
        </p:spPr>
        <p:txBody>
          <a:bodyPr/>
          <a:lstStyle/>
          <a:p>
            <a:fld id="{D7C877F6-E46D-4706-B4AA-C5104E86304D}" type="slidenum">
              <a:rPr lang="en-IE"/>
              <a:pPr/>
              <a:t>12</a:t>
            </a:fld>
            <a:endParaRPr lang="en-IE"/>
          </a:p>
        </p:txBody>
      </p:sp>
      <p:sp>
        <p:nvSpPr>
          <p:cNvPr id="132097" name="Text Box 1"/>
          <p:cNvSpPr txBox="1">
            <a:spLocks noChangeArrowheads="1"/>
          </p:cNvSpPr>
          <p:nvPr/>
        </p:nvSpPr>
        <p:spPr bwMode="auto">
          <a:xfrm>
            <a:off x="4279900" y="10156825"/>
            <a:ext cx="3278188" cy="533400"/>
          </a:xfrm>
          <a:prstGeom prst="rect">
            <a:avLst/>
          </a:prstGeom>
          <a:noFill/>
          <a:ln w="9525">
            <a:noFill/>
            <a:round/>
            <a:headEnd/>
            <a:tailEnd/>
          </a:ln>
          <a:effectLst/>
        </p:spPr>
        <p:txBody>
          <a:bodyPr lIns="0" tIns="0" rIns="0" bIns="0" anchor="b"/>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3B34F7FB-AEC9-4449-B4F1-98F36649CC18}"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a:t>
            </a:fld>
            <a:endParaRPr lang="en-IE" sz="1400">
              <a:solidFill>
                <a:srgbClr val="000000"/>
              </a:solidFill>
              <a:latin typeface="Times New Roman" pitchFamily="18" charset="0"/>
            </a:endParaRPr>
          </a:p>
        </p:txBody>
      </p:sp>
      <p:sp>
        <p:nvSpPr>
          <p:cNvPr id="132098" name="Rectangle 2"/>
          <p:cNvSpPr txBox="1">
            <a:spLocks noGrp="1" noRot="1" noChangeAspect="1" noChangeArrowheads="1"/>
          </p:cNvSpPr>
          <p:nvPr>
            <p:ph type="sldImg"/>
          </p:nvPr>
        </p:nvSpPr>
        <p:spPr bwMode="auto">
          <a:xfrm>
            <a:off x="1081088" y="863600"/>
            <a:ext cx="4637087" cy="3478213"/>
          </a:xfrm>
          <a:prstGeom prst="rect">
            <a:avLst/>
          </a:prstGeom>
          <a:solidFill>
            <a:srgbClr val="FFFFFF"/>
          </a:solidFill>
          <a:ln>
            <a:solidFill>
              <a:srgbClr val="000000"/>
            </a:solidFill>
            <a:miter lim="800000"/>
            <a:headEnd/>
            <a:tailEnd/>
          </a:ln>
        </p:spPr>
      </p:sp>
      <p:sp>
        <p:nvSpPr>
          <p:cNvPr id="132099" name="Rectangle 3"/>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E4BB9A20-A497-43D2-BED4-3B5008A6D9B1}" type="slidenum">
              <a:rPr lang="en-IE"/>
              <a:pPr/>
              <a:t>13</a:t>
            </a:fld>
            <a:endParaRPr lang="en-IE"/>
          </a:p>
        </p:txBody>
      </p:sp>
      <p:sp>
        <p:nvSpPr>
          <p:cNvPr id="152577"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2578"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8909A22A-294F-4BA4-BBCF-712869F0EC6D}" type="slidenum">
              <a:rPr lang="en-IE"/>
              <a:pPr/>
              <a:t>14</a:t>
            </a:fld>
            <a:endParaRPr lang="en-IE"/>
          </a:p>
        </p:txBody>
      </p:sp>
      <p:sp>
        <p:nvSpPr>
          <p:cNvPr id="153601"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3602"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38DA702F-E190-4A0A-82E9-D50C4E8CE110}" type="slidenum">
              <a:rPr lang="en-IE"/>
              <a:pPr/>
              <a:t>15</a:t>
            </a:fld>
            <a:endParaRPr lang="en-IE"/>
          </a:p>
        </p:txBody>
      </p:sp>
      <p:sp>
        <p:nvSpPr>
          <p:cNvPr id="154625"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4626"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38DA702F-E190-4A0A-82E9-D50C4E8CE110}" type="slidenum">
              <a:rPr lang="en-IE"/>
              <a:pPr/>
              <a:t>16</a:t>
            </a:fld>
            <a:endParaRPr lang="en-IE"/>
          </a:p>
        </p:txBody>
      </p:sp>
      <p:sp>
        <p:nvSpPr>
          <p:cNvPr id="154625"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4626"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AB101087-3C74-4512-836D-8EC811DAC2E7}" type="slidenum">
              <a:rPr lang="en-IE"/>
              <a:pPr/>
              <a:t>17</a:t>
            </a:fld>
            <a:endParaRPr lang="en-IE"/>
          </a:p>
        </p:txBody>
      </p:sp>
      <p:sp>
        <p:nvSpPr>
          <p:cNvPr id="15667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667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AB101087-3C74-4512-836D-8EC811DAC2E7}" type="slidenum">
              <a:rPr lang="en-IE"/>
              <a:pPr/>
              <a:t>19</a:t>
            </a:fld>
            <a:endParaRPr lang="en-IE"/>
          </a:p>
        </p:txBody>
      </p:sp>
      <p:sp>
        <p:nvSpPr>
          <p:cNvPr id="15667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667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37A4AF5D-CCF1-4E26-B120-12A77D813735}" type="slidenum">
              <a:rPr lang="en-IE"/>
              <a:pPr/>
              <a:t>20</a:t>
            </a:fld>
            <a:endParaRPr lang="en-IE"/>
          </a:p>
        </p:txBody>
      </p:sp>
      <p:sp>
        <p:nvSpPr>
          <p:cNvPr id="133121"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33122"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275A607F-F57F-4B78-8D96-CDE575622725}" type="slidenum">
              <a:rPr lang="en-IE"/>
              <a:pPr/>
              <a:t>21</a:t>
            </a:fld>
            <a:endParaRPr lang="en-IE"/>
          </a:p>
        </p:txBody>
      </p:sp>
      <p:sp>
        <p:nvSpPr>
          <p:cNvPr id="134145"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34146"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6A000F23-0C75-45FE-ABA2-E81F3DB7B81E}" type="slidenum">
              <a:rPr lang="en-IE"/>
              <a:pPr/>
              <a:t>22</a:t>
            </a:fld>
            <a:endParaRPr lang="en-IE"/>
          </a:p>
        </p:txBody>
      </p:sp>
      <p:sp>
        <p:nvSpPr>
          <p:cNvPr id="135169"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35170"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5698056B-54FF-4ED7-BD49-EA530488D67C}" type="slidenum">
              <a:rPr lang="en-IE"/>
              <a:pPr/>
              <a:t>23</a:t>
            </a:fld>
            <a:endParaRPr lang="en-IE"/>
          </a:p>
        </p:txBody>
      </p:sp>
      <p:sp>
        <p:nvSpPr>
          <p:cNvPr id="13619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3619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D240D1BC-E73A-4081-B733-ED97C8C6DA8C}" type="slidenum">
              <a:rPr lang="en-IE"/>
              <a:pPr/>
              <a:t>24</a:t>
            </a:fld>
            <a:endParaRPr lang="en-IE"/>
          </a:p>
        </p:txBody>
      </p:sp>
      <p:sp>
        <p:nvSpPr>
          <p:cNvPr id="137217"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37218"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6AD467CA-8D4F-405F-B44E-51165A3F1906}" type="slidenum">
              <a:rPr lang="en-IE"/>
              <a:pPr/>
              <a:t>25</a:t>
            </a:fld>
            <a:endParaRPr lang="en-IE"/>
          </a:p>
        </p:txBody>
      </p:sp>
      <p:sp>
        <p:nvSpPr>
          <p:cNvPr id="138241"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38242"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89DD2564-164A-4A48-BFA7-98651FB63881}" type="slidenum">
              <a:rPr lang="en-IE"/>
              <a:pPr/>
              <a:t>26</a:t>
            </a:fld>
            <a:endParaRPr lang="en-IE"/>
          </a:p>
        </p:txBody>
      </p:sp>
      <p:sp>
        <p:nvSpPr>
          <p:cNvPr id="139265"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39266"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89DD2564-164A-4A48-BFA7-98651FB63881}" type="slidenum">
              <a:rPr lang="en-IE"/>
              <a:pPr/>
              <a:t>27</a:t>
            </a:fld>
            <a:endParaRPr lang="en-IE"/>
          </a:p>
        </p:txBody>
      </p:sp>
      <p:sp>
        <p:nvSpPr>
          <p:cNvPr id="139265"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39266"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10A4A7DB-991F-4E0A-9FCB-D5BD0C01AC92}" type="slidenum">
              <a:rPr lang="en-IE"/>
              <a:pPr/>
              <a:t>28</a:t>
            </a:fld>
            <a:endParaRPr lang="en-IE"/>
          </a:p>
        </p:txBody>
      </p:sp>
      <p:sp>
        <p:nvSpPr>
          <p:cNvPr id="155649"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5650"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AB101087-3C74-4512-836D-8EC811DAC2E7}" type="slidenum">
              <a:rPr lang="en-IE"/>
              <a:pPr/>
              <a:t>29</a:t>
            </a:fld>
            <a:endParaRPr lang="en-IE"/>
          </a:p>
        </p:txBody>
      </p:sp>
      <p:sp>
        <p:nvSpPr>
          <p:cNvPr id="15667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667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AB101087-3C74-4512-836D-8EC811DAC2E7}" type="slidenum">
              <a:rPr lang="en-IE"/>
              <a:pPr/>
              <a:t>30</a:t>
            </a:fld>
            <a:endParaRPr lang="en-IE"/>
          </a:p>
        </p:txBody>
      </p:sp>
      <p:sp>
        <p:nvSpPr>
          <p:cNvPr id="15667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667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7DBE6497-9F54-477F-ABDE-6B3EE806923B}" type="slidenum">
              <a:rPr lang="en-IE"/>
              <a:pPr/>
              <a:t>31</a:t>
            </a:fld>
            <a:endParaRPr lang="en-IE"/>
          </a:p>
        </p:txBody>
      </p:sp>
      <p:sp>
        <p:nvSpPr>
          <p:cNvPr id="140289"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40290"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2AE04E46-60D7-44D0-8D75-66BA8BEDDF7F}" type="slidenum">
              <a:rPr lang="en-IE"/>
              <a:pPr/>
              <a:t>32</a:t>
            </a:fld>
            <a:endParaRPr lang="en-IE"/>
          </a:p>
        </p:txBody>
      </p:sp>
      <p:sp>
        <p:nvSpPr>
          <p:cNvPr id="14131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4131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338F6E7E-62DB-47A5-ADE4-C41BC1B6C989}" type="slidenum">
              <a:rPr lang="en-IE"/>
              <a:pPr/>
              <a:t>33</a:t>
            </a:fld>
            <a:endParaRPr lang="en-IE"/>
          </a:p>
        </p:txBody>
      </p:sp>
      <p:sp>
        <p:nvSpPr>
          <p:cNvPr id="142337"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42338"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833E2952-F295-41D3-A31E-C1E38D838946}" type="slidenum">
              <a:rPr lang="en-IE"/>
              <a:pPr/>
              <a:t>34</a:t>
            </a:fld>
            <a:endParaRPr lang="en-IE"/>
          </a:p>
        </p:txBody>
      </p:sp>
      <p:sp>
        <p:nvSpPr>
          <p:cNvPr id="143361"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43362"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98B38406-7411-4C74-B510-B0F2DAD083EC}" type="slidenum">
              <a:rPr lang="en-IE"/>
              <a:pPr/>
              <a:t>35</a:t>
            </a:fld>
            <a:endParaRPr lang="en-IE"/>
          </a:p>
        </p:txBody>
      </p:sp>
      <p:sp>
        <p:nvSpPr>
          <p:cNvPr id="144385"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44386"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E0A388A5-D14C-4A23-B7BE-F0A80BE8EF99}" type="slidenum">
              <a:rPr lang="en-IE"/>
              <a:pPr/>
              <a:t>36</a:t>
            </a:fld>
            <a:endParaRPr lang="en-IE"/>
          </a:p>
        </p:txBody>
      </p:sp>
      <p:sp>
        <p:nvSpPr>
          <p:cNvPr id="145409"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45410"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D877EE00-D0C9-44C0-B71C-A6DF98137629}" type="slidenum">
              <a:rPr lang="en-IE"/>
              <a:pPr/>
              <a:t>37</a:t>
            </a:fld>
            <a:endParaRPr lang="en-IE"/>
          </a:p>
        </p:txBody>
      </p:sp>
      <p:sp>
        <p:nvSpPr>
          <p:cNvPr id="14643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4643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C2E5AD3F-51DB-47FA-AE4C-A19678DA4672}" type="slidenum">
              <a:rPr lang="en-IE"/>
              <a:pPr/>
              <a:t>38</a:t>
            </a:fld>
            <a:endParaRPr lang="en-IE"/>
          </a:p>
        </p:txBody>
      </p:sp>
      <p:sp>
        <p:nvSpPr>
          <p:cNvPr id="147457"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47458"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AB101087-3C74-4512-836D-8EC811DAC2E7}" type="slidenum">
              <a:rPr lang="en-IE"/>
              <a:pPr/>
              <a:t>39</a:t>
            </a:fld>
            <a:endParaRPr lang="en-IE"/>
          </a:p>
        </p:txBody>
      </p:sp>
      <p:sp>
        <p:nvSpPr>
          <p:cNvPr id="15667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667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AB101087-3C74-4512-836D-8EC811DAC2E7}" type="slidenum">
              <a:rPr lang="en-IE"/>
              <a:pPr/>
              <a:t>40</a:t>
            </a:fld>
            <a:endParaRPr lang="en-IE"/>
          </a:p>
        </p:txBody>
      </p:sp>
      <p:sp>
        <p:nvSpPr>
          <p:cNvPr id="15667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667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AB101087-3C74-4512-836D-8EC811DAC2E7}" type="slidenum">
              <a:rPr lang="en-IE"/>
              <a:pPr/>
              <a:t>41</a:t>
            </a:fld>
            <a:endParaRPr lang="en-IE"/>
          </a:p>
        </p:txBody>
      </p:sp>
      <p:sp>
        <p:nvSpPr>
          <p:cNvPr id="15667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667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AB101087-3C74-4512-836D-8EC811DAC2E7}" type="slidenum">
              <a:rPr lang="en-IE"/>
              <a:pPr/>
              <a:t>42</a:t>
            </a:fld>
            <a:endParaRPr lang="en-IE"/>
          </a:p>
        </p:txBody>
      </p:sp>
      <p:sp>
        <p:nvSpPr>
          <p:cNvPr id="15667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667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9"/>
          <p:cNvSpPr>
            <a:spLocks noGrp="1" noChangeArrowheads="1"/>
          </p:cNvSpPr>
          <p:nvPr>
            <p:ph type="sldNum"/>
          </p:nvPr>
        </p:nvSpPr>
        <p:spPr>
          <a:ln/>
        </p:spPr>
        <p:txBody>
          <a:bodyPr/>
          <a:lstStyle/>
          <a:p>
            <a:fld id="{AB101087-3C74-4512-836D-8EC811DAC2E7}" type="slidenum">
              <a:rPr lang="en-IE"/>
              <a:pPr/>
              <a:t>43</a:t>
            </a:fld>
            <a:endParaRPr lang="en-IE"/>
          </a:p>
        </p:txBody>
      </p:sp>
      <p:sp>
        <p:nvSpPr>
          <p:cNvPr id="156673" name="Rectangle 1"/>
          <p:cNvSpPr txBox="1">
            <a:spLocks noGrp="1" noRot="1" noChangeAspect="1" noChangeArrowheads="1"/>
          </p:cNvSpPr>
          <p:nvPr>
            <p:ph type="sldImg"/>
          </p:nvPr>
        </p:nvSpPr>
        <p:spPr bwMode="auto">
          <a:xfrm>
            <a:off x="1106488" y="812800"/>
            <a:ext cx="5343525" cy="4006850"/>
          </a:xfrm>
          <a:prstGeom prst="rect">
            <a:avLst/>
          </a:prstGeom>
          <a:solidFill>
            <a:srgbClr val="FFFFFF"/>
          </a:solidFill>
          <a:ln>
            <a:solidFill>
              <a:srgbClr val="000000"/>
            </a:solidFill>
            <a:miter lim="800000"/>
            <a:headEnd/>
            <a:tailEnd/>
          </a:ln>
        </p:spPr>
      </p:sp>
      <p:sp>
        <p:nvSpPr>
          <p:cNvPr id="156674" name="Rectangle 2"/>
          <p:cNvSpPr txBox="1">
            <a:spLocks noGrp="1" noChangeArrowheads="1"/>
          </p:cNvSpPr>
          <p:nvPr>
            <p:ph type="body" idx="1"/>
          </p:nvPr>
        </p:nvSpPr>
        <p:spPr bwMode="auto">
          <a:xfrm>
            <a:off x="755650" y="5078413"/>
            <a:ext cx="6045200" cy="4808537"/>
          </a:xfrm>
          <a:prstGeom prst="rect">
            <a:avLst/>
          </a:prstGeom>
          <a:noFill/>
          <a:ln>
            <a:round/>
            <a:headEnd/>
            <a:tailEnd/>
          </a:ln>
        </p:spPr>
        <p:txBody>
          <a:bodyPr wrap="none" anchor="ct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a:t>Click to edit Master title style</a:t>
            </a:r>
            <a:endParaRPr lang="en-IE"/>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E"/>
          </a:p>
        </p:txBody>
      </p:sp>
      <p:sp>
        <p:nvSpPr>
          <p:cNvPr id="4" name="Slide Number Placeholder 3"/>
          <p:cNvSpPr>
            <a:spLocks noGrp="1"/>
          </p:cNvSpPr>
          <p:nvPr>
            <p:ph type="sldNum" idx="10"/>
          </p:nvPr>
        </p:nvSpPr>
        <p:spPr/>
        <p:txBody>
          <a:bodyPr/>
          <a:lstStyle>
            <a:lvl1pPr>
              <a:defRPr/>
            </a:lvl1pPr>
          </a:lstStyle>
          <a:p>
            <a:fld id="{538004A1-8378-48E9-81A1-262A6228BA1A}" type="slidenum">
              <a:rPr lang="en-IE"/>
              <a:pPr/>
              <a:t>‹#›</a:t>
            </a:fld>
            <a:endParaRPr lang="en-I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Slide Number Placeholder 3"/>
          <p:cNvSpPr>
            <a:spLocks noGrp="1"/>
          </p:cNvSpPr>
          <p:nvPr>
            <p:ph type="sldNum" idx="10"/>
          </p:nvPr>
        </p:nvSpPr>
        <p:spPr/>
        <p:txBody>
          <a:bodyPr/>
          <a:lstStyle>
            <a:lvl1pPr>
              <a:defRPr/>
            </a:lvl1pPr>
          </a:lstStyle>
          <a:p>
            <a:fld id="{414F4C63-A446-4846-8755-D7BA286726A2}" type="slidenum">
              <a:rPr lang="en-IE"/>
              <a:pPr/>
              <a:t>‹#›</a:t>
            </a:fld>
            <a:endParaRPr lang="en-I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idx="10"/>
          </p:nvPr>
        </p:nvSpPr>
        <p:spPr/>
        <p:txBody>
          <a:bodyPr/>
          <a:lstStyle>
            <a:lvl1pPr>
              <a:defRPr/>
            </a:lvl1pPr>
          </a:lstStyle>
          <a:p>
            <a:fld id="{C7BE2B8D-F482-4461-AAB4-0C31B58CB093}" type="slidenum">
              <a:rPr lang="en-IE"/>
              <a:pPr/>
              <a:t>‹#›</a:t>
            </a:fld>
            <a:endParaRPr lang="en-I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503238" y="1768475"/>
            <a:ext cx="4457700" cy="4984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5113338" y="1768475"/>
            <a:ext cx="4457700" cy="4984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Slide Number Placeholder 4"/>
          <p:cNvSpPr>
            <a:spLocks noGrp="1"/>
          </p:cNvSpPr>
          <p:nvPr>
            <p:ph type="sldNum" idx="10"/>
          </p:nvPr>
        </p:nvSpPr>
        <p:spPr/>
        <p:txBody>
          <a:bodyPr/>
          <a:lstStyle>
            <a:lvl1pPr>
              <a:defRPr/>
            </a:lvl1pPr>
          </a:lstStyle>
          <a:p>
            <a:fld id="{D5AAFA2B-6629-436B-8C2B-F2E4074EC49A}" type="slidenum">
              <a:rPr lang="en-IE"/>
              <a:pPr/>
              <a:t>‹#›</a:t>
            </a:fld>
            <a:endParaRPr lang="en-I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Slide Number Placeholder 6"/>
          <p:cNvSpPr>
            <a:spLocks noGrp="1"/>
          </p:cNvSpPr>
          <p:nvPr>
            <p:ph type="sldNum" idx="10"/>
          </p:nvPr>
        </p:nvSpPr>
        <p:spPr/>
        <p:txBody>
          <a:bodyPr/>
          <a:lstStyle>
            <a:lvl1pPr>
              <a:defRPr/>
            </a:lvl1pPr>
          </a:lstStyle>
          <a:p>
            <a:fld id="{6DF3585A-2036-4B9E-8CE6-88B43049A860}" type="slidenum">
              <a:rPr lang="en-IE"/>
              <a:pPr/>
              <a:t>‹#›</a:t>
            </a:fld>
            <a:endParaRPr lang="en-I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Slide Number Placeholder 2"/>
          <p:cNvSpPr>
            <a:spLocks noGrp="1"/>
          </p:cNvSpPr>
          <p:nvPr>
            <p:ph type="sldNum" idx="10"/>
          </p:nvPr>
        </p:nvSpPr>
        <p:spPr/>
        <p:txBody>
          <a:bodyPr/>
          <a:lstStyle>
            <a:lvl1pPr>
              <a:defRPr/>
            </a:lvl1pPr>
          </a:lstStyle>
          <a:p>
            <a:fld id="{99753F89-9221-49DA-B354-6130E21FBE8B}" type="slidenum">
              <a:rPr lang="en-IE"/>
              <a:pPr/>
              <a:t>‹#›</a:t>
            </a:fld>
            <a:endParaRPr lang="en-I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lstStyle>
            <a:lvl1pPr>
              <a:defRPr/>
            </a:lvl1pPr>
          </a:lstStyle>
          <a:p>
            <a:fld id="{FE851EA8-346B-4082-9734-32D7F48A3BF1}" type="slidenum">
              <a:rPr lang="en-IE"/>
              <a:pPr/>
              <a:t>‹#›</a:t>
            </a:fld>
            <a:endParaRPr lang="en-I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idx="10"/>
          </p:nvPr>
        </p:nvSpPr>
        <p:spPr/>
        <p:txBody>
          <a:bodyPr/>
          <a:lstStyle>
            <a:lvl1pPr>
              <a:defRPr/>
            </a:lvl1pPr>
          </a:lstStyle>
          <a:p>
            <a:fld id="{3E29AA4A-316F-42A7-8A57-9107B8E633BE}" type="slidenum">
              <a:rPr lang="en-IE"/>
              <a:pPr/>
              <a:t>‹#›</a:t>
            </a:fld>
            <a:endParaRPr lang="en-I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idx="10"/>
          </p:nvPr>
        </p:nvSpPr>
        <p:spPr/>
        <p:txBody>
          <a:bodyPr/>
          <a:lstStyle>
            <a:lvl1pPr>
              <a:defRPr/>
            </a:lvl1pPr>
          </a:lstStyle>
          <a:p>
            <a:fld id="{86A36874-2429-4805-895C-F1BE810CEAC1}" type="slidenum">
              <a:rPr lang="en-IE"/>
              <a:pPr/>
              <a:t>‹#›</a:t>
            </a:fld>
            <a:endParaRPr lang="en-I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Slide Number Placeholder 3"/>
          <p:cNvSpPr>
            <a:spLocks noGrp="1"/>
          </p:cNvSpPr>
          <p:nvPr>
            <p:ph type="sldNum" idx="10"/>
          </p:nvPr>
        </p:nvSpPr>
        <p:spPr/>
        <p:txBody>
          <a:bodyPr/>
          <a:lstStyle>
            <a:lvl1pPr>
              <a:defRPr/>
            </a:lvl1pPr>
          </a:lstStyle>
          <a:p>
            <a:fld id="{9906DFE0-C0D7-44A5-8113-99095BD76BC3}" type="slidenum">
              <a:rPr lang="en-IE"/>
              <a:pPr/>
              <a:t>‹#›</a:t>
            </a:fld>
            <a:endParaRPr lang="en-I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4088" y="301625"/>
            <a:ext cx="2266950" cy="6451600"/>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503238" y="301625"/>
            <a:ext cx="6648450" cy="6451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Slide Number Placeholder 3"/>
          <p:cNvSpPr>
            <a:spLocks noGrp="1"/>
          </p:cNvSpPr>
          <p:nvPr>
            <p:ph type="sldNum" idx="10"/>
          </p:nvPr>
        </p:nvSpPr>
        <p:spPr/>
        <p:txBody>
          <a:bodyPr/>
          <a:lstStyle>
            <a:lvl1pPr>
              <a:defRPr/>
            </a:lvl1pPr>
          </a:lstStyle>
          <a:p>
            <a:fld id="{DD82035A-0C4C-49AB-B6BA-D0537D9D192E}" type="slidenum">
              <a:rPr lang="en-IE"/>
              <a:pPr/>
              <a:t>‹#›</a:t>
            </a:fld>
            <a:endParaRPr lang="en-I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5" name="Picture 1"/>
          <p:cNvPicPr>
            <a:picLocks noChangeAspect="1" noChangeArrowheads="1"/>
          </p:cNvPicPr>
          <p:nvPr/>
        </p:nvPicPr>
        <p:blipFill>
          <a:blip r:embed="rId13" cstate="print">
            <a:lum bright="70000" contrast="-70000"/>
          </a:blip>
          <a:srcRect/>
          <a:stretch>
            <a:fillRect/>
          </a:stretch>
        </p:blipFill>
        <p:spPr bwMode="auto">
          <a:xfrm>
            <a:off x="0" y="-3175"/>
            <a:ext cx="9907588" cy="7562850"/>
          </a:xfrm>
          <a:prstGeom prst="rect">
            <a:avLst/>
          </a:prstGeom>
          <a:noFill/>
          <a:ln w="9525">
            <a:noFill/>
            <a:round/>
            <a:headEnd/>
            <a:tailEnd/>
          </a:ln>
          <a:effectLst/>
        </p:spPr>
      </p:pic>
      <p:sp>
        <p:nvSpPr>
          <p:cNvPr id="1026" name="Rectangle 2"/>
          <p:cNvSpPr>
            <a:spLocks noGrp="1" noChangeArrowheads="1"/>
          </p:cNvSpPr>
          <p:nvPr>
            <p:ph type="title"/>
          </p:nvPr>
        </p:nvSpPr>
        <p:spPr bwMode="auto">
          <a:xfrm>
            <a:off x="503238" y="301625"/>
            <a:ext cx="9067800" cy="1257300"/>
          </a:xfrm>
          <a:prstGeom prst="rect">
            <a:avLst/>
          </a:prstGeom>
          <a:noFill/>
          <a:ln w="9525">
            <a:noFill/>
            <a:round/>
            <a:headEnd/>
            <a:tailEnd/>
          </a:ln>
          <a:effectLst/>
        </p:spPr>
        <p:txBody>
          <a:bodyPr vert="horz" wrap="square" lIns="0" tIns="0" rIns="0" bIns="0" numCol="1" anchor="ctr" anchorCtr="0" compatLnSpc="1">
            <a:prstTxWarp prst="textNoShape">
              <a:avLst/>
            </a:prstTxWarp>
          </a:bodyPr>
          <a:lstStyle/>
          <a:p>
            <a:pPr lvl="0"/>
            <a:r>
              <a:rPr lang="en-GB"/>
              <a:t>Click to edit the title text format</a:t>
            </a:r>
          </a:p>
        </p:txBody>
      </p:sp>
      <p:sp>
        <p:nvSpPr>
          <p:cNvPr id="1027" name="Rectangle 3"/>
          <p:cNvSpPr>
            <a:spLocks noGrp="1" noChangeArrowheads="1"/>
          </p:cNvSpPr>
          <p:nvPr>
            <p:ph type="body" idx="1"/>
          </p:nvPr>
        </p:nvSpPr>
        <p:spPr bwMode="auto">
          <a:xfrm>
            <a:off x="503238" y="1768475"/>
            <a:ext cx="9067800" cy="4984750"/>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p>
            <a:pPr lvl="0"/>
            <a:r>
              <a:rPr lang="en-GB"/>
              <a:t>Click to edit the outline text format</a:t>
            </a:r>
          </a:p>
          <a:p>
            <a:pPr lvl="1"/>
            <a:r>
              <a:rPr lang="en-GB"/>
              <a:t>Second Outline Level</a:t>
            </a:r>
          </a:p>
          <a:p>
            <a:pPr lvl="2"/>
            <a:r>
              <a:rPr lang="en-GB"/>
              <a:t>Third Outline Level</a:t>
            </a:r>
          </a:p>
          <a:p>
            <a:pPr lvl="3"/>
            <a:r>
              <a:rPr lang="en-GB"/>
              <a:t>Fourth Outline Level</a:t>
            </a:r>
          </a:p>
          <a:p>
            <a:pPr lvl="4"/>
            <a:r>
              <a:rPr lang="en-GB"/>
              <a:t>Fifth Outline Level</a:t>
            </a:r>
          </a:p>
          <a:p>
            <a:pPr lvl="4"/>
            <a:r>
              <a:rPr lang="en-GB"/>
              <a:t>Sixth Outline Level</a:t>
            </a:r>
          </a:p>
          <a:p>
            <a:pPr lvl="4"/>
            <a:r>
              <a:rPr lang="en-GB"/>
              <a:t>Seventh Outline Level</a:t>
            </a:r>
          </a:p>
          <a:p>
            <a:pPr lvl="4"/>
            <a:r>
              <a:rPr lang="en-GB"/>
              <a:t>Eighth Outline Level</a:t>
            </a:r>
          </a:p>
          <a:p>
            <a:pPr lvl="4"/>
            <a:r>
              <a:rPr lang="en-GB"/>
              <a:t>Ninth Outline Level</a:t>
            </a:r>
          </a:p>
        </p:txBody>
      </p:sp>
      <p:sp>
        <p:nvSpPr>
          <p:cNvPr id="1028" name="Text Box 4"/>
          <p:cNvSpPr txBox="1">
            <a:spLocks noChangeArrowheads="1"/>
          </p:cNvSpPr>
          <p:nvPr/>
        </p:nvSpPr>
        <p:spPr bwMode="auto">
          <a:xfrm>
            <a:off x="503238" y="6886575"/>
            <a:ext cx="2349500" cy="522288"/>
          </a:xfrm>
          <a:prstGeom prst="rect">
            <a:avLst/>
          </a:prstGeom>
          <a:noFill/>
          <a:ln w="9525">
            <a:noFill/>
            <a:round/>
            <a:headEnd/>
            <a:tailEnd/>
          </a:ln>
          <a:effectLst/>
        </p:spPr>
        <p:txBody>
          <a:bodyPr wrap="none" anchor="ctr"/>
          <a:lstStyle/>
          <a:p>
            <a:endParaRPr lang="en-IE"/>
          </a:p>
        </p:txBody>
      </p:sp>
      <p:sp>
        <p:nvSpPr>
          <p:cNvPr id="1029" name="Text Box 5"/>
          <p:cNvSpPr txBox="1">
            <a:spLocks noChangeArrowheads="1"/>
          </p:cNvSpPr>
          <p:nvPr/>
        </p:nvSpPr>
        <p:spPr bwMode="auto">
          <a:xfrm>
            <a:off x="3448050" y="6886575"/>
            <a:ext cx="3194050" cy="522288"/>
          </a:xfrm>
          <a:prstGeom prst="rect">
            <a:avLst/>
          </a:prstGeom>
          <a:noFill/>
          <a:ln w="9525">
            <a:noFill/>
            <a:round/>
            <a:headEnd/>
            <a:tailEnd/>
          </a:ln>
          <a:effectLst/>
        </p:spPr>
        <p:txBody>
          <a:bodyPr wrap="none" anchor="ctr"/>
          <a:lstStyle/>
          <a:p>
            <a:endParaRPr lang="en-IE"/>
          </a:p>
        </p:txBody>
      </p:sp>
      <p:sp>
        <p:nvSpPr>
          <p:cNvPr id="1030" name="Rectangle 6"/>
          <p:cNvSpPr>
            <a:spLocks noGrp="1" noChangeArrowheads="1"/>
          </p:cNvSpPr>
          <p:nvPr>
            <p:ph type="sldNum"/>
          </p:nvPr>
        </p:nvSpPr>
        <p:spPr bwMode="auto">
          <a:xfrm>
            <a:off x="7226300" y="6886575"/>
            <a:ext cx="2344738" cy="51752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rgbClr val="FFFFFF"/>
                </a:solidFill>
              </a:defRPr>
            </a:lvl1pPr>
          </a:lstStyle>
          <a:p>
            <a:fld id="{BDC2CEBF-35A5-48D4-A4E8-F2A2D3165CC3}" type="slidenum">
              <a:rPr lang="en-IE"/>
              <a:pPr/>
              <a:t>‹#›</a:t>
            </a:fld>
            <a:endParaRPr lang="en-IE"/>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ctr" defTabSz="449263" rtl="0" eaLnBrk="0" fontAlgn="base" hangingPunct="0">
        <a:spcBef>
          <a:spcPct val="0"/>
        </a:spcBef>
        <a:spcAft>
          <a:spcPct val="0"/>
        </a:spcAft>
        <a:buClr>
          <a:srgbClr val="000000"/>
        </a:buClr>
        <a:buSzPct val="100000"/>
        <a:buFont typeface="Times New Roman" pitchFamily="18" charset="0"/>
        <a:defRPr sz="4400">
          <a:solidFill>
            <a:srgbClr val="1F497D"/>
          </a:solidFill>
          <a:latin typeface="+mj-lt"/>
          <a:ea typeface="+mj-ea"/>
          <a:cs typeface="+mj-cs"/>
        </a:defRPr>
      </a:lvl1pPr>
      <a:lvl2pPr marL="742950" indent="-285750" algn="ctr" defTabSz="449263" rtl="0" eaLnBrk="0" fontAlgn="base" hangingPunct="0">
        <a:spcBef>
          <a:spcPct val="0"/>
        </a:spcBef>
        <a:spcAft>
          <a:spcPct val="0"/>
        </a:spcAft>
        <a:buClr>
          <a:srgbClr val="000000"/>
        </a:buClr>
        <a:buSzPct val="100000"/>
        <a:buFont typeface="Times New Roman" pitchFamily="18" charset="0"/>
        <a:defRPr sz="4400">
          <a:solidFill>
            <a:srgbClr val="1F497D"/>
          </a:solidFill>
          <a:latin typeface="Arial" pitchFamily="34" charset="0"/>
          <a:ea typeface="DejaVu Sans"/>
          <a:cs typeface="DejaVu Sans"/>
        </a:defRPr>
      </a:lvl2pPr>
      <a:lvl3pPr marL="1143000" indent="-228600" algn="ctr" defTabSz="449263" rtl="0" eaLnBrk="0" fontAlgn="base" hangingPunct="0">
        <a:spcBef>
          <a:spcPct val="0"/>
        </a:spcBef>
        <a:spcAft>
          <a:spcPct val="0"/>
        </a:spcAft>
        <a:buClr>
          <a:srgbClr val="000000"/>
        </a:buClr>
        <a:buSzPct val="100000"/>
        <a:buFont typeface="Times New Roman" pitchFamily="18" charset="0"/>
        <a:defRPr sz="4400">
          <a:solidFill>
            <a:srgbClr val="1F497D"/>
          </a:solidFill>
          <a:latin typeface="Arial" pitchFamily="34" charset="0"/>
          <a:ea typeface="DejaVu Sans"/>
          <a:cs typeface="DejaVu Sans"/>
        </a:defRPr>
      </a:lvl3pPr>
      <a:lvl4pPr marL="1600200" indent="-228600" algn="ctr" defTabSz="449263" rtl="0" eaLnBrk="0" fontAlgn="base" hangingPunct="0">
        <a:spcBef>
          <a:spcPct val="0"/>
        </a:spcBef>
        <a:spcAft>
          <a:spcPct val="0"/>
        </a:spcAft>
        <a:buClr>
          <a:srgbClr val="000000"/>
        </a:buClr>
        <a:buSzPct val="100000"/>
        <a:buFont typeface="Times New Roman" pitchFamily="18" charset="0"/>
        <a:defRPr sz="4400">
          <a:solidFill>
            <a:srgbClr val="1F497D"/>
          </a:solidFill>
          <a:latin typeface="Arial" pitchFamily="34" charset="0"/>
          <a:ea typeface="DejaVu Sans"/>
          <a:cs typeface="DejaVu Sans"/>
        </a:defRPr>
      </a:lvl4pPr>
      <a:lvl5pPr marL="2057400" indent="-228600" algn="ctr" defTabSz="449263" rtl="0" eaLnBrk="0" fontAlgn="base" hangingPunct="0">
        <a:spcBef>
          <a:spcPct val="0"/>
        </a:spcBef>
        <a:spcAft>
          <a:spcPct val="0"/>
        </a:spcAft>
        <a:buClr>
          <a:srgbClr val="000000"/>
        </a:buClr>
        <a:buSzPct val="100000"/>
        <a:buFont typeface="Times New Roman" pitchFamily="18" charset="0"/>
        <a:defRPr sz="4400">
          <a:solidFill>
            <a:srgbClr val="1F497D"/>
          </a:solidFill>
          <a:latin typeface="Arial" pitchFamily="34" charset="0"/>
          <a:ea typeface="DejaVu Sans"/>
          <a:cs typeface="DejaVu Sans"/>
        </a:defRPr>
      </a:lvl5pPr>
      <a:lvl6pPr marL="2514600" indent="-228600" algn="ctr" defTabSz="449263" rtl="0" eaLnBrk="0" fontAlgn="base" hangingPunct="0">
        <a:spcBef>
          <a:spcPct val="0"/>
        </a:spcBef>
        <a:spcAft>
          <a:spcPct val="0"/>
        </a:spcAft>
        <a:buClr>
          <a:srgbClr val="000000"/>
        </a:buClr>
        <a:buSzPct val="100000"/>
        <a:buFont typeface="Times New Roman" pitchFamily="18" charset="0"/>
        <a:defRPr sz="4400">
          <a:solidFill>
            <a:srgbClr val="1F497D"/>
          </a:solidFill>
          <a:latin typeface="Arial" pitchFamily="34" charset="0"/>
          <a:ea typeface="DejaVu Sans"/>
          <a:cs typeface="DejaVu Sans"/>
        </a:defRPr>
      </a:lvl6pPr>
      <a:lvl7pPr marL="2971800" indent="-228600" algn="ctr" defTabSz="449263" rtl="0" eaLnBrk="0" fontAlgn="base" hangingPunct="0">
        <a:spcBef>
          <a:spcPct val="0"/>
        </a:spcBef>
        <a:spcAft>
          <a:spcPct val="0"/>
        </a:spcAft>
        <a:buClr>
          <a:srgbClr val="000000"/>
        </a:buClr>
        <a:buSzPct val="100000"/>
        <a:buFont typeface="Times New Roman" pitchFamily="18" charset="0"/>
        <a:defRPr sz="4400">
          <a:solidFill>
            <a:srgbClr val="1F497D"/>
          </a:solidFill>
          <a:latin typeface="Arial" pitchFamily="34" charset="0"/>
          <a:ea typeface="DejaVu Sans"/>
          <a:cs typeface="DejaVu Sans"/>
        </a:defRPr>
      </a:lvl7pPr>
      <a:lvl8pPr marL="3429000" indent="-228600" algn="ctr" defTabSz="449263" rtl="0" eaLnBrk="0" fontAlgn="base" hangingPunct="0">
        <a:spcBef>
          <a:spcPct val="0"/>
        </a:spcBef>
        <a:spcAft>
          <a:spcPct val="0"/>
        </a:spcAft>
        <a:buClr>
          <a:srgbClr val="000000"/>
        </a:buClr>
        <a:buSzPct val="100000"/>
        <a:buFont typeface="Times New Roman" pitchFamily="18" charset="0"/>
        <a:defRPr sz="4400">
          <a:solidFill>
            <a:srgbClr val="1F497D"/>
          </a:solidFill>
          <a:latin typeface="Arial" pitchFamily="34" charset="0"/>
          <a:ea typeface="DejaVu Sans"/>
          <a:cs typeface="DejaVu Sans"/>
        </a:defRPr>
      </a:lvl8pPr>
      <a:lvl9pPr marL="3886200" indent="-228600" algn="ctr" defTabSz="449263" rtl="0" eaLnBrk="0" fontAlgn="base" hangingPunct="0">
        <a:spcBef>
          <a:spcPct val="0"/>
        </a:spcBef>
        <a:spcAft>
          <a:spcPct val="0"/>
        </a:spcAft>
        <a:buClr>
          <a:srgbClr val="000000"/>
        </a:buClr>
        <a:buSzPct val="100000"/>
        <a:buFont typeface="Times New Roman" pitchFamily="18" charset="0"/>
        <a:defRPr sz="4400">
          <a:solidFill>
            <a:srgbClr val="1F497D"/>
          </a:solidFill>
          <a:latin typeface="Arial" pitchFamily="34" charset="0"/>
          <a:ea typeface="DejaVu Sans"/>
          <a:cs typeface="DejaVu Sans"/>
        </a:defRPr>
      </a:lvl9pPr>
    </p:titleStyle>
    <p:bodyStyle>
      <a:lvl1pPr marL="342900" indent="-342900" algn="l" defTabSz="449263" rtl="0" eaLnBrk="0" fontAlgn="base" hangingPunct="0">
        <a:spcBef>
          <a:spcPct val="0"/>
        </a:spcBef>
        <a:spcAft>
          <a:spcPts val="1413"/>
        </a:spcAft>
        <a:buClr>
          <a:srgbClr val="000000"/>
        </a:buClr>
        <a:buSzPct val="100000"/>
        <a:buFont typeface="Times New Roman" pitchFamily="18" charset="0"/>
        <a:defRPr sz="3200">
          <a:solidFill>
            <a:srgbClr val="000000"/>
          </a:solidFill>
          <a:latin typeface="+mn-lt"/>
          <a:ea typeface="+mn-ea"/>
          <a:cs typeface="+mn-cs"/>
        </a:defRPr>
      </a:lvl1pPr>
      <a:lvl2pPr marL="742950" indent="-285750" algn="l" defTabSz="449263" rtl="0" eaLnBrk="0" fontAlgn="base" hangingPunct="0">
        <a:spcBef>
          <a:spcPts val="700"/>
        </a:spcBef>
        <a:spcAft>
          <a:spcPct val="0"/>
        </a:spcAft>
        <a:buClr>
          <a:srgbClr val="000000"/>
        </a:buClr>
        <a:buSzPct val="100000"/>
        <a:buFont typeface="Times New Roman" pitchFamily="18" charset="0"/>
        <a:defRPr sz="2800">
          <a:solidFill>
            <a:srgbClr val="000000"/>
          </a:solidFill>
          <a:latin typeface="+mn-lt"/>
          <a:ea typeface="+mn-ea"/>
          <a:cs typeface="+mn-cs"/>
        </a:defRPr>
      </a:lvl2pPr>
      <a:lvl3pPr marL="1143000" indent="-228600" algn="l" defTabSz="449263" rtl="0" eaLnBrk="0" fontAlgn="base" hangingPunct="0">
        <a:spcBef>
          <a:spcPts val="600"/>
        </a:spcBef>
        <a:spcAft>
          <a:spcPct val="0"/>
        </a:spcAft>
        <a:buClr>
          <a:srgbClr val="000000"/>
        </a:buClr>
        <a:buSzPct val="100000"/>
        <a:buFont typeface="Times New Roman" pitchFamily="18" charset="0"/>
        <a:defRPr sz="2400">
          <a:solidFill>
            <a:srgbClr val="000000"/>
          </a:solidFill>
          <a:latin typeface="+mn-lt"/>
          <a:ea typeface="+mn-ea"/>
          <a:cs typeface="+mn-cs"/>
        </a:defRPr>
      </a:lvl3pPr>
      <a:lvl4pPr marL="1600200" indent="-228600" algn="l" defTabSz="449263" rtl="0" eaLnBrk="0" fontAlgn="base" hangingPunct="0">
        <a:spcBef>
          <a:spcPts val="500"/>
        </a:spcBef>
        <a:spcAft>
          <a:spcPct val="0"/>
        </a:spcAft>
        <a:buClr>
          <a:srgbClr val="000000"/>
        </a:buClr>
        <a:buSzPct val="100000"/>
        <a:buFont typeface="Times New Roman" pitchFamily="18" charset="0"/>
        <a:defRPr sz="2000">
          <a:solidFill>
            <a:srgbClr val="000000"/>
          </a:solidFill>
          <a:latin typeface="+mn-lt"/>
          <a:ea typeface="+mn-ea"/>
          <a:cs typeface="+mn-cs"/>
        </a:defRPr>
      </a:lvl4pPr>
      <a:lvl5pPr marL="2057400" indent="-228600" algn="l" defTabSz="449263" rtl="0" eaLnBrk="0" fontAlgn="base" hangingPunct="0">
        <a:spcBef>
          <a:spcPts val="500"/>
        </a:spcBef>
        <a:spcAft>
          <a:spcPct val="0"/>
        </a:spcAft>
        <a:buClr>
          <a:srgbClr val="000000"/>
        </a:buClr>
        <a:buSzPct val="100000"/>
        <a:buFont typeface="Times New Roman" pitchFamily="18" charset="0"/>
        <a:defRPr sz="2000">
          <a:solidFill>
            <a:srgbClr val="000000"/>
          </a:solidFill>
          <a:latin typeface="+mn-lt"/>
          <a:ea typeface="+mn-ea"/>
          <a:cs typeface="+mn-cs"/>
        </a:defRPr>
      </a:lvl5pPr>
      <a:lvl6pPr marL="2514600" indent="-228600" algn="l" defTabSz="449263" rtl="0" eaLnBrk="0" fontAlgn="base" hangingPunct="0">
        <a:spcBef>
          <a:spcPts val="500"/>
        </a:spcBef>
        <a:spcAft>
          <a:spcPct val="0"/>
        </a:spcAft>
        <a:buClr>
          <a:srgbClr val="000000"/>
        </a:buClr>
        <a:buSzPct val="100000"/>
        <a:buFont typeface="Times New Roman" pitchFamily="18" charset="0"/>
        <a:defRPr sz="2000">
          <a:solidFill>
            <a:srgbClr val="000000"/>
          </a:solidFill>
          <a:latin typeface="+mn-lt"/>
          <a:ea typeface="+mn-ea"/>
          <a:cs typeface="+mn-cs"/>
        </a:defRPr>
      </a:lvl6pPr>
      <a:lvl7pPr marL="2971800" indent="-228600" algn="l" defTabSz="449263" rtl="0" eaLnBrk="0" fontAlgn="base" hangingPunct="0">
        <a:spcBef>
          <a:spcPts val="500"/>
        </a:spcBef>
        <a:spcAft>
          <a:spcPct val="0"/>
        </a:spcAft>
        <a:buClr>
          <a:srgbClr val="000000"/>
        </a:buClr>
        <a:buSzPct val="100000"/>
        <a:buFont typeface="Times New Roman" pitchFamily="18" charset="0"/>
        <a:defRPr sz="2000">
          <a:solidFill>
            <a:srgbClr val="000000"/>
          </a:solidFill>
          <a:latin typeface="+mn-lt"/>
          <a:ea typeface="+mn-ea"/>
          <a:cs typeface="+mn-cs"/>
        </a:defRPr>
      </a:lvl7pPr>
      <a:lvl8pPr marL="3429000" indent="-228600" algn="l" defTabSz="449263" rtl="0" eaLnBrk="0" fontAlgn="base" hangingPunct="0">
        <a:spcBef>
          <a:spcPts val="500"/>
        </a:spcBef>
        <a:spcAft>
          <a:spcPct val="0"/>
        </a:spcAft>
        <a:buClr>
          <a:srgbClr val="000000"/>
        </a:buClr>
        <a:buSzPct val="100000"/>
        <a:buFont typeface="Times New Roman" pitchFamily="18" charset="0"/>
        <a:defRPr sz="2000">
          <a:solidFill>
            <a:srgbClr val="000000"/>
          </a:solidFill>
          <a:latin typeface="+mn-lt"/>
          <a:ea typeface="+mn-ea"/>
          <a:cs typeface="+mn-cs"/>
        </a:defRPr>
      </a:lvl8pPr>
      <a:lvl9pPr marL="3886200" indent="-228600" algn="l" defTabSz="449263" rtl="0" eaLnBrk="0" fontAlgn="base" hangingPunct="0">
        <a:spcBef>
          <a:spcPts val="500"/>
        </a:spcBef>
        <a:spcAft>
          <a:spcPct val="0"/>
        </a:spcAft>
        <a:buClr>
          <a:srgbClr val="000000"/>
        </a:buClr>
        <a:buSzPct val="100000"/>
        <a:buFont typeface="Times New Roman" pitchFamily="18" charset="0"/>
        <a:defRPr sz="2000">
          <a:solidFill>
            <a:srgbClr val="000000"/>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10.wmf"/><Relationship Id="rId4" Type="http://schemas.openxmlformats.org/officeDocument/2006/relationships/oleObject" Target="../embeddings/oleObject3.bin"/></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13.w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Text Box 1"/>
          <p:cNvSpPr txBox="1">
            <a:spLocks noChangeArrowheads="1"/>
          </p:cNvSpPr>
          <p:nvPr/>
        </p:nvSpPr>
        <p:spPr bwMode="auto">
          <a:xfrm>
            <a:off x="503238" y="346075"/>
            <a:ext cx="9072562" cy="11731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dirty="0">
                <a:solidFill>
                  <a:srgbClr val="000000"/>
                </a:solidFill>
              </a:rPr>
              <a:t>Circular Motion</a:t>
            </a:r>
          </a:p>
        </p:txBody>
      </p:sp>
      <p:sp>
        <p:nvSpPr>
          <p:cNvPr id="4098" name="Text Box 2"/>
          <p:cNvSpPr txBox="1">
            <a:spLocks noChangeArrowheads="1"/>
          </p:cNvSpPr>
          <p:nvPr/>
        </p:nvSpPr>
        <p:spPr bwMode="auto">
          <a:xfrm>
            <a:off x="2339975" y="1941513"/>
            <a:ext cx="5075238" cy="3817937"/>
          </a:xfrm>
          <a:prstGeom prst="rect">
            <a:avLst/>
          </a:prstGeom>
          <a:noFill/>
          <a:ln w="9525">
            <a:noFill/>
            <a:round/>
            <a:headEnd/>
            <a:tailEnd/>
          </a:ln>
          <a:effectLst/>
        </p:spPr>
        <p:txBody>
          <a:bodyPr lIns="0" tIns="0" rIns="0" bIns="0"/>
          <a:lstStyle/>
          <a:p>
            <a:pPr marL="423863" indent="-319088">
              <a:spcAft>
                <a:spcPts val="1413"/>
              </a:spcAft>
              <a:buFont typeface="Wingdings" pitchFamily="2" charset="2"/>
              <a:buChar char=""/>
              <a:tabLst>
                <a:tab pos="423863"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 pos="9407525" algn="l"/>
              </a:tabLst>
            </a:pPr>
            <a:r>
              <a:rPr lang="en-IE" sz="3200" dirty="0">
                <a:solidFill>
                  <a:srgbClr val="000000"/>
                </a:solidFill>
              </a:rPr>
              <a:t>Rotational kinetics</a:t>
            </a:r>
          </a:p>
          <a:p>
            <a:pPr marL="423863" indent="-319088">
              <a:spcAft>
                <a:spcPts val="1413"/>
              </a:spcAft>
              <a:buFont typeface="Wingdings" pitchFamily="2" charset="2"/>
              <a:buChar char=""/>
              <a:tabLst>
                <a:tab pos="423863"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 pos="9407525" algn="l"/>
              </a:tabLst>
            </a:pPr>
            <a:r>
              <a:rPr lang="en-IE" sz="3200" dirty="0">
                <a:solidFill>
                  <a:srgbClr val="000000"/>
                </a:solidFill>
              </a:rPr>
              <a:t>Angular Momentum</a:t>
            </a:r>
          </a:p>
          <a:p>
            <a:pPr marL="423863" indent="-319088">
              <a:spcAft>
                <a:spcPts val="1413"/>
              </a:spcAft>
              <a:buFont typeface="Wingdings" pitchFamily="2" charset="2"/>
              <a:buChar char=""/>
              <a:tabLst>
                <a:tab pos="423863"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 pos="9407525" algn="l"/>
              </a:tabLst>
            </a:pPr>
            <a:r>
              <a:rPr lang="en-IE" sz="3200" dirty="0">
                <a:solidFill>
                  <a:srgbClr val="000000"/>
                </a:solidFill>
              </a:rPr>
              <a:t>Circular Forces - Torques</a:t>
            </a:r>
          </a:p>
          <a:p>
            <a:pPr marL="423863" indent="-319088">
              <a:spcAft>
                <a:spcPts val="1413"/>
              </a:spcAft>
              <a:buFont typeface="Wingdings" pitchFamily="2" charset="2"/>
              <a:buChar char=""/>
              <a:tabLst>
                <a:tab pos="423863" algn="l"/>
                <a:tab pos="871538" algn="l"/>
                <a:tab pos="1320800" algn="l"/>
                <a:tab pos="1770063" algn="l"/>
                <a:tab pos="2219325" algn="l"/>
                <a:tab pos="2668588" algn="l"/>
                <a:tab pos="3117850" algn="l"/>
                <a:tab pos="3567113" algn="l"/>
                <a:tab pos="4016375" algn="l"/>
                <a:tab pos="4465638" algn="l"/>
                <a:tab pos="4914900" algn="l"/>
                <a:tab pos="5364163" algn="l"/>
                <a:tab pos="5813425" algn="l"/>
                <a:tab pos="6262688" algn="l"/>
                <a:tab pos="6711950" algn="l"/>
                <a:tab pos="7161213" algn="l"/>
                <a:tab pos="7610475" algn="l"/>
                <a:tab pos="8059738" algn="l"/>
                <a:tab pos="8509000" algn="l"/>
                <a:tab pos="8958263" algn="l"/>
                <a:tab pos="9407525" algn="l"/>
              </a:tabLst>
            </a:pPr>
            <a:r>
              <a:rPr lang="en-IE" sz="3200" dirty="0">
                <a:solidFill>
                  <a:srgbClr val="000000"/>
                </a:solidFill>
              </a:rPr>
              <a:t>Work energy power in Circular Motion</a:t>
            </a:r>
          </a:p>
        </p:txBody>
      </p:sp>
      <p:sp>
        <p:nvSpPr>
          <p:cNvPr id="4099" name="Text Box 3"/>
          <p:cNvSpPr txBox="1">
            <a:spLocks noChangeArrowheads="1"/>
          </p:cNvSpPr>
          <p:nvPr/>
        </p:nvSpPr>
        <p:spPr bwMode="auto">
          <a:xfrm>
            <a:off x="7226300" y="6886575"/>
            <a:ext cx="2349500" cy="522288"/>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7209945-2DE5-414F-8465-9F727DE503A3}"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a:t>
            </a:fld>
            <a:endParaRPr lang="en-IE" sz="1400">
              <a:solidFill>
                <a:srgbClr val="000000"/>
              </a:solidFill>
              <a:latin typeface="Times New Roman" pitchFamily="18" charset="0"/>
            </a:endParaRPr>
          </a:p>
        </p:txBody>
      </p:sp>
      <p:sp>
        <p:nvSpPr>
          <p:cNvPr id="4100" name="Text Box 4"/>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6F4A79C-F9C4-40BF-82D5-AF7B7903C680}"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a:t>
            </a:fld>
            <a:endParaRPr lang="en-IE" sz="1400">
              <a:solidFill>
                <a:srgbClr val="000000"/>
              </a:solidFill>
              <a:latin typeface="Times New Roman" pitchFamily="18" charset="0"/>
            </a:endParaRPr>
          </a:p>
        </p:txBody>
      </p:sp>
      <p:sp>
        <p:nvSpPr>
          <p:cNvPr id="6" name="Slide Number Placeholder 5"/>
          <p:cNvSpPr>
            <a:spLocks noGrp="1"/>
          </p:cNvSpPr>
          <p:nvPr>
            <p:ph type="sldNum" idx="10"/>
          </p:nvPr>
        </p:nvSpPr>
        <p:spPr/>
        <p:txBody>
          <a:bodyPr/>
          <a:lstStyle/>
          <a:p>
            <a:fld id="{FE851EA8-346B-4082-9734-32D7F48A3BF1}" type="slidenum">
              <a:rPr lang="en-IE" smtClean="0"/>
              <a:pPr/>
              <a:t>1</a:t>
            </a:fld>
            <a:endParaRPr lang="en-IE"/>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1"/>
          <p:cNvSpPr txBox="1">
            <a:spLocks noChangeArrowheads="1"/>
          </p:cNvSpPr>
          <p:nvPr/>
        </p:nvSpPr>
        <p:spPr bwMode="auto">
          <a:xfrm>
            <a:off x="7226300" y="6886575"/>
            <a:ext cx="2346325" cy="519113"/>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FF79CC5-0FB8-498A-B95A-CC47BA71EE92}"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a:t>
            </a:fld>
            <a:endParaRPr lang="en-IE" sz="1400">
              <a:solidFill>
                <a:srgbClr val="000000"/>
              </a:solidFill>
              <a:latin typeface="Times New Roman" pitchFamily="18" charset="0"/>
            </a:endParaRPr>
          </a:p>
        </p:txBody>
      </p:sp>
      <p:sp>
        <p:nvSpPr>
          <p:cNvPr id="50178" name="Text Box 2"/>
          <p:cNvSpPr txBox="1">
            <a:spLocks noChangeArrowheads="1"/>
          </p:cNvSpPr>
          <p:nvPr/>
        </p:nvSpPr>
        <p:spPr bwMode="auto">
          <a:xfrm>
            <a:off x="503238" y="346075"/>
            <a:ext cx="9070975" cy="1171575"/>
          </a:xfrm>
          <a:prstGeom prst="rect">
            <a:avLst/>
          </a:prstGeom>
          <a:noFill/>
          <a:ln w="9525">
            <a:noFill/>
            <a:round/>
            <a:headEnd/>
            <a:tailEnd/>
          </a:ln>
          <a:effectLst/>
        </p:spPr>
        <p:txBody>
          <a:bodyPr lIns="0" tIns="3888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dirty="0">
                <a:solidFill>
                  <a:srgbClr val="1F497D"/>
                </a:solidFill>
              </a:rPr>
              <a:t>Rotational Mechanics</a:t>
            </a:r>
          </a:p>
        </p:txBody>
      </p:sp>
      <p:sp>
        <p:nvSpPr>
          <p:cNvPr id="50179" name="Text Box 3"/>
          <p:cNvSpPr txBox="1">
            <a:spLocks noChangeArrowheads="1"/>
          </p:cNvSpPr>
          <p:nvPr/>
        </p:nvSpPr>
        <p:spPr bwMode="auto">
          <a:xfrm>
            <a:off x="503238" y="1768475"/>
            <a:ext cx="9070975" cy="4989513"/>
          </a:xfrm>
          <a:prstGeom prst="rect">
            <a:avLst/>
          </a:prstGeom>
          <a:noFill/>
          <a:ln w="9525">
            <a:noFill/>
            <a:round/>
            <a:headEnd/>
            <a:tailEnd/>
          </a:ln>
          <a:effectLst/>
        </p:spPr>
        <p:txBody>
          <a:bodyPr lIns="0" tIns="0" rIns="0" bIns="0"/>
          <a:lstStyle/>
          <a:p>
            <a:pPr marL="428625" indent="-323850">
              <a:spcAft>
                <a:spcPts val="1413"/>
              </a:spcAft>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dirty="0">
                <a:solidFill>
                  <a:srgbClr val="000000"/>
                </a:solidFill>
              </a:rPr>
              <a:t>So far we've pretty much confined our study to objects moving in straight lines</a:t>
            </a:r>
          </a:p>
          <a:p>
            <a:pPr marL="428625" indent="-323850">
              <a:spcAft>
                <a:spcPts val="1413"/>
              </a:spcAft>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dirty="0">
                <a:solidFill>
                  <a:srgbClr val="000000"/>
                </a:solidFill>
              </a:rPr>
              <a:t>These are 1-D problems</a:t>
            </a:r>
          </a:p>
          <a:p>
            <a:pPr marL="428625" indent="-323850">
              <a:spcAft>
                <a:spcPts val="1413"/>
              </a:spcAft>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dirty="0">
                <a:solidFill>
                  <a:srgbClr val="000000"/>
                </a:solidFill>
              </a:rPr>
              <a:t>Important set of problems where objects move in circle</a:t>
            </a:r>
          </a:p>
          <a:p>
            <a:pPr marL="428625" indent="-323850">
              <a:spcAft>
                <a:spcPts val="1413"/>
              </a:spcAft>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dirty="0">
                <a:solidFill>
                  <a:srgbClr val="000000"/>
                </a:solidFill>
              </a:rPr>
              <a:t>Called rotational mechanics</a:t>
            </a:r>
          </a:p>
          <a:p>
            <a:pPr marL="428625" indent="-323850">
              <a:spcAft>
                <a:spcPts val="1413"/>
              </a:spcAft>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dirty="0">
                <a:solidFill>
                  <a:srgbClr val="000000"/>
                </a:solidFill>
              </a:rPr>
              <a:t>We'll see analogies for speed, acceleration, momentum, force, energy, mass</a:t>
            </a:r>
          </a:p>
        </p:txBody>
      </p:sp>
      <p:sp>
        <p:nvSpPr>
          <p:cNvPr id="5" name="Slide Number Placeholder 4"/>
          <p:cNvSpPr>
            <a:spLocks noGrp="1"/>
          </p:cNvSpPr>
          <p:nvPr>
            <p:ph type="sldNum" idx="10"/>
          </p:nvPr>
        </p:nvSpPr>
        <p:spPr/>
        <p:txBody>
          <a:bodyPr/>
          <a:lstStyle/>
          <a:p>
            <a:fld id="{FE851EA8-346B-4082-9734-32D7F48A3BF1}" type="slidenum">
              <a:rPr lang="en-IE" smtClean="0"/>
              <a:pPr/>
              <a:t>2</a:t>
            </a:fld>
            <a:endParaRPr lang="en-IE" dirty="0"/>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ext Box 1"/>
          <p:cNvSpPr txBox="1">
            <a:spLocks noChangeArrowheads="1"/>
          </p:cNvSpPr>
          <p:nvPr/>
        </p:nvSpPr>
        <p:spPr bwMode="auto">
          <a:xfrm>
            <a:off x="7226300" y="6886575"/>
            <a:ext cx="2346325" cy="519113"/>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E04A36FC-8887-4771-B47A-266659765FBF}"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a:t>
            </a:fld>
            <a:endParaRPr lang="en-IE" sz="1400">
              <a:solidFill>
                <a:srgbClr val="000000"/>
              </a:solidFill>
              <a:latin typeface="Times New Roman" pitchFamily="18" charset="0"/>
            </a:endParaRPr>
          </a:p>
        </p:txBody>
      </p:sp>
      <p:sp>
        <p:nvSpPr>
          <p:cNvPr id="51202" name="Text Box 2"/>
          <p:cNvSpPr txBox="1">
            <a:spLocks noChangeArrowheads="1"/>
          </p:cNvSpPr>
          <p:nvPr/>
        </p:nvSpPr>
        <p:spPr bwMode="auto">
          <a:xfrm>
            <a:off x="503238" y="539750"/>
            <a:ext cx="4176712" cy="6218238"/>
          </a:xfrm>
          <a:prstGeom prst="rect">
            <a:avLst/>
          </a:prstGeom>
          <a:noFill/>
          <a:ln w="9525">
            <a:noFill/>
            <a:round/>
            <a:headEnd/>
            <a:tailEnd/>
          </a:ln>
          <a:effectLst/>
        </p:spPr>
        <p:txBody>
          <a:bodyPr lIns="0" tIns="28080" rIns="0" bIns="0"/>
          <a:lstStyle/>
          <a:p>
            <a:pPr marL="428625" indent="-323850">
              <a:spcAft>
                <a:spcPts val="1425"/>
              </a:spcAft>
              <a:buClr>
                <a:srgbClr val="1F497D"/>
              </a:buClr>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a:solidFill>
                  <a:srgbClr val="1F497D"/>
                </a:solidFill>
              </a:rPr>
              <a:t>Same speed, but in different directions</a:t>
            </a:r>
          </a:p>
          <a:p>
            <a:pPr marL="428625" indent="-323850">
              <a:spcAft>
                <a:spcPts val="1425"/>
              </a:spcAft>
              <a:buClr>
                <a:srgbClr val="1F497D"/>
              </a:buClr>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a:solidFill>
                  <a:srgbClr val="1F497D"/>
                </a:solidFill>
              </a:rPr>
              <a:t>Acceleration</a:t>
            </a:r>
          </a:p>
          <a:p>
            <a:pPr marL="428625" indent="-323850">
              <a:spcAft>
                <a:spcPts val="1425"/>
              </a:spcAft>
              <a:buClr>
                <a:srgbClr val="1F497D"/>
              </a:buClr>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a:solidFill>
                  <a:srgbClr val="1F497D"/>
                </a:solidFill>
              </a:rPr>
              <a:t>Need to define some quantities before we go any further</a:t>
            </a:r>
          </a:p>
          <a:p>
            <a:pPr marL="428625" indent="-323850">
              <a:spcAft>
                <a:spcPts val="1425"/>
              </a:spcAft>
              <a:buClr>
                <a:srgbClr val="1F497D"/>
              </a:buClr>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a:solidFill>
                  <a:srgbClr val="1F497D"/>
                </a:solidFill>
              </a:rPr>
              <a:t>These will be:</a:t>
            </a:r>
          </a:p>
          <a:p>
            <a:pPr marL="860425" lvl="1" indent="-320675">
              <a:spcAft>
                <a:spcPts val="1138"/>
              </a:spcAft>
              <a:buClr>
                <a:srgbClr val="1F497D"/>
              </a:buClr>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2800">
                <a:solidFill>
                  <a:srgbClr val="1F497D"/>
                </a:solidFill>
              </a:rPr>
              <a:t>Period</a:t>
            </a:r>
          </a:p>
          <a:p>
            <a:pPr marL="860425" lvl="1" indent="-320675">
              <a:spcAft>
                <a:spcPts val="1138"/>
              </a:spcAft>
              <a:buClr>
                <a:srgbClr val="1F497D"/>
              </a:buClr>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2800">
                <a:solidFill>
                  <a:srgbClr val="1F497D"/>
                </a:solidFill>
              </a:rPr>
              <a:t>Frequency</a:t>
            </a:r>
          </a:p>
          <a:p>
            <a:pPr marL="860425" lvl="1" indent="-320675">
              <a:spcAft>
                <a:spcPts val="1138"/>
              </a:spcAft>
              <a:buClr>
                <a:srgbClr val="1F497D"/>
              </a:buClr>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2800">
                <a:solidFill>
                  <a:srgbClr val="1F497D"/>
                </a:solidFill>
              </a:rPr>
              <a:t>Angular velocity</a:t>
            </a:r>
          </a:p>
        </p:txBody>
      </p:sp>
      <p:grpSp>
        <p:nvGrpSpPr>
          <p:cNvPr id="51203" name="Group 3"/>
          <p:cNvGrpSpPr>
            <a:grpSpLocks/>
          </p:cNvGrpSpPr>
          <p:nvPr/>
        </p:nvGrpSpPr>
        <p:grpSpPr bwMode="auto">
          <a:xfrm>
            <a:off x="4859338" y="539750"/>
            <a:ext cx="4857750" cy="5218113"/>
            <a:chOff x="3061" y="340"/>
            <a:chExt cx="3060" cy="3287"/>
          </a:xfrm>
        </p:grpSpPr>
        <p:sp>
          <p:nvSpPr>
            <p:cNvPr id="51204" name="Oval 4"/>
            <p:cNvSpPr>
              <a:spLocks noChangeArrowheads="1"/>
            </p:cNvSpPr>
            <p:nvPr/>
          </p:nvSpPr>
          <p:spPr bwMode="auto">
            <a:xfrm>
              <a:off x="3061" y="340"/>
              <a:ext cx="3061" cy="3061"/>
            </a:xfrm>
            <a:prstGeom prst="ellipse">
              <a:avLst/>
            </a:prstGeom>
            <a:noFill/>
            <a:ln w="144000">
              <a:solidFill>
                <a:srgbClr val="000000"/>
              </a:solidFill>
              <a:miter lim="800000"/>
              <a:headEnd/>
              <a:tailEnd/>
            </a:ln>
            <a:effectLst/>
          </p:spPr>
          <p:txBody>
            <a:bodyPr wrap="none" anchor="ctr"/>
            <a:lstStyle/>
            <a:p>
              <a:endParaRPr lang="en-IE"/>
            </a:p>
          </p:txBody>
        </p:sp>
        <p:pic>
          <p:nvPicPr>
            <p:cNvPr id="51205" name="Picture 5"/>
            <p:cNvPicPr>
              <a:picLocks noChangeAspect="1" noChangeArrowheads="1"/>
            </p:cNvPicPr>
            <p:nvPr/>
          </p:nvPicPr>
          <p:blipFill>
            <a:blip r:embed="rId3" cstate="print"/>
            <a:srcRect/>
            <a:stretch>
              <a:fillRect/>
            </a:stretch>
          </p:blipFill>
          <p:spPr bwMode="auto">
            <a:xfrm>
              <a:off x="4196" y="3015"/>
              <a:ext cx="906" cy="613"/>
            </a:xfrm>
            <a:prstGeom prst="rect">
              <a:avLst/>
            </a:prstGeom>
            <a:noFill/>
            <a:ln w="9525">
              <a:noFill/>
              <a:round/>
              <a:headEnd/>
              <a:tailEnd/>
            </a:ln>
            <a:effectLst/>
          </p:spPr>
        </p:pic>
        <p:sp>
          <p:nvSpPr>
            <p:cNvPr id="51206" name="AutoShape 6"/>
            <p:cNvSpPr>
              <a:spLocks noChangeArrowheads="1"/>
            </p:cNvSpPr>
            <p:nvPr/>
          </p:nvSpPr>
          <p:spPr bwMode="auto">
            <a:xfrm rot="12780000">
              <a:off x="3564" y="2977"/>
              <a:ext cx="363" cy="350"/>
            </a:xfrm>
            <a:prstGeom prst="rightArrow">
              <a:avLst>
                <a:gd name="adj1" fmla="val 50000"/>
                <a:gd name="adj2" fmla="val 50013"/>
              </a:avLst>
            </a:prstGeom>
            <a:solidFill>
              <a:srgbClr val="00B8FF"/>
            </a:solidFill>
            <a:ln w="9360">
              <a:solidFill>
                <a:srgbClr val="000000"/>
              </a:solidFill>
              <a:round/>
              <a:headEnd/>
              <a:tailEnd/>
            </a:ln>
            <a:effectLst/>
          </p:spPr>
          <p:txBody>
            <a:bodyPr wrap="none" anchor="ctr"/>
            <a:lstStyle/>
            <a:p>
              <a:endParaRPr lang="en-IE"/>
            </a:p>
          </p:txBody>
        </p:sp>
      </p:grpSp>
      <p:sp>
        <p:nvSpPr>
          <p:cNvPr id="8" name="Slide Number Placeholder 7"/>
          <p:cNvSpPr>
            <a:spLocks noGrp="1"/>
          </p:cNvSpPr>
          <p:nvPr>
            <p:ph type="sldNum" idx="10"/>
          </p:nvPr>
        </p:nvSpPr>
        <p:spPr/>
        <p:txBody>
          <a:bodyPr/>
          <a:lstStyle/>
          <a:p>
            <a:fld id="{FE851EA8-346B-4082-9734-32D7F48A3BF1}" type="slidenum">
              <a:rPr lang="en-IE" smtClean="0"/>
              <a:pPr/>
              <a:t>3</a:t>
            </a:fld>
            <a:endParaRPr lang="en-IE"/>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ext Box 1"/>
          <p:cNvSpPr txBox="1">
            <a:spLocks noChangeArrowheads="1"/>
          </p:cNvSpPr>
          <p:nvPr/>
        </p:nvSpPr>
        <p:spPr bwMode="auto">
          <a:xfrm>
            <a:off x="7226300" y="6886575"/>
            <a:ext cx="2346325" cy="519113"/>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6D17858-BE46-49F8-9F00-F0C6B68BC242}"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a:t>
            </a:fld>
            <a:endParaRPr lang="en-IE" sz="1400">
              <a:solidFill>
                <a:srgbClr val="000000"/>
              </a:solidFill>
              <a:latin typeface="Times New Roman" pitchFamily="18" charset="0"/>
            </a:endParaRPr>
          </a:p>
        </p:txBody>
      </p:sp>
      <p:sp>
        <p:nvSpPr>
          <p:cNvPr id="52226" name="Text Box 2"/>
          <p:cNvSpPr txBox="1">
            <a:spLocks noChangeArrowheads="1"/>
          </p:cNvSpPr>
          <p:nvPr/>
        </p:nvSpPr>
        <p:spPr bwMode="auto">
          <a:xfrm>
            <a:off x="503238" y="242888"/>
            <a:ext cx="9070975" cy="1379537"/>
          </a:xfrm>
          <a:prstGeom prst="rect">
            <a:avLst/>
          </a:prstGeom>
          <a:noFill/>
          <a:ln w="9525">
            <a:noFill/>
            <a:round/>
            <a:headEnd/>
            <a:tailEnd/>
          </a:ln>
          <a:effectLst/>
        </p:spPr>
        <p:txBody>
          <a:bodyPr lIns="0" tIns="3888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Rotational Mechanics – rate of motion</a:t>
            </a:r>
          </a:p>
        </p:txBody>
      </p:sp>
      <p:sp>
        <p:nvSpPr>
          <p:cNvPr id="52227" name="Text Box 3"/>
          <p:cNvSpPr txBox="1">
            <a:spLocks noChangeArrowheads="1"/>
          </p:cNvSpPr>
          <p:nvPr/>
        </p:nvSpPr>
        <p:spPr bwMode="auto">
          <a:xfrm>
            <a:off x="503238" y="1768475"/>
            <a:ext cx="9070975" cy="4989513"/>
          </a:xfrm>
          <a:prstGeom prst="rect">
            <a:avLst/>
          </a:prstGeom>
          <a:noFill/>
          <a:ln w="9525">
            <a:noFill/>
            <a:round/>
            <a:headEnd/>
            <a:tailEnd/>
          </a:ln>
          <a:effectLst/>
        </p:spPr>
        <p:txBody>
          <a:bodyPr lIns="0" tIns="0" rIns="0" bIns="0"/>
          <a:lstStyle/>
          <a:p>
            <a:pPr marL="428625" indent="-323850">
              <a:spcAft>
                <a:spcPts val="1413"/>
              </a:spcAft>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dirty="0">
                <a:solidFill>
                  <a:srgbClr val="000000"/>
                </a:solidFill>
              </a:rPr>
              <a:t>Periodic time (T)</a:t>
            </a:r>
          </a:p>
          <a:p>
            <a:pPr marL="860425" lvl="1" indent="-320675">
              <a:spcBef>
                <a:spcPts val="700"/>
              </a:spcBef>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2800" dirty="0">
                <a:solidFill>
                  <a:srgbClr val="000000"/>
                </a:solidFill>
              </a:rPr>
              <a:t>This is the time for one rotation, one lap</a:t>
            </a:r>
          </a:p>
          <a:p>
            <a:pPr marL="428625" indent="-323850">
              <a:spcAft>
                <a:spcPts val="1413"/>
              </a:spcAft>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dirty="0">
                <a:solidFill>
                  <a:srgbClr val="000000"/>
                </a:solidFill>
              </a:rPr>
              <a:t>Frequency (f)</a:t>
            </a:r>
          </a:p>
          <a:p>
            <a:pPr marL="860425" lvl="1" indent="-320675">
              <a:spcBef>
                <a:spcPts val="700"/>
              </a:spcBef>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2800" dirty="0">
                <a:solidFill>
                  <a:srgbClr val="000000"/>
                </a:solidFill>
              </a:rPr>
              <a:t>This is the rate of rotation</a:t>
            </a:r>
          </a:p>
          <a:p>
            <a:pPr marL="860425" lvl="1" indent="-320675">
              <a:spcBef>
                <a:spcPts val="700"/>
              </a:spcBef>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2800" dirty="0">
                <a:solidFill>
                  <a:srgbClr val="000000"/>
                </a:solidFill>
              </a:rPr>
              <a:t>How many laps per second</a:t>
            </a:r>
          </a:p>
          <a:p>
            <a:pPr marL="860425" lvl="1" indent="-320675">
              <a:spcBef>
                <a:spcPts val="700"/>
              </a:spcBef>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2800" dirty="0">
                <a:solidFill>
                  <a:srgbClr val="000000"/>
                </a:solidFill>
              </a:rPr>
              <a:t>Units are s</a:t>
            </a:r>
            <a:r>
              <a:rPr lang="en-IE" sz="2800" baseline="33000" dirty="0">
                <a:solidFill>
                  <a:srgbClr val="000000"/>
                </a:solidFill>
              </a:rPr>
              <a:t>-1</a:t>
            </a:r>
            <a:r>
              <a:rPr lang="en-IE" sz="2800" dirty="0">
                <a:solidFill>
                  <a:srgbClr val="000000"/>
                </a:solidFill>
              </a:rPr>
              <a:t> or Hertz (Hz)</a:t>
            </a:r>
          </a:p>
          <a:p>
            <a:pPr marL="428625" indent="-323850">
              <a:spcAft>
                <a:spcPts val="1413"/>
              </a:spcAft>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dirty="0">
                <a:solidFill>
                  <a:srgbClr val="000000"/>
                </a:solidFill>
              </a:rPr>
              <a:t>Angular Velocity (</a:t>
            </a:r>
            <a:r>
              <a:rPr lang="en-IE" sz="3200" dirty="0">
                <a:solidFill>
                  <a:srgbClr val="000000"/>
                </a:solidFill>
                <a:cs typeface="Arial" pitchFamily="34" charset="0"/>
              </a:rPr>
              <a:t>ω, pronounced omega)</a:t>
            </a:r>
          </a:p>
          <a:p>
            <a:pPr marL="860425" lvl="1" indent="-320675">
              <a:spcBef>
                <a:spcPts val="700"/>
              </a:spcBef>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2800" dirty="0">
                <a:solidFill>
                  <a:srgbClr val="000000"/>
                </a:solidFill>
              </a:rPr>
              <a:t>Angle that the radius sweeps out per unit time</a:t>
            </a:r>
          </a:p>
          <a:p>
            <a:pPr marL="860425" lvl="1" indent="-320675">
              <a:spcBef>
                <a:spcPts val="700"/>
              </a:spcBef>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2800" dirty="0">
                <a:solidFill>
                  <a:srgbClr val="000000"/>
                </a:solidFill>
              </a:rPr>
              <a:t>Units are radians per second (</a:t>
            </a:r>
            <a:r>
              <a:rPr lang="en-IE" sz="2800" dirty="0" err="1">
                <a:solidFill>
                  <a:srgbClr val="000000"/>
                </a:solidFill>
              </a:rPr>
              <a:t>rads</a:t>
            </a:r>
            <a:r>
              <a:rPr lang="en-IE" sz="2800" dirty="0">
                <a:solidFill>
                  <a:srgbClr val="000000"/>
                </a:solidFill>
              </a:rPr>
              <a:t> s</a:t>
            </a:r>
            <a:r>
              <a:rPr lang="en-IE" sz="2800" baseline="33000" dirty="0">
                <a:solidFill>
                  <a:srgbClr val="000000"/>
                </a:solidFill>
              </a:rPr>
              <a:t>-1</a:t>
            </a:r>
            <a:r>
              <a:rPr lang="en-IE" sz="2800" dirty="0">
                <a:solidFill>
                  <a:srgbClr val="000000"/>
                </a:solidFill>
              </a:rPr>
              <a:t>)</a:t>
            </a:r>
          </a:p>
          <a:p>
            <a:pPr marL="428625" indent="-323850">
              <a:spcAft>
                <a:spcPts val="1413"/>
              </a:spcAft>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dirty="0">
                <a:solidFill>
                  <a:srgbClr val="000000"/>
                </a:solidFill>
              </a:rPr>
              <a:t>Equations: f=1/T, </a:t>
            </a:r>
            <a:r>
              <a:rPr lang="en-IE" sz="3200" dirty="0">
                <a:solidFill>
                  <a:srgbClr val="000000"/>
                </a:solidFill>
                <a:cs typeface="Arial" pitchFamily="34" charset="0"/>
              </a:rPr>
              <a:t>ω = 2πf</a:t>
            </a:r>
          </a:p>
        </p:txBody>
      </p:sp>
      <p:sp>
        <p:nvSpPr>
          <p:cNvPr id="5" name="Slide Number Placeholder 4"/>
          <p:cNvSpPr>
            <a:spLocks noGrp="1"/>
          </p:cNvSpPr>
          <p:nvPr>
            <p:ph type="sldNum" idx="10"/>
          </p:nvPr>
        </p:nvSpPr>
        <p:spPr/>
        <p:txBody>
          <a:bodyPr/>
          <a:lstStyle/>
          <a:p>
            <a:fld id="{FE851EA8-346B-4082-9734-32D7F48A3BF1}" type="slidenum">
              <a:rPr lang="en-IE" smtClean="0"/>
              <a:pPr/>
              <a:t>4</a:t>
            </a:fld>
            <a:endParaRPr lang="en-IE"/>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Angular Kinematics</a:t>
            </a:r>
          </a:p>
        </p:txBody>
      </p:sp>
      <p:sp>
        <p:nvSpPr>
          <p:cNvPr id="71682" name="Text Box 2"/>
          <p:cNvSpPr txBox="1">
            <a:spLocks noChangeArrowheads="1"/>
          </p:cNvSpPr>
          <p:nvPr/>
        </p:nvSpPr>
        <p:spPr bwMode="auto">
          <a:xfrm>
            <a:off x="431800" y="1116013"/>
            <a:ext cx="9070975" cy="57245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In the same way that things moving in a straight line can be made to move faster or slower, stuff moving in a circle can rotate faster or slower</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This means a change in angular velocity</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Call this an angular acceleration</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Different from the centripetal acceleration we’ll see later</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Use symbol </a:t>
            </a:r>
            <a:r>
              <a:rPr lang="en-IE" sz="2400" dirty="0">
                <a:solidFill>
                  <a:srgbClr val="000000"/>
                </a:solidFill>
                <a:latin typeface="DejaVu Sans"/>
              </a:rPr>
              <a:t>α</a:t>
            </a:r>
          </a:p>
          <a:p>
            <a:pPr marL="741363" lvl="1" indent="-284163" hangingPunct="0">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Units for α are radians per second squared</a:t>
            </a:r>
          </a:p>
          <a:p>
            <a:pPr marL="1141413" lvl="2" indent="-227013">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err="1">
                <a:solidFill>
                  <a:srgbClr val="000000"/>
                </a:solidFill>
                <a:latin typeface="DejaVu Sans"/>
              </a:rPr>
              <a:t>Rad</a:t>
            </a:r>
            <a:r>
              <a:rPr lang="en-IE" sz="2400" dirty="0">
                <a:solidFill>
                  <a:srgbClr val="000000"/>
                </a:solidFill>
                <a:latin typeface="DejaVu Sans"/>
              </a:rPr>
              <a:t> s</a:t>
            </a:r>
            <a:r>
              <a:rPr lang="en-IE" sz="2400" baseline="33000" dirty="0">
                <a:solidFill>
                  <a:srgbClr val="000000"/>
                </a:solidFill>
                <a:latin typeface="DejaVu Sans"/>
              </a:rPr>
              <a:t>-2</a:t>
            </a:r>
          </a:p>
          <a:p>
            <a:pPr marL="741363" lvl="1" indent="-284163" hangingPunct="0">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Direction of α are tangent to the circle</a:t>
            </a:r>
          </a:p>
          <a:p>
            <a:pPr marL="1141413" lvl="2" indent="-227013">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Parallel or anti-parallel to velocity</a:t>
            </a:r>
          </a:p>
        </p:txBody>
      </p:sp>
      <p:sp>
        <p:nvSpPr>
          <p:cNvPr id="71683"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8A74096F-8098-41DC-95E0-E6E63F22916E}"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5</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5</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Angular Kinematics</a:t>
            </a:r>
          </a:p>
        </p:txBody>
      </p:sp>
      <p:sp>
        <p:nvSpPr>
          <p:cNvPr id="72706" name="Text Box 2"/>
          <p:cNvSpPr txBox="1">
            <a:spLocks noChangeArrowheads="1"/>
          </p:cNvSpPr>
          <p:nvPr/>
        </p:nvSpPr>
        <p:spPr bwMode="auto">
          <a:xfrm>
            <a:off x="431800" y="1116013"/>
            <a:ext cx="9070975" cy="57245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Now have:</a:t>
            </a:r>
          </a:p>
          <a:p>
            <a:pPr marL="741363" lvl="1" indent="-284163" hangingPunct="0">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Angular acceleration, </a:t>
            </a:r>
            <a:r>
              <a:rPr lang="en-IE" sz="2400" dirty="0">
                <a:solidFill>
                  <a:srgbClr val="000000"/>
                </a:solidFill>
                <a:latin typeface="DejaVu Sans"/>
              </a:rPr>
              <a:t>α (note, this is not the same acceleration we met on slide 5)</a:t>
            </a:r>
          </a:p>
          <a:p>
            <a:pPr marL="741363" lvl="1" indent="-284163" hangingPunct="0">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Angular velocity, ω</a:t>
            </a:r>
          </a:p>
          <a:p>
            <a:pPr marL="741363" lvl="1" indent="-284163" hangingPunct="0">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Angular position, θ</a:t>
            </a:r>
          </a:p>
          <a:p>
            <a:pPr marL="741363" lvl="1" indent="-284163" hangingPunct="0">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Put these together to get a set of equations for angular motion:</a:t>
            </a:r>
          </a:p>
          <a:p>
            <a:pPr marL="3198813" lvl="7" indent="-284163" hangingPunct="0">
              <a:spcAft>
                <a:spcPts val="1413"/>
              </a:spcAft>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a:solidFill>
                  <a:srgbClr val="000000"/>
                </a:solidFill>
                <a:latin typeface="DejaVu Sans"/>
              </a:rPr>
              <a:t>ω = ω</a:t>
            </a:r>
            <a:r>
              <a:rPr lang="en-IE" sz="2400" b="1" baseline="-33000" dirty="0">
                <a:solidFill>
                  <a:srgbClr val="000000"/>
                </a:solidFill>
                <a:latin typeface="DejaVu Sans"/>
              </a:rPr>
              <a:t>0</a:t>
            </a:r>
            <a:r>
              <a:rPr lang="en-IE" sz="2400" b="1" dirty="0">
                <a:solidFill>
                  <a:srgbClr val="000000"/>
                </a:solidFill>
                <a:latin typeface="DejaVu Sans"/>
              </a:rPr>
              <a:t> + </a:t>
            </a:r>
            <a:r>
              <a:rPr lang="en-IE" sz="2400" b="1" dirty="0" err="1">
                <a:solidFill>
                  <a:srgbClr val="000000"/>
                </a:solidFill>
                <a:latin typeface="DejaVu Sans"/>
              </a:rPr>
              <a:t>αt</a:t>
            </a:r>
            <a:endParaRPr lang="en-IE" sz="2400" b="1" dirty="0">
              <a:solidFill>
                <a:srgbClr val="000000"/>
              </a:solidFill>
              <a:latin typeface="DejaVu Sans"/>
            </a:endParaRPr>
          </a:p>
          <a:p>
            <a:pPr marL="3198813" lvl="7" indent="-284163" hangingPunct="0">
              <a:spcAft>
                <a:spcPts val="1413"/>
              </a:spcAft>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a:solidFill>
                  <a:srgbClr val="000000"/>
                </a:solidFill>
                <a:latin typeface="DejaVu Sans"/>
              </a:rPr>
              <a:t>θ = ω</a:t>
            </a:r>
            <a:r>
              <a:rPr lang="en-IE" sz="2400" b="1" baseline="-33000" dirty="0">
                <a:solidFill>
                  <a:srgbClr val="000000"/>
                </a:solidFill>
                <a:latin typeface="DejaVu Sans"/>
              </a:rPr>
              <a:t>0</a:t>
            </a:r>
            <a:r>
              <a:rPr lang="en-IE" sz="2400" b="1" dirty="0">
                <a:solidFill>
                  <a:srgbClr val="000000"/>
                </a:solidFill>
                <a:latin typeface="DejaVu Sans"/>
              </a:rPr>
              <a:t>t + ½ αt</a:t>
            </a:r>
            <a:r>
              <a:rPr lang="en-IE" sz="2400" b="1" baseline="33000" dirty="0">
                <a:solidFill>
                  <a:srgbClr val="000000"/>
                </a:solidFill>
                <a:latin typeface="DejaVu Sans"/>
              </a:rPr>
              <a:t>2</a:t>
            </a:r>
          </a:p>
          <a:p>
            <a:pPr marL="3198813" lvl="7" indent="-284163" hangingPunct="0">
              <a:spcAft>
                <a:spcPts val="1413"/>
              </a:spcAft>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a:solidFill>
                  <a:srgbClr val="000000"/>
                </a:solidFill>
                <a:latin typeface="DejaVu Sans"/>
              </a:rPr>
              <a:t>ω</a:t>
            </a:r>
            <a:r>
              <a:rPr lang="en-IE" sz="2400" b="1" baseline="33000" dirty="0">
                <a:solidFill>
                  <a:srgbClr val="000000"/>
                </a:solidFill>
                <a:latin typeface="DejaVu Sans"/>
              </a:rPr>
              <a:t>2</a:t>
            </a:r>
            <a:r>
              <a:rPr lang="en-IE" sz="2400" b="1" dirty="0">
                <a:solidFill>
                  <a:srgbClr val="000000"/>
                </a:solidFill>
                <a:latin typeface="DejaVu Sans"/>
              </a:rPr>
              <a:t> = ω</a:t>
            </a:r>
            <a:r>
              <a:rPr lang="en-IE" sz="2400" b="1" baseline="-33000" dirty="0">
                <a:solidFill>
                  <a:srgbClr val="000000"/>
                </a:solidFill>
                <a:latin typeface="DejaVu Sans"/>
              </a:rPr>
              <a:t>0</a:t>
            </a:r>
            <a:r>
              <a:rPr lang="en-IE" sz="2400" b="1" baseline="33000" dirty="0">
                <a:solidFill>
                  <a:srgbClr val="000000"/>
                </a:solidFill>
                <a:latin typeface="DejaVu Sans"/>
              </a:rPr>
              <a:t>2</a:t>
            </a:r>
            <a:r>
              <a:rPr lang="en-IE" sz="2400" b="1" dirty="0">
                <a:solidFill>
                  <a:srgbClr val="000000"/>
                </a:solidFill>
                <a:latin typeface="DejaVu Sans"/>
              </a:rPr>
              <a:t> + 2αθ</a:t>
            </a:r>
          </a:p>
          <a:p>
            <a:pPr marL="3198813" lvl="7" indent="-284163" hangingPunct="0">
              <a:spcAft>
                <a:spcPts val="1413"/>
              </a:spcAft>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a:solidFill>
                  <a:srgbClr val="000000"/>
                </a:solidFill>
                <a:latin typeface="DejaVu Sans"/>
              </a:rPr>
              <a:t>θ = (ω</a:t>
            </a:r>
            <a:r>
              <a:rPr lang="en-IE" sz="2400" b="1" baseline="-33000" dirty="0">
                <a:solidFill>
                  <a:srgbClr val="000000"/>
                </a:solidFill>
                <a:latin typeface="DejaVu Sans"/>
              </a:rPr>
              <a:t>0</a:t>
            </a:r>
            <a:r>
              <a:rPr lang="en-IE" sz="2400" b="1" dirty="0">
                <a:solidFill>
                  <a:srgbClr val="000000"/>
                </a:solidFill>
                <a:latin typeface="DejaVu Sans"/>
              </a:rPr>
              <a:t> + ω)t / 2</a:t>
            </a:r>
          </a:p>
          <a:p>
            <a:pPr marL="741363" lvl="1" indent="-284163" hangingPunct="0">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These should look familiar</a:t>
            </a:r>
          </a:p>
        </p:txBody>
      </p:sp>
      <p:sp>
        <p:nvSpPr>
          <p:cNvPr id="72707"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73E30475-BAEC-4CFE-A34F-3789A840ED6D}"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6</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6</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Angular Kinematics - example</a:t>
            </a:r>
          </a:p>
        </p:txBody>
      </p:sp>
      <p:sp>
        <p:nvSpPr>
          <p:cNvPr id="73730" name="Text Box 2"/>
          <p:cNvSpPr txBox="1">
            <a:spLocks noChangeArrowheads="1"/>
          </p:cNvSpPr>
          <p:nvPr/>
        </p:nvSpPr>
        <p:spPr bwMode="auto">
          <a:xfrm>
            <a:off x="431800" y="1116013"/>
            <a:ext cx="9070975" cy="5724525"/>
          </a:xfrm>
          <a:prstGeom prst="rect">
            <a:avLst/>
          </a:prstGeom>
          <a:noFill/>
          <a:ln w="9525">
            <a:noFill/>
            <a:round/>
            <a:headEnd/>
            <a:tailEnd/>
          </a:ln>
          <a:effectLst/>
        </p:spPr>
        <p:txBody>
          <a:bodyPr lIns="0" tIns="0" rIns="0" bIns="0"/>
          <a:lstStyle/>
          <a:p>
            <a:pPr>
              <a:spcAft>
                <a:spcPts val="1413"/>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IE" sz="2400" dirty="0">
                <a:solidFill>
                  <a:srgbClr val="000000"/>
                </a:solidFill>
                <a:latin typeface="DejaVu Sans"/>
              </a:rPr>
              <a:t>A disc starts from rest and rotates with constant angular acceleration of 2rad s</a:t>
            </a:r>
            <a:r>
              <a:rPr lang="en-IE" sz="2400" baseline="33000" dirty="0">
                <a:solidFill>
                  <a:srgbClr val="000000"/>
                </a:solidFill>
                <a:latin typeface="DejaVu Sans"/>
              </a:rPr>
              <a:t>-2</a:t>
            </a:r>
            <a:r>
              <a:rPr lang="en-IE" sz="2400" dirty="0">
                <a:solidFill>
                  <a:srgbClr val="000000"/>
                </a:solidFill>
                <a:latin typeface="DejaVu Sans"/>
              </a:rPr>
              <a:t>. How many revolutions does it make in 10s?</a:t>
            </a:r>
          </a:p>
          <a:p>
            <a:pPr algn="ctr">
              <a:spcAft>
                <a:spcPts val="1413"/>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IE" sz="2400" b="1" dirty="0">
                <a:solidFill>
                  <a:srgbClr val="000000"/>
                </a:solidFill>
              </a:rPr>
              <a:t>[100rads = 15.92 revolutions]</a:t>
            </a:r>
          </a:p>
          <a:p>
            <a:pPr>
              <a:spcAft>
                <a:spcPts val="1413"/>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IE" sz="2400" dirty="0">
                <a:solidFill>
                  <a:srgbClr val="000000"/>
                </a:solidFill>
                <a:latin typeface="DejaVu Sans"/>
              </a:rPr>
              <a:t>During a jump, an ice-skater increases their angular velocity from 16 </a:t>
            </a:r>
            <a:r>
              <a:rPr lang="en-IE" sz="2400" dirty="0" err="1">
                <a:solidFill>
                  <a:srgbClr val="000000"/>
                </a:solidFill>
                <a:latin typeface="DejaVu Sans"/>
              </a:rPr>
              <a:t>rads</a:t>
            </a:r>
            <a:r>
              <a:rPr lang="en-IE" sz="2400" dirty="0">
                <a:solidFill>
                  <a:srgbClr val="000000"/>
                </a:solidFill>
                <a:latin typeface="DejaVu Sans"/>
              </a:rPr>
              <a:t> s</a:t>
            </a:r>
            <a:r>
              <a:rPr lang="en-IE" sz="2400" baseline="30000" dirty="0">
                <a:solidFill>
                  <a:srgbClr val="000000"/>
                </a:solidFill>
                <a:latin typeface="DejaVu Sans"/>
              </a:rPr>
              <a:t>-1</a:t>
            </a:r>
            <a:r>
              <a:rPr lang="en-IE" sz="2400" dirty="0">
                <a:solidFill>
                  <a:srgbClr val="000000"/>
                </a:solidFill>
                <a:latin typeface="DejaVu Sans"/>
              </a:rPr>
              <a:t> to 34.265 </a:t>
            </a:r>
            <a:r>
              <a:rPr lang="en-IE" sz="2400" dirty="0" err="1">
                <a:solidFill>
                  <a:srgbClr val="000000"/>
                </a:solidFill>
                <a:latin typeface="DejaVu Sans"/>
              </a:rPr>
              <a:t>rads</a:t>
            </a:r>
            <a:r>
              <a:rPr lang="en-IE" sz="2400" dirty="0">
                <a:solidFill>
                  <a:srgbClr val="000000"/>
                </a:solidFill>
                <a:latin typeface="DejaVu Sans"/>
              </a:rPr>
              <a:t> s</a:t>
            </a:r>
            <a:r>
              <a:rPr lang="en-IE" sz="2400" baseline="30000" dirty="0">
                <a:solidFill>
                  <a:srgbClr val="000000"/>
                </a:solidFill>
                <a:latin typeface="DejaVu Sans"/>
              </a:rPr>
              <a:t>-1</a:t>
            </a:r>
            <a:r>
              <a:rPr lang="en-IE" sz="2400" dirty="0">
                <a:solidFill>
                  <a:srgbClr val="000000"/>
                </a:solidFill>
                <a:latin typeface="DejaVu Sans"/>
              </a:rPr>
              <a:t> in 0.5s by tucking in their arms. How many revolutions do they do in this time?</a:t>
            </a:r>
          </a:p>
          <a:p>
            <a:pPr algn="ctr">
              <a:spcAft>
                <a:spcPts val="1413"/>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IE" sz="2400" b="1" dirty="0">
                <a:solidFill>
                  <a:srgbClr val="000000"/>
                </a:solidFill>
              </a:rPr>
              <a:t>[12.566 </a:t>
            </a:r>
            <a:r>
              <a:rPr lang="en-IE" sz="2400" b="1" dirty="0" err="1">
                <a:solidFill>
                  <a:srgbClr val="000000"/>
                </a:solidFill>
              </a:rPr>
              <a:t>rads</a:t>
            </a:r>
            <a:r>
              <a:rPr lang="en-IE" sz="2400" b="1" dirty="0">
                <a:solidFill>
                  <a:srgbClr val="000000"/>
                </a:solidFill>
              </a:rPr>
              <a:t> = 2 revolutions]</a:t>
            </a:r>
          </a:p>
          <a:p>
            <a:pPr>
              <a:spcAft>
                <a:spcPts val="1413"/>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IE" sz="2400" dirty="0">
                <a:solidFill>
                  <a:srgbClr val="000000"/>
                </a:solidFill>
                <a:latin typeface="DejaVu Sans"/>
              </a:rPr>
              <a:t>After leaving the clubface, a golf ball spins at 346rads s</a:t>
            </a:r>
            <a:r>
              <a:rPr lang="en-IE" sz="2400" baseline="30000" dirty="0">
                <a:solidFill>
                  <a:srgbClr val="000000"/>
                </a:solidFill>
                <a:latin typeface="DejaVu Sans"/>
              </a:rPr>
              <a:t>-1</a:t>
            </a:r>
            <a:r>
              <a:rPr lang="en-IE" sz="2400" dirty="0">
                <a:solidFill>
                  <a:srgbClr val="000000"/>
                </a:solidFill>
                <a:latin typeface="DejaVu Sans"/>
              </a:rPr>
              <a:t>. When it lands 7.5s later, its rate of rotation has slowed to 210rads s</a:t>
            </a:r>
            <a:r>
              <a:rPr lang="en-IE" sz="2400" baseline="30000" dirty="0">
                <a:solidFill>
                  <a:srgbClr val="000000"/>
                </a:solidFill>
                <a:latin typeface="DejaVu Sans"/>
              </a:rPr>
              <a:t>-1</a:t>
            </a:r>
            <a:r>
              <a:rPr lang="en-IE" sz="2400" dirty="0">
                <a:solidFill>
                  <a:srgbClr val="000000"/>
                </a:solidFill>
                <a:latin typeface="DejaVu Sans"/>
              </a:rPr>
              <a:t>. Calculate the angular deceleration.</a:t>
            </a:r>
          </a:p>
          <a:p>
            <a:pPr algn="ctr">
              <a:spcAft>
                <a:spcPts val="1413"/>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r>
              <a:rPr lang="en-IE" sz="2400" b="1" dirty="0">
                <a:solidFill>
                  <a:srgbClr val="000000"/>
                </a:solidFill>
              </a:rPr>
              <a:t>[18.13rads s</a:t>
            </a:r>
            <a:r>
              <a:rPr lang="en-IE" sz="2400" b="1" baseline="30000" dirty="0">
                <a:solidFill>
                  <a:srgbClr val="000000"/>
                </a:solidFill>
              </a:rPr>
              <a:t>-2</a:t>
            </a:r>
            <a:r>
              <a:rPr lang="en-IE" sz="2400" b="1" dirty="0">
                <a:solidFill>
                  <a:srgbClr val="000000"/>
                </a:solidFill>
              </a:rPr>
              <a:t>]</a:t>
            </a:r>
          </a:p>
          <a:p>
            <a:pPr algn="ctr">
              <a:spcAft>
                <a:spcPts val="1413"/>
              </a:spcAft>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pPr>
            <a:endParaRPr lang="en-IE" sz="2400" b="1" dirty="0">
              <a:solidFill>
                <a:srgbClr val="000000"/>
              </a:solidFill>
            </a:endParaRPr>
          </a:p>
        </p:txBody>
      </p:sp>
      <p:sp>
        <p:nvSpPr>
          <p:cNvPr id="73731"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80063B68-16E2-400A-90E3-4E15B27BD3E9}"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7</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7</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Angular Kinematics - example</a:t>
            </a:r>
          </a:p>
        </p:txBody>
      </p:sp>
      <p:sp>
        <p:nvSpPr>
          <p:cNvPr id="74754" name="Text Box 2"/>
          <p:cNvSpPr txBox="1">
            <a:spLocks noChangeArrowheads="1"/>
          </p:cNvSpPr>
          <p:nvPr/>
        </p:nvSpPr>
        <p:spPr bwMode="auto">
          <a:xfrm>
            <a:off x="431800" y="1116013"/>
            <a:ext cx="9070975" cy="57245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latin typeface="DejaVu Sans"/>
              </a:rPr>
              <a:t>A discus thrower with a throwing arm length of 1.3m begins his throwing motion with an angular velocity of 5 rads s</a:t>
            </a:r>
            <a:r>
              <a:rPr lang="en-IE" sz="2400" baseline="33000">
                <a:solidFill>
                  <a:srgbClr val="000000"/>
                </a:solidFill>
                <a:latin typeface="DejaVu Sans"/>
              </a:rPr>
              <a:t>-1</a:t>
            </a:r>
            <a:r>
              <a:rPr lang="en-IE" sz="2400">
                <a:solidFill>
                  <a:srgbClr val="000000"/>
                </a:solidFill>
                <a:latin typeface="DejaVu Sans"/>
              </a:rPr>
              <a:t>. During the throw he spins through 15 rads. The entire movement takes 0.8s. Calculate the angular acceleration, the final angular velocity, the speed of the discus as it is released, and the tangential acceleration of the discus as it released.</a:t>
            </a:r>
          </a:p>
          <a:p>
            <a:pPr marL="427038" indent="-322263" algn="ctr" hangingPunct="0">
              <a:spcAft>
                <a:spcPts val="1413"/>
              </a:spcAft>
              <a:buClrTx/>
              <a:buSzTx/>
              <a:buFontTx/>
              <a:buNone/>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a:solidFill>
                  <a:srgbClr val="000000"/>
                </a:solidFill>
              </a:rPr>
              <a:t>[34.38 rad s</a:t>
            </a:r>
            <a:r>
              <a:rPr lang="en-IE" sz="2400" b="1" baseline="33000">
                <a:solidFill>
                  <a:srgbClr val="000000"/>
                </a:solidFill>
              </a:rPr>
              <a:t>-2</a:t>
            </a:r>
            <a:r>
              <a:rPr lang="en-IE" sz="2400" b="1">
                <a:solidFill>
                  <a:srgbClr val="000000"/>
                </a:solidFill>
              </a:rPr>
              <a:t>, 32.5 rads s</a:t>
            </a:r>
            <a:r>
              <a:rPr lang="en-IE" sz="2400" b="1" baseline="33000">
                <a:solidFill>
                  <a:srgbClr val="000000"/>
                </a:solidFill>
              </a:rPr>
              <a:t>-1</a:t>
            </a:r>
            <a:r>
              <a:rPr lang="en-IE" sz="2400" b="1">
                <a:solidFill>
                  <a:srgbClr val="000000"/>
                </a:solidFill>
              </a:rPr>
              <a:t>, 42.25 ms</a:t>
            </a:r>
            <a:r>
              <a:rPr lang="en-IE" sz="2400" b="1" baseline="33000">
                <a:solidFill>
                  <a:srgbClr val="000000"/>
                </a:solidFill>
              </a:rPr>
              <a:t>-1</a:t>
            </a:r>
            <a:r>
              <a:rPr lang="en-IE" sz="2400" b="1">
                <a:solidFill>
                  <a:srgbClr val="000000"/>
                </a:solidFill>
              </a:rPr>
              <a:t>, 44.69ms</a:t>
            </a:r>
            <a:r>
              <a:rPr lang="en-IE" sz="2400" b="1" baseline="33000">
                <a:solidFill>
                  <a:srgbClr val="000000"/>
                </a:solidFill>
              </a:rPr>
              <a:t>-2</a:t>
            </a:r>
            <a:r>
              <a:rPr lang="en-IE" sz="2400" b="1">
                <a:solidFill>
                  <a:srgbClr val="000000"/>
                </a:solidFill>
              </a:rPr>
              <a:t>]</a:t>
            </a:r>
          </a:p>
        </p:txBody>
      </p:sp>
      <p:sp>
        <p:nvSpPr>
          <p:cNvPr id="7475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B0C93B47-67E4-468D-9127-CBFB231898F6}"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8</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8</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359792" y="1115541"/>
            <a:ext cx="9067800" cy="4536504"/>
          </a:xfrm>
        </p:spPr>
        <p:txBody>
          <a:bodyPr/>
          <a:lstStyle/>
          <a:p>
            <a:r>
              <a:rPr lang="en-IE" i="1" u="sng" dirty="0">
                <a:solidFill>
                  <a:srgbClr val="002060"/>
                </a:solidFill>
              </a:rPr>
              <a:t>Speed (v) </a:t>
            </a:r>
            <a:endParaRPr lang="en-IE" dirty="0">
              <a:solidFill>
                <a:srgbClr val="002060"/>
              </a:solidFill>
            </a:endParaRPr>
          </a:p>
          <a:p>
            <a:r>
              <a:rPr lang="en-IE" dirty="0">
                <a:solidFill>
                  <a:srgbClr val="002060"/>
                </a:solidFill>
              </a:rPr>
              <a:t>The speed is distance divided by the time</a:t>
            </a:r>
          </a:p>
          <a:p>
            <a:endParaRPr lang="en-IE" dirty="0">
              <a:solidFill>
                <a:srgbClr val="002060"/>
              </a:solidFill>
            </a:endParaRPr>
          </a:p>
          <a:p>
            <a:r>
              <a:rPr lang="en-IE" i="1" u="sng" dirty="0">
                <a:solidFill>
                  <a:srgbClr val="002060"/>
                </a:solidFill>
              </a:rPr>
              <a:t>Acceleration (</a:t>
            </a:r>
            <a:r>
              <a:rPr lang="en-IE" i="1" u="sng" dirty="0" err="1">
                <a:solidFill>
                  <a:srgbClr val="002060"/>
                </a:solidFill>
              </a:rPr>
              <a:t>a</a:t>
            </a:r>
            <a:r>
              <a:rPr lang="en-IE" i="1" u="sng" baseline="-25000" dirty="0" err="1">
                <a:solidFill>
                  <a:srgbClr val="002060"/>
                </a:solidFill>
              </a:rPr>
              <a:t>r</a:t>
            </a:r>
            <a:r>
              <a:rPr lang="en-IE" i="1" u="sng" dirty="0">
                <a:solidFill>
                  <a:srgbClr val="002060"/>
                </a:solidFill>
              </a:rPr>
              <a:t>)</a:t>
            </a:r>
            <a:endParaRPr lang="en-IE" dirty="0">
              <a:solidFill>
                <a:srgbClr val="002060"/>
              </a:solidFill>
            </a:endParaRPr>
          </a:p>
          <a:p>
            <a:r>
              <a:rPr lang="en-IE" dirty="0">
                <a:solidFill>
                  <a:srgbClr val="002060"/>
                </a:solidFill>
              </a:rPr>
              <a:t>Acceleration has units of m/s</a:t>
            </a:r>
            <a:r>
              <a:rPr lang="en-IE" baseline="30000" dirty="0">
                <a:solidFill>
                  <a:srgbClr val="002060"/>
                </a:solidFill>
              </a:rPr>
              <a:t>2 </a:t>
            </a:r>
            <a:r>
              <a:rPr lang="en-IE" dirty="0">
                <a:solidFill>
                  <a:srgbClr val="002060"/>
                </a:solidFill>
              </a:rPr>
              <a:t> and the magnitude</a:t>
            </a:r>
          </a:p>
          <a:p>
            <a:r>
              <a:rPr lang="en-IE" dirty="0">
                <a:solidFill>
                  <a:srgbClr val="002060"/>
                </a:solidFill>
              </a:rPr>
              <a:t>of the acceleration can be shown to be equal to </a:t>
            </a:r>
          </a:p>
          <a:p>
            <a:r>
              <a:rPr lang="en-IE" dirty="0">
                <a:solidFill>
                  <a:srgbClr val="002060"/>
                </a:solidFill>
              </a:rPr>
              <a:t> </a:t>
            </a:r>
          </a:p>
          <a:p>
            <a:pPr marL="428625" indent="-323850">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endParaRPr lang="en-IE" dirty="0">
              <a:solidFill>
                <a:srgbClr val="002060"/>
              </a:solidFill>
              <a:cs typeface="Arial" pitchFamily="34" charset="0"/>
            </a:endParaRPr>
          </a:p>
          <a:p>
            <a:pPr marL="342900" lvl="2" indent="-342900">
              <a:spcBef>
                <a:spcPct val="0"/>
              </a:spcBef>
              <a:spcAft>
                <a:spcPts val="1413"/>
              </a:spcAft>
            </a:pPr>
            <a:endParaRPr lang="en-IE" dirty="0">
              <a:latin typeface="DejaVu Sans"/>
            </a:endParaRPr>
          </a:p>
        </p:txBody>
      </p:sp>
      <p:sp>
        <p:nvSpPr>
          <p:cNvPr id="7" name="Text Box 3"/>
          <p:cNvSpPr txBox="1">
            <a:spLocks noChangeArrowheads="1"/>
          </p:cNvSpPr>
          <p:nvPr/>
        </p:nvSpPr>
        <p:spPr bwMode="auto">
          <a:xfrm>
            <a:off x="431800" y="899517"/>
            <a:ext cx="9070975" cy="4989513"/>
          </a:xfrm>
          <a:prstGeom prst="rect">
            <a:avLst/>
          </a:prstGeom>
          <a:noFill/>
          <a:ln w="9525">
            <a:noFill/>
            <a:round/>
            <a:headEnd/>
            <a:tailEnd/>
          </a:ln>
          <a:effectLst/>
        </p:spPr>
        <p:txBody>
          <a:bodyPr lIns="0" tIns="0" rIns="0" bIns="0"/>
          <a:lstStyle/>
          <a:p>
            <a:pPr marL="428625" indent="-323850">
              <a:spcAft>
                <a:spcPts val="1413"/>
              </a:spcAft>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endParaRPr lang="en-IE" sz="3200" dirty="0">
              <a:solidFill>
                <a:srgbClr val="002060"/>
              </a:solidFill>
              <a:cs typeface="Arial" pitchFamily="34" charset="0"/>
            </a:endParaRPr>
          </a:p>
        </p:txBody>
      </p:sp>
      <p:sp>
        <p:nvSpPr>
          <p:cNvPr id="53249" name="Text Box 1"/>
          <p:cNvSpPr txBox="1">
            <a:spLocks noChangeArrowheads="1"/>
          </p:cNvSpPr>
          <p:nvPr/>
        </p:nvSpPr>
        <p:spPr bwMode="auto">
          <a:xfrm>
            <a:off x="7226300" y="6886575"/>
            <a:ext cx="2346325" cy="519113"/>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6D878696-F97C-4D04-B7BE-458328F03942}"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9</a:t>
            </a:fld>
            <a:endParaRPr lang="en-IE" sz="1400">
              <a:solidFill>
                <a:srgbClr val="000000"/>
              </a:solidFill>
              <a:latin typeface="Times New Roman" pitchFamily="18" charset="0"/>
            </a:endParaRPr>
          </a:p>
        </p:txBody>
      </p:sp>
      <p:graphicFrame>
        <p:nvGraphicFramePr>
          <p:cNvPr id="53251" name="Object 3"/>
          <p:cNvGraphicFramePr>
            <a:graphicFrameLocks noChangeAspect="1"/>
          </p:cNvGraphicFramePr>
          <p:nvPr/>
        </p:nvGraphicFramePr>
        <p:xfrm>
          <a:off x="2808064" y="2195661"/>
          <a:ext cx="4879975" cy="1019175"/>
        </p:xfrm>
        <a:graphic>
          <a:graphicData uri="http://schemas.openxmlformats.org/presentationml/2006/ole">
            <mc:AlternateContent xmlns:mc="http://schemas.openxmlformats.org/markup-compatibility/2006">
              <mc:Choice xmlns:v="urn:schemas-microsoft-com:vml" Requires="v">
                <p:oleObj name="Equation" r:id="rId3" imgW="1396800" imgH="393480" progId="Equation.3">
                  <p:embed/>
                </p:oleObj>
              </mc:Choice>
              <mc:Fallback>
                <p:oleObj name="Equation" r:id="rId3" imgW="1396800" imgH="393480" progId="Equation.3">
                  <p:embed/>
                  <p:pic>
                    <p:nvPicPr>
                      <p:cNvPr id="53251"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8064" y="2195661"/>
                        <a:ext cx="4879975" cy="1019175"/>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graphicFrame>
        <p:nvGraphicFramePr>
          <p:cNvPr id="53252" name="Object 4"/>
          <p:cNvGraphicFramePr>
            <a:graphicFrameLocks noChangeAspect="1"/>
          </p:cNvGraphicFramePr>
          <p:nvPr/>
        </p:nvGraphicFramePr>
        <p:xfrm>
          <a:off x="3422650" y="4811713"/>
          <a:ext cx="2732088" cy="2112962"/>
        </p:xfrm>
        <a:graphic>
          <a:graphicData uri="http://schemas.openxmlformats.org/presentationml/2006/ole">
            <mc:AlternateContent xmlns:mc="http://schemas.openxmlformats.org/markup-compatibility/2006">
              <mc:Choice xmlns:v="urn:schemas-microsoft-com:vml" Requires="v">
                <p:oleObj name="Equation" r:id="rId5" imgW="596880" imgH="901440" progId="Equation.3">
                  <p:embed/>
                </p:oleObj>
              </mc:Choice>
              <mc:Fallback>
                <p:oleObj name="Equation" r:id="rId5" imgW="596880" imgH="901440" progId="Equation.3">
                  <p:embed/>
                  <p:pic>
                    <p:nvPicPr>
                      <p:cNvPr id="53252"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2650" y="4811713"/>
                        <a:ext cx="2732088" cy="2112962"/>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8" name="Title 7"/>
          <p:cNvSpPr>
            <a:spLocks noGrp="1"/>
          </p:cNvSpPr>
          <p:nvPr>
            <p:ph type="title"/>
          </p:nvPr>
        </p:nvSpPr>
        <p:spPr>
          <a:xfrm>
            <a:off x="431800" y="0"/>
            <a:ext cx="9067800" cy="1257300"/>
          </a:xfrm>
        </p:spPr>
        <p:txBody>
          <a:bodyPr/>
          <a:lstStyle/>
          <a:p>
            <a:r>
              <a:rPr lang="en-IE" dirty="0"/>
              <a:t>Speed and Acceleration on a Circle</a:t>
            </a:r>
          </a:p>
        </p:txBody>
      </p:sp>
      <p:sp>
        <p:nvSpPr>
          <p:cNvPr id="6" name="Slide Number Placeholder 5"/>
          <p:cNvSpPr>
            <a:spLocks noGrp="1"/>
          </p:cNvSpPr>
          <p:nvPr>
            <p:ph type="sldNum" idx="10"/>
          </p:nvPr>
        </p:nvSpPr>
        <p:spPr/>
        <p:txBody>
          <a:bodyPr/>
          <a:lstStyle/>
          <a:p>
            <a:fld id="{FE851EA8-346B-4082-9734-32D7F48A3BF1}" type="slidenum">
              <a:rPr lang="en-IE" smtClean="0"/>
              <a:pPr/>
              <a:t>9</a:t>
            </a:fld>
            <a:endParaRPr lang="en-IE" dirty="0"/>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359792" y="1907629"/>
            <a:ext cx="9067800" cy="3744416"/>
          </a:xfrm>
        </p:spPr>
        <p:txBody>
          <a:bodyPr/>
          <a:lstStyle/>
          <a:p>
            <a:pPr marL="342900" lvl="2" indent="-342900">
              <a:spcBef>
                <a:spcPct val="0"/>
              </a:spcBef>
              <a:spcAft>
                <a:spcPts val="1413"/>
              </a:spcAft>
              <a:buFont typeface="Arial" pitchFamily="34" charset="0"/>
              <a:buChar char="•"/>
            </a:pPr>
            <a:r>
              <a:rPr lang="en-IE" sz="2800" dirty="0">
                <a:solidFill>
                  <a:srgbClr val="002060"/>
                </a:solidFill>
              </a:rPr>
              <a:t>There are two types of acceleration in circular motion</a:t>
            </a:r>
          </a:p>
          <a:p>
            <a:pPr marL="800100" lvl="3" indent="-342900">
              <a:spcBef>
                <a:spcPct val="0"/>
              </a:spcBef>
              <a:spcAft>
                <a:spcPts val="1413"/>
              </a:spcAft>
              <a:buFont typeface="Arial" pitchFamily="34" charset="0"/>
              <a:buChar char="•"/>
            </a:pPr>
            <a:r>
              <a:rPr lang="en-IE" sz="2400" dirty="0">
                <a:solidFill>
                  <a:srgbClr val="002060"/>
                </a:solidFill>
              </a:rPr>
              <a:t>Radial</a:t>
            </a:r>
          </a:p>
          <a:p>
            <a:pPr marL="800100" lvl="3" indent="-342900">
              <a:spcBef>
                <a:spcPct val="0"/>
              </a:spcBef>
              <a:spcAft>
                <a:spcPts val="1413"/>
              </a:spcAft>
              <a:buFont typeface="Arial" pitchFamily="34" charset="0"/>
              <a:buChar char="•"/>
            </a:pPr>
            <a:r>
              <a:rPr lang="en-IE" sz="2400" dirty="0">
                <a:solidFill>
                  <a:srgbClr val="002060"/>
                </a:solidFill>
              </a:rPr>
              <a:t>Tangential</a:t>
            </a:r>
          </a:p>
          <a:p>
            <a:pPr marL="342900" lvl="2" indent="-342900">
              <a:spcBef>
                <a:spcPct val="0"/>
              </a:spcBef>
              <a:spcAft>
                <a:spcPts val="1413"/>
              </a:spcAft>
              <a:buFont typeface="Arial" pitchFamily="34" charset="0"/>
              <a:buChar char="•"/>
            </a:pPr>
            <a:r>
              <a:rPr lang="en-IE" sz="2800" dirty="0">
                <a:solidFill>
                  <a:srgbClr val="002060"/>
                </a:solidFill>
              </a:rPr>
              <a:t>The radial acceleration is the </a:t>
            </a:r>
            <a:r>
              <a:rPr lang="en-IE" sz="2800" dirty="0" err="1">
                <a:solidFill>
                  <a:srgbClr val="002060"/>
                </a:solidFill>
              </a:rPr>
              <a:t>a</a:t>
            </a:r>
            <a:r>
              <a:rPr lang="en-IE" sz="2800" baseline="-25000" dirty="0" err="1">
                <a:solidFill>
                  <a:srgbClr val="002060"/>
                </a:solidFill>
              </a:rPr>
              <a:t>r</a:t>
            </a:r>
            <a:r>
              <a:rPr lang="en-IE" sz="2800" dirty="0">
                <a:solidFill>
                  <a:srgbClr val="002060"/>
                </a:solidFill>
              </a:rPr>
              <a:t>=</a:t>
            </a:r>
            <a:r>
              <a:rPr lang="el-GR" sz="2800" dirty="0">
                <a:solidFill>
                  <a:srgbClr val="002060"/>
                </a:solidFill>
              </a:rPr>
              <a:t>ω</a:t>
            </a:r>
            <a:r>
              <a:rPr lang="en-IE" sz="2800" baseline="30000" dirty="0">
                <a:solidFill>
                  <a:srgbClr val="002060"/>
                </a:solidFill>
              </a:rPr>
              <a:t>2</a:t>
            </a:r>
            <a:r>
              <a:rPr lang="en-IE" sz="2800" dirty="0">
                <a:solidFill>
                  <a:srgbClr val="002060"/>
                </a:solidFill>
              </a:rPr>
              <a:t>r feature we just described</a:t>
            </a:r>
          </a:p>
          <a:p>
            <a:pPr marL="800100" lvl="3" indent="-342900">
              <a:spcBef>
                <a:spcPct val="0"/>
              </a:spcBef>
              <a:spcAft>
                <a:spcPts val="1413"/>
              </a:spcAft>
              <a:buFont typeface="Arial" pitchFamily="34" charset="0"/>
              <a:buChar char="•"/>
            </a:pPr>
            <a:r>
              <a:rPr lang="en-IE" sz="2400" dirty="0">
                <a:solidFill>
                  <a:srgbClr val="002060"/>
                </a:solidFill>
              </a:rPr>
              <a:t>Changes direction of object as it moves on the circle</a:t>
            </a:r>
          </a:p>
          <a:p>
            <a:pPr marL="342900" lvl="2" indent="-342900">
              <a:spcBef>
                <a:spcPct val="0"/>
              </a:spcBef>
              <a:spcAft>
                <a:spcPts val="1413"/>
              </a:spcAft>
              <a:buFont typeface="Arial" pitchFamily="34" charset="0"/>
              <a:buChar char="•"/>
            </a:pPr>
            <a:r>
              <a:rPr lang="en-IE" sz="2800" dirty="0">
                <a:solidFill>
                  <a:srgbClr val="002060"/>
                </a:solidFill>
              </a:rPr>
              <a:t>The tangential acceleration, a</a:t>
            </a:r>
            <a:r>
              <a:rPr lang="en-IE" sz="2800" baseline="-25000" dirty="0">
                <a:solidFill>
                  <a:srgbClr val="002060"/>
                </a:solidFill>
              </a:rPr>
              <a:t>t</a:t>
            </a:r>
            <a:r>
              <a:rPr lang="en-IE" sz="2800" dirty="0">
                <a:solidFill>
                  <a:srgbClr val="002060"/>
                </a:solidFill>
              </a:rPr>
              <a:t>, is connected to angular acceleration</a:t>
            </a:r>
          </a:p>
          <a:p>
            <a:pPr marL="800100" lvl="3" indent="-342900">
              <a:spcBef>
                <a:spcPct val="0"/>
              </a:spcBef>
              <a:spcAft>
                <a:spcPts val="1413"/>
              </a:spcAft>
              <a:buFont typeface="Arial" pitchFamily="34" charset="0"/>
              <a:buChar char="•"/>
            </a:pPr>
            <a:r>
              <a:rPr lang="en-IE" sz="2400" dirty="0">
                <a:solidFill>
                  <a:srgbClr val="002060"/>
                </a:solidFill>
              </a:rPr>
              <a:t>Changes speed of object, faster or slower</a:t>
            </a:r>
          </a:p>
          <a:p>
            <a:pPr marL="342900" lvl="2" indent="-342900">
              <a:spcBef>
                <a:spcPct val="0"/>
              </a:spcBef>
              <a:spcAft>
                <a:spcPts val="1413"/>
              </a:spcAft>
              <a:buFont typeface="Arial" pitchFamily="34" charset="0"/>
              <a:buChar char="•"/>
            </a:pPr>
            <a:r>
              <a:rPr lang="en-IE" sz="2800" dirty="0">
                <a:solidFill>
                  <a:srgbClr val="002060"/>
                </a:solidFill>
              </a:rPr>
              <a:t>Just like v = </a:t>
            </a:r>
            <a:r>
              <a:rPr lang="en-IE" sz="2800" dirty="0" err="1">
                <a:solidFill>
                  <a:srgbClr val="002060"/>
                </a:solidFill>
              </a:rPr>
              <a:t>ωr</a:t>
            </a:r>
            <a:r>
              <a:rPr lang="en-IE" sz="2800" dirty="0">
                <a:solidFill>
                  <a:srgbClr val="002060"/>
                </a:solidFill>
              </a:rPr>
              <a:t> for angular velocity, we get a</a:t>
            </a:r>
            <a:r>
              <a:rPr lang="en-IE" sz="2800" baseline="-25000" dirty="0">
                <a:solidFill>
                  <a:srgbClr val="002060"/>
                </a:solidFill>
              </a:rPr>
              <a:t>t</a:t>
            </a:r>
            <a:r>
              <a:rPr lang="en-IE" sz="2800" dirty="0">
                <a:solidFill>
                  <a:srgbClr val="002060"/>
                </a:solidFill>
              </a:rPr>
              <a:t> = </a:t>
            </a:r>
            <a:r>
              <a:rPr lang="en-IE" sz="2800" dirty="0" err="1">
                <a:solidFill>
                  <a:srgbClr val="002060"/>
                </a:solidFill>
              </a:rPr>
              <a:t>αr</a:t>
            </a:r>
            <a:endParaRPr lang="en-IE" sz="2800" dirty="0">
              <a:solidFill>
                <a:srgbClr val="002060"/>
              </a:solidFill>
            </a:endParaRPr>
          </a:p>
          <a:p>
            <a:pPr marL="342900" lvl="2" indent="-342900">
              <a:spcBef>
                <a:spcPct val="0"/>
              </a:spcBef>
              <a:spcAft>
                <a:spcPts val="1413"/>
              </a:spcAft>
            </a:pPr>
            <a:endParaRPr lang="en-IE" sz="2000" dirty="0">
              <a:latin typeface="DejaVu Sans"/>
            </a:endParaRPr>
          </a:p>
        </p:txBody>
      </p:sp>
      <p:sp>
        <p:nvSpPr>
          <p:cNvPr id="7" name="Text Box 3"/>
          <p:cNvSpPr txBox="1">
            <a:spLocks noChangeArrowheads="1"/>
          </p:cNvSpPr>
          <p:nvPr/>
        </p:nvSpPr>
        <p:spPr bwMode="auto">
          <a:xfrm>
            <a:off x="431800" y="899517"/>
            <a:ext cx="9070975" cy="4989513"/>
          </a:xfrm>
          <a:prstGeom prst="rect">
            <a:avLst/>
          </a:prstGeom>
          <a:noFill/>
          <a:ln w="9525">
            <a:noFill/>
            <a:round/>
            <a:headEnd/>
            <a:tailEnd/>
          </a:ln>
          <a:effectLst/>
        </p:spPr>
        <p:txBody>
          <a:bodyPr lIns="0" tIns="0" rIns="0" bIns="0"/>
          <a:lstStyle/>
          <a:p>
            <a:pPr marL="428625" indent="-323850">
              <a:spcAft>
                <a:spcPts val="1413"/>
              </a:spcAft>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endParaRPr lang="en-IE" sz="3200" dirty="0">
              <a:solidFill>
                <a:srgbClr val="002060"/>
              </a:solidFill>
              <a:cs typeface="Arial" pitchFamily="34" charset="0"/>
            </a:endParaRPr>
          </a:p>
        </p:txBody>
      </p:sp>
      <p:sp>
        <p:nvSpPr>
          <p:cNvPr id="53249" name="Text Box 1"/>
          <p:cNvSpPr txBox="1">
            <a:spLocks noChangeArrowheads="1"/>
          </p:cNvSpPr>
          <p:nvPr/>
        </p:nvSpPr>
        <p:spPr bwMode="auto">
          <a:xfrm>
            <a:off x="7226300" y="6886575"/>
            <a:ext cx="2346325" cy="519113"/>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6D878696-F97C-4D04-B7BE-458328F03942}"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10</a:t>
            </a:fld>
            <a:endParaRPr lang="en-IE" sz="1400">
              <a:solidFill>
                <a:srgbClr val="000000"/>
              </a:solidFill>
              <a:latin typeface="Times New Roman" pitchFamily="18" charset="0"/>
            </a:endParaRPr>
          </a:p>
        </p:txBody>
      </p:sp>
      <p:sp>
        <p:nvSpPr>
          <p:cNvPr id="8" name="Title 7"/>
          <p:cNvSpPr>
            <a:spLocks noGrp="1"/>
          </p:cNvSpPr>
          <p:nvPr>
            <p:ph type="title"/>
          </p:nvPr>
        </p:nvSpPr>
        <p:spPr>
          <a:xfrm>
            <a:off x="431800" y="323453"/>
            <a:ext cx="9067800" cy="1257300"/>
          </a:xfrm>
        </p:spPr>
        <p:txBody>
          <a:bodyPr/>
          <a:lstStyle/>
          <a:p>
            <a:r>
              <a:rPr lang="en-IE" dirty="0"/>
              <a:t>Speed and Acceleration on a Circle</a:t>
            </a:r>
            <a:br>
              <a:rPr lang="en-IE" dirty="0"/>
            </a:br>
            <a:r>
              <a:rPr lang="en-IE" dirty="0"/>
              <a:t>Tangential and Radial Acceleration</a:t>
            </a:r>
          </a:p>
        </p:txBody>
      </p:sp>
      <p:sp>
        <p:nvSpPr>
          <p:cNvPr id="6" name="Slide Number Placeholder 5"/>
          <p:cNvSpPr>
            <a:spLocks noGrp="1"/>
          </p:cNvSpPr>
          <p:nvPr>
            <p:ph type="sldNum" idx="10"/>
          </p:nvPr>
        </p:nvSpPr>
        <p:spPr>
          <a:xfrm>
            <a:off x="9000752" y="6886575"/>
            <a:ext cx="570286" cy="517525"/>
          </a:xfrm>
        </p:spPr>
        <p:txBody>
          <a:bodyPr/>
          <a:lstStyle/>
          <a:p>
            <a:fld id="{FE851EA8-346B-4082-9734-32D7F48A3BF1}" type="slidenum">
              <a:rPr lang="en-IE" smtClean="0"/>
              <a:pPr/>
              <a:t>10</a:t>
            </a:fld>
            <a:endParaRPr lang="en-IE" dirty="0"/>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ext Box 1"/>
          <p:cNvSpPr txBox="1">
            <a:spLocks noChangeArrowheads="1"/>
          </p:cNvSpPr>
          <p:nvPr/>
        </p:nvSpPr>
        <p:spPr bwMode="auto">
          <a:xfrm>
            <a:off x="7226300" y="6886575"/>
            <a:ext cx="2346325" cy="519113"/>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37F7E0F-BB46-4D7F-9942-1C1D31C5A020}"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11</a:t>
            </a:fld>
            <a:endParaRPr lang="en-IE" sz="1400">
              <a:solidFill>
                <a:srgbClr val="000000"/>
              </a:solidFill>
              <a:latin typeface="Times New Roman" pitchFamily="18" charset="0"/>
            </a:endParaRPr>
          </a:p>
        </p:txBody>
      </p:sp>
      <p:sp>
        <p:nvSpPr>
          <p:cNvPr id="54274" name="Text Box 2"/>
          <p:cNvSpPr txBox="1">
            <a:spLocks noChangeArrowheads="1"/>
          </p:cNvSpPr>
          <p:nvPr/>
        </p:nvSpPr>
        <p:spPr bwMode="auto">
          <a:xfrm>
            <a:off x="200025" y="467469"/>
            <a:ext cx="8915400" cy="4063256"/>
          </a:xfrm>
          <a:prstGeom prst="rect">
            <a:avLst/>
          </a:prstGeom>
          <a:noFill/>
          <a:ln w="9525">
            <a:noFill/>
            <a:round/>
            <a:headEnd/>
            <a:tailEnd/>
          </a:ln>
          <a:effectLst/>
        </p:spPr>
        <p:txBody>
          <a:bodyPr lIns="90360" tIns="44280" rIns="90360" bIns="44280"/>
          <a:lstStyle/>
          <a:p>
            <a:pPr marL="342900" indent="-338138">
              <a:spcBef>
                <a:spcPts val="800"/>
              </a:spcBef>
              <a:buClrTx/>
              <a:buSzPct val="7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pPr>
            <a:r>
              <a:rPr lang="en-IE" sz="3200" u="sng" dirty="0">
                <a:solidFill>
                  <a:srgbClr val="1F497D"/>
                </a:solidFill>
              </a:rPr>
              <a:t>Centrifuge</a:t>
            </a:r>
          </a:p>
          <a:p>
            <a:pPr marL="342900" indent="-338138">
              <a:spcBef>
                <a:spcPts val="800"/>
              </a:spcBef>
              <a:buClrTx/>
              <a:buSzPct val="70000"/>
              <a:buFontTx/>
              <a:buNone/>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pPr>
            <a:endParaRPr lang="en-IE" sz="3200" dirty="0">
              <a:solidFill>
                <a:srgbClr val="1F497D"/>
              </a:solidFill>
            </a:endParaRPr>
          </a:p>
          <a:p>
            <a:pPr marL="342900" indent="-338138">
              <a:spcBef>
                <a:spcPts val="800"/>
              </a:spcBef>
              <a:buClr>
                <a:srgbClr val="1F497D"/>
              </a:buClr>
              <a:buSzPct val="45000"/>
              <a:buFont typeface="Wingdings" pitchFamily="2" charset="2"/>
              <a:buChar cha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pPr>
            <a:r>
              <a:rPr lang="en-IE" sz="3200" dirty="0">
                <a:solidFill>
                  <a:srgbClr val="1F497D"/>
                </a:solidFill>
              </a:rPr>
              <a:t>The centripetal acceleration of the chamber points </a:t>
            </a:r>
            <a:r>
              <a:rPr lang="en-IE" sz="3200" dirty="0" err="1">
                <a:solidFill>
                  <a:srgbClr val="1F497D"/>
                </a:solidFill>
              </a:rPr>
              <a:t>radially</a:t>
            </a:r>
            <a:r>
              <a:rPr lang="en-IE" sz="3200" dirty="0">
                <a:solidFill>
                  <a:srgbClr val="1F497D"/>
                </a:solidFill>
              </a:rPr>
              <a:t> inwards</a:t>
            </a:r>
          </a:p>
          <a:p>
            <a:pPr marL="342900" indent="-338138">
              <a:spcBef>
                <a:spcPts val="800"/>
              </a:spcBef>
              <a:buClr>
                <a:srgbClr val="1F497D"/>
              </a:buClr>
              <a:buSzPct val="45000"/>
              <a:buFont typeface="Wingdings" pitchFamily="2" charset="2"/>
              <a:buChar cha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pPr>
            <a:r>
              <a:rPr lang="en-IE" sz="3200" dirty="0">
                <a:solidFill>
                  <a:srgbClr val="1F497D"/>
                </a:solidFill>
              </a:rPr>
              <a:t>However a particle inside the chamber is not directly subjected to the centripetal force</a:t>
            </a:r>
          </a:p>
          <a:p>
            <a:pPr marL="342900" indent="-338138">
              <a:spcBef>
                <a:spcPts val="800"/>
              </a:spcBef>
              <a:buClr>
                <a:srgbClr val="1F497D"/>
              </a:buClr>
              <a:buSzPct val="45000"/>
              <a:buFont typeface="Wingdings" pitchFamily="2" charset="2"/>
              <a:buChar cha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pPr>
            <a:r>
              <a:rPr lang="en-IE" sz="3200" dirty="0">
                <a:solidFill>
                  <a:srgbClr val="1F497D"/>
                </a:solidFill>
              </a:rPr>
              <a:t>It has an acceleration relative to the chamber of v</a:t>
            </a:r>
            <a:r>
              <a:rPr lang="en-IE" sz="3200" dirty="0">
                <a:solidFill>
                  <a:srgbClr val="1F497D"/>
                </a:solidFill>
                <a:latin typeface="Symbol" pitchFamily="18" charset="2"/>
              </a:rPr>
              <a:t></a:t>
            </a:r>
            <a:r>
              <a:rPr lang="en-IE" sz="3200" dirty="0">
                <a:solidFill>
                  <a:srgbClr val="1F497D"/>
                </a:solidFill>
              </a:rPr>
              <a:t> directed outwards</a:t>
            </a:r>
          </a:p>
          <a:p>
            <a:pPr marL="342900" indent="-338138">
              <a:spcBef>
                <a:spcPts val="800"/>
              </a:spcBef>
              <a:buClr>
                <a:srgbClr val="1F497D"/>
              </a:buClr>
              <a:buSzPct val="45000"/>
              <a:buFont typeface="Wingdings" pitchFamily="2" charset="2"/>
              <a:buChar cha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pPr>
            <a:r>
              <a:rPr lang="en-IE" sz="3200" dirty="0">
                <a:solidFill>
                  <a:srgbClr val="1F497D"/>
                </a:solidFill>
              </a:rPr>
              <a:t>This is called centrifugal acceleration</a:t>
            </a:r>
          </a:p>
        </p:txBody>
      </p:sp>
      <p:sp>
        <p:nvSpPr>
          <p:cNvPr id="4" name="Slide Number Placeholder 3"/>
          <p:cNvSpPr>
            <a:spLocks noGrp="1"/>
          </p:cNvSpPr>
          <p:nvPr>
            <p:ph type="sldNum" idx="10"/>
          </p:nvPr>
        </p:nvSpPr>
        <p:spPr/>
        <p:txBody>
          <a:bodyPr/>
          <a:lstStyle/>
          <a:p>
            <a:fld id="{FE851EA8-346B-4082-9734-32D7F48A3BF1}" type="slidenum">
              <a:rPr lang="en-IE" smtClean="0"/>
              <a:pPr/>
              <a:t>11</a:t>
            </a:fld>
            <a:endParaRPr lang="en-IE"/>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ext Box 1"/>
          <p:cNvSpPr txBox="1">
            <a:spLocks noChangeArrowheads="1"/>
          </p:cNvSpPr>
          <p:nvPr/>
        </p:nvSpPr>
        <p:spPr bwMode="auto">
          <a:xfrm>
            <a:off x="7226300" y="6886575"/>
            <a:ext cx="2346325" cy="519113"/>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F1117128-597A-483E-BCEA-069851E82EB2}"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12</a:t>
            </a:fld>
            <a:endParaRPr lang="en-IE" sz="1400">
              <a:solidFill>
                <a:srgbClr val="000000"/>
              </a:solidFill>
              <a:latin typeface="Times New Roman" pitchFamily="18" charset="0"/>
            </a:endParaRPr>
          </a:p>
        </p:txBody>
      </p:sp>
      <p:sp>
        <p:nvSpPr>
          <p:cNvPr id="55298" name="Text Box 2"/>
          <p:cNvSpPr txBox="1">
            <a:spLocks noChangeArrowheads="1"/>
          </p:cNvSpPr>
          <p:nvPr/>
        </p:nvSpPr>
        <p:spPr bwMode="auto">
          <a:xfrm>
            <a:off x="415925" y="260350"/>
            <a:ext cx="9074150" cy="4176713"/>
          </a:xfrm>
          <a:prstGeom prst="rect">
            <a:avLst/>
          </a:prstGeom>
          <a:noFill/>
          <a:ln w="9525">
            <a:noFill/>
            <a:round/>
            <a:headEnd/>
            <a:tailEnd/>
          </a:ln>
          <a:effectLst/>
        </p:spPr>
        <p:txBody>
          <a:bodyPr lIns="90360" tIns="44280" rIns="90360" bIns="44280"/>
          <a:lstStyle/>
          <a:p>
            <a:pPr marL="428625" indent="-323850">
              <a:spcBef>
                <a:spcPts val="800"/>
              </a:spcBef>
              <a:buClr>
                <a:srgbClr val="1F497D"/>
              </a:buClr>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a:solidFill>
                  <a:srgbClr val="1F497D"/>
                </a:solidFill>
              </a:rPr>
              <a:t>The types of materials placed in a centrifuge are those that do not sediment quickly under the action of gravity</a:t>
            </a:r>
          </a:p>
          <a:p>
            <a:pPr marL="428625" indent="-323850">
              <a:spcBef>
                <a:spcPts val="800"/>
              </a:spcBef>
              <a:buClr>
                <a:srgbClr val="1F497D"/>
              </a:buClr>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a:solidFill>
                  <a:srgbClr val="1F497D"/>
                </a:solidFill>
              </a:rPr>
              <a:t>Centrifugal acceleration plays the role of an artificial gravity acting on the particles suspended in the liquid in the chamber</a:t>
            </a:r>
          </a:p>
          <a:p>
            <a:pPr marL="428625" indent="-323850">
              <a:spcBef>
                <a:spcPts val="800"/>
              </a:spcBef>
              <a:buClr>
                <a:srgbClr val="1F497D"/>
              </a:buClr>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a:solidFill>
                  <a:srgbClr val="1F497D"/>
                </a:solidFill>
              </a:rPr>
              <a:t>Associated with the centrifugal acceleration is the centrifugal force which is IMAGINARY</a:t>
            </a:r>
          </a:p>
          <a:p>
            <a:pPr marL="428625" indent="-323850">
              <a:spcBef>
                <a:spcPts val="800"/>
              </a:spcBef>
              <a:buClr>
                <a:srgbClr val="1F497D"/>
              </a:buClr>
              <a:buSzPct val="45000"/>
              <a:buFont typeface="Wingdings" pitchFamily="2" charset="2"/>
              <a:buChar char=""/>
              <a:tabLst>
                <a:tab pos="428625" algn="l"/>
                <a:tab pos="876300" algn="l"/>
                <a:tab pos="1325563" algn="l"/>
                <a:tab pos="1774825" algn="l"/>
                <a:tab pos="2224088" algn="l"/>
                <a:tab pos="2673350" algn="l"/>
                <a:tab pos="3122613" algn="l"/>
                <a:tab pos="3571875" algn="l"/>
                <a:tab pos="4021138" algn="l"/>
                <a:tab pos="4470400" algn="l"/>
                <a:tab pos="4919663" algn="l"/>
                <a:tab pos="5368925" algn="l"/>
                <a:tab pos="5818188" algn="l"/>
                <a:tab pos="6267450" algn="l"/>
                <a:tab pos="6716713" algn="l"/>
                <a:tab pos="7165975" algn="l"/>
                <a:tab pos="7615238" algn="l"/>
                <a:tab pos="8064500" algn="l"/>
                <a:tab pos="8513763" algn="l"/>
                <a:tab pos="8963025" algn="l"/>
                <a:tab pos="9412288" algn="l"/>
              </a:tabLst>
            </a:pPr>
            <a:r>
              <a:rPr lang="en-IE" sz="3200">
                <a:solidFill>
                  <a:srgbClr val="1F497D"/>
                </a:solidFill>
              </a:rPr>
              <a:t>It appears as if the particle is being pushed outwards</a:t>
            </a:r>
          </a:p>
        </p:txBody>
      </p:sp>
      <p:sp>
        <p:nvSpPr>
          <p:cNvPr id="4" name="Slide Number Placeholder 3"/>
          <p:cNvSpPr>
            <a:spLocks noGrp="1"/>
          </p:cNvSpPr>
          <p:nvPr>
            <p:ph type="sldNum" idx="10"/>
          </p:nvPr>
        </p:nvSpPr>
        <p:spPr/>
        <p:txBody>
          <a:bodyPr/>
          <a:lstStyle/>
          <a:p>
            <a:fld id="{FE851EA8-346B-4082-9734-32D7F48A3BF1}" type="slidenum">
              <a:rPr lang="en-IE" smtClean="0"/>
              <a:pPr/>
              <a:t>12</a:t>
            </a:fld>
            <a:endParaRPr lang="en-IE"/>
          </a:p>
        </p:txBody>
      </p:sp>
    </p:spTree>
  </p:cSld>
  <p:clrMapOvr>
    <a:masterClrMapping/>
  </p:clrMapOvr>
  <p:transition/>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1583928" y="5724053"/>
            <a:ext cx="3384376" cy="64807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en-IE" sz="1800" b="0" i="0" u="none" strike="noStrike" cap="none" normalizeH="0" baseline="0">
              <a:ln>
                <a:noFill/>
              </a:ln>
              <a:solidFill>
                <a:schemeClr val="bg1"/>
              </a:solidFill>
              <a:effectLst/>
              <a:latin typeface="Arial" pitchFamily="34" charset="0"/>
              <a:ea typeface="DejaVu Sans"/>
              <a:cs typeface="DejaVu Sans"/>
            </a:endParaRPr>
          </a:p>
        </p:txBody>
      </p:sp>
      <p:sp>
        <p:nvSpPr>
          <p:cNvPr id="75777"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Moments of Inertia</a:t>
            </a:r>
          </a:p>
        </p:txBody>
      </p:sp>
      <p:sp>
        <p:nvSpPr>
          <p:cNvPr id="75778" name="Text Box 2"/>
          <p:cNvSpPr txBox="1">
            <a:spLocks noChangeArrowheads="1"/>
          </p:cNvSpPr>
          <p:nvPr/>
        </p:nvSpPr>
        <p:spPr bwMode="auto">
          <a:xfrm>
            <a:off x="431800" y="1116013"/>
            <a:ext cx="9070975" cy="57245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In linear momentum we multiplied mass by velocity to get the momentum</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There is an analogous quantity in circular motion</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We’ll replace the velocity by the angular velocity</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Need some rotational equivalent for the mass</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Need to factor in that some of the mass in a spinning system is pretty much stationary, stuff near the axis, while some is moving very fast, stuff far from the axis.</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Get </a:t>
            </a:r>
            <a:r>
              <a:rPr lang="en-IE" sz="2400" i="1" dirty="0">
                <a:solidFill>
                  <a:srgbClr val="000000"/>
                </a:solidFill>
              </a:rPr>
              <a:t>Moment of Inertia</a:t>
            </a:r>
            <a:r>
              <a:rPr lang="en-IE" sz="2400" dirty="0">
                <a:solidFill>
                  <a:srgbClr val="000000"/>
                </a:solidFill>
              </a:rPr>
              <a:t> which depends of size of each piece of mass and how far it is from the axis</a:t>
            </a:r>
          </a:p>
          <a:p>
            <a:pPr marL="741363" lvl="1" indent="-284163">
              <a:spcAft>
                <a:spcPts val="1413"/>
              </a:spcAft>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					I = </a:t>
            </a:r>
            <a:r>
              <a:rPr lang="en-IE" sz="2400" dirty="0">
                <a:solidFill>
                  <a:srgbClr val="000000"/>
                </a:solidFill>
                <a:latin typeface="DejaVu Sans"/>
              </a:rPr>
              <a:t>Σ</a:t>
            </a:r>
            <a:r>
              <a:rPr lang="en-IE" sz="2400" dirty="0">
                <a:solidFill>
                  <a:srgbClr val="000000"/>
                </a:solidFill>
              </a:rPr>
              <a:t>mr</a:t>
            </a:r>
            <a:r>
              <a:rPr lang="en-IE" sz="2400" baseline="33000" dirty="0">
                <a:solidFill>
                  <a:srgbClr val="000000"/>
                </a:solidFill>
              </a:rPr>
              <a:t>2</a:t>
            </a:r>
          </a:p>
        </p:txBody>
      </p:sp>
      <p:sp>
        <p:nvSpPr>
          <p:cNvPr id="75779"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1C29233-9871-433C-A60B-7DD60C0EE57D}"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13</a:t>
            </a:fld>
            <a:endParaRPr lang="en-IE" sz="1400">
              <a:solidFill>
                <a:srgbClr val="000000"/>
              </a:solidFill>
              <a:latin typeface="Times New Roman" pitchFamily="18" charset="0"/>
            </a:endParaRPr>
          </a:p>
        </p:txBody>
      </p:sp>
      <p:sp>
        <p:nvSpPr>
          <p:cNvPr id="6" name="Slide Number Placeholder 5"/>
          <p:cNvSpPr>
            <a:spLocks noGrp="1"/>
          </p:cNvSpPr>
          <p:nvPr>
            <p:ph type="sldNum" idx="10"/>
          </p:nvPr>
        </p:nvSpPr>
        <p:spPr/>
        <p:txBody>
          <a:bodyPr/>
          <a:lstStyle/>
          <a:p>
            <a:fld id="{FE851EA8-346B-4082-9734-32D7F48A3BF1}" type="slidenum">
              <a:rPr lang="en-IE" smtClean="0"/>
              <a:pPr/>
              <a:t>13</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Moments of Inertia</a:t>
            </a:r>
          </a:p>
        </p:txBody>
      </p:sp>
      <p:sp>
        <p:nvSpPr>
          <p:cNvPr id="76802" name="Text Box 2"/>
          <p:cNvSpPr txBox="1">
            <a:spLocks noChangeArrowheads="1"/>
          </p:cNvSpPr>
          <p:nvPr/>
        </p:nvSpPr>
        <p:spPr bwMode="auto">
          <a:xfrm>
            <a:off x="431800" y="1116013"/>
            <a:ext cx="9070975" cy="57245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Let's first examine how I depends of the shape of the object</a:t>
            </a:r>
          </a:p>
          <a:p>
            <a:pPr marL="741363" lvl="1" indent="-284163">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For a shell about its axis: I = MR</a:t>
            </a:r>
            <a:r>
              <a:rPr lang="en-IE" sz="2400" baseline="33000" dirty="0">
                <a:solidFill>
                  <a:srgbClr val="000000"/>
                </a:solidFill>
              </a:rPr>
              <a:t>2</a:t>
            </a:r>
          </a:p>
          <a:p>
            <a:pPr marL="741363" lvl="1" indent="-284163" hangingPunct="0">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For a solid cylinder about its axis: I = ½MR</a:t>
            </a:r>
            <a:r>
              <a:rPr lang="en-IE" sz="2400" baseline="33000" dirty="0">
                <a:solidFill>
                  <a:srgbClr val="000000"/>
                </a:solidFill>
              </a:rPr>
              <a:t>2</a:t>
            </a:r>
          </a:p>
          <a:p>
            <a:pPr marL="741363" lvl="1" indent="-284163" hangingPunct="0">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For a spherical shell about its diameter: I = </a:t>
            </a:r>
            <a:r>
              <a:rPr lang="en-IE" sz="2400" dirty="0">
                <a:solidFill>
                  <a:srgbClr val="000000"/>
                </a:solidFill>
                <a:latin typeface="DejaVu Sans"/>
              </a:rPr>
              <a:t>⅔</a:t>
            </a:r>
            <a:r>
              <a:rPr lang="en-IE" sz="2400" dirty="0">
                <a:solidFill>
                  <a:srgbClr val="000000"/>
                </a:solidFill>
              </a:rPr>
              <a:t> MR</a:t>
            </a:r>
            <a:r>
              <a:rPr lang="en-IE" sz="2400" baseline="33000" dirty="0">
                <a:solidFill>
                  <a:srgbClr val="000000"/>
                </a:solidFill>
              </a:rPr>
              <a:t>2</a:t>
            </a:r>
          </a:p>
          <a:p>
            <a:pPr marL="741363" lvl="1" indent="-284163" hangingPunct="0">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For a solid ball: I = </a:t>
            </a:r>
            <a:r>
              <a:rPr lang="en-IE" sz="2400" dirty="0">
                <a:solidFill>
                  <a:srgbClr val="000000"/>
                </a:solidFill>
                <a:latin typeface="Calibri"/>
              </a:rPr>
              <a:t>⅖</a:t>
            </a:r>
            <a:r>
              <a:rPr lang="en-IE" sz="2400" dirty="0">
                <a:solidFill>
                  <a:srgbClr val="000000"/>
                </a:solidFill>
              </a:rPr>
              <a:t>MR</a:t>
            </a:r>
            <a:r>
              <a:rPr lang="en-IE" sz="2400" baseline="33000" dirty="0">
                <a:solidFill>
                  <a:srgbClr val="000000"/>
                </a:solidFill>
              </a:rPr>
              <a:t>2</a:t>
            </a:r>
          </a:p>
          <a:p>
            <a:pPr marL="741363" lvl="1" indent="-284163" hangingPunct="0">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For a club about one end: I = </a:t>
            </a:r>
            <a:r>
              <a:rPr lang="en-IE" sz="2400" dirty="0">
                <a:solidFill>
                  <a:srgbClr val="000000"/>
                </a:solidFill>
                <a:latin typeface="DejaVu Sans"/>
              </a:rPr>
              <a:t>⅓</a:t>
            </a:r>
            <a:r>
              <a:rPr lang="en-IE" sz="2400" dirty="0">
                <a:solidFill>
                  <a:srgbClr val="000000"/>
                </a:solidFill>
              </a:rPr>
              <a:t> MR</a:t>
            </a:r>
            <a:r>
              <a:rPr lang="en-IE" sz="2400" baseline="33000" dirty="0">
                <a:solidFill>
                  <a:srgbClr val="000000"/>
                </a:solidFill>
              </a:rPr>
              <a:t>2</a:t>
            </a:r>
          </a:p>
        </p:txBody>
      </p:sp>
      <p:sp>
        <p:nvSpPr>
          <p:cNvPr id="76803"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05C150B7-9571-40EB-9B4C-12858390439D}"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14</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14</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Moments of Inertia - examples</a:t>
            </a:r>
          </a:p>
        </p:txBody>
      </p:sp>
      <p:sp>
        <p:nvSpPr>
          <p:cNvPr id="77826" name="Text Box 2"/>
          <p:cNvSpPr txBox="1">
            <a:spLocks noChangeArrowheads="1"/>
          </p:cNvSpPr>
          <p:nvPr/>
        </p:nvSpPr>
        <p:spPr bwMode="auto">
          <a:xfrm>
            <a:off x="431800" y="1116013"/>
            <a:ext cx="9070975" cy="57245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Calculate the moment of inertia of a golf ball, mass = 0.046kg, radius = 2.134cm</a:t>
            </a:r>
          </a:p>
          <a:p>
            <a:pPr marL="427038" indent="-322263" algn="ctr">
              <a:spcAft>
                <a:spcPts val="1413"/>
              </a:spcAft>
              <a:buFont typeface="Arial" pitchFamily="34" charset="0"/>
              <a:buNone/>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a:solidFill>
                  <a:srgbClr val="000000"/>
                </a:solidFill>
              </a:rPr>
              <a:t>[ 8.38x10</a:t>
            </a:r>
            <a:r>
              <a:rPr lang="en-IE" sz="2400" b="1" baseline="33000" dirty="0">
                <a:solidFill>
                  <a:srgbClr val="000000"/>
                </a:solidFill>
              </a:rPr>
              <a:t>-6</a:t>
            </a:r>
            <a:r>
              <a:rPr lang="en-IE" sz="2400" b="1" dirty="0">
                <a:solidFill>
                  <a:srgbClr val="000000"/>
                </a:solidFill>
              </a:rPr>
              <a:t>kgm</a:t>
            </a:r>
            <a:r>
              <a:rPr lang="en-IE" sz="2400" b="1" baseline="33000" dirty="0">
                <a:solidFill>
                  <a:srgbClr val="000000"/>
                </a:solidFill>
              </a:rPr>
              <a:t>2</a:t>
            </a:r>
            <a:r>
              <a:rPr lang="en-IE" sz="2400" b="1" dirty="0">
                <a:solidFill>
                  <a:srgbClr val="000000"/>
                </a:solidFill>
              </a:rPr>
              <a:t>]</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 Calculate the moment of inertia of a tennis ball, mass = 0.0567kg, radius = 3.35cm</a:t>
            </a:r>
          </a:p>
          <a:p>
            <a:pPr marL="427038" indent="-322263" algn="ctr" hangingPunct="0">
              <a:spcAft>
                <a:spcPts val="1413"/>
              </a:spcAft>
              <a:buClrTx/>
              <a:buSzTx/>
              <a:buFontTx/>
              <a:buNone/>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a:solidFill>
                  <a:srgbClr val="000000"/>
                </a:solidFill>
              </a:rPr>
              <a:t>[ 4.24x10</a:t>
            </a:r>
            <a:r>
              <a:rPr lang="en-IE" sz="2400" b="1" baseline="33000" dirty="0">
                <a:solidFill>
                  <a:srgbClr val="000000"/>
                </a:solidFill>
              </a:rPr>
              <a:t>-5</a:t>
            </a:r>
            <a:r>
              <a:rPr lang="en-IE" sz="2400" b="1" dirty="0">
                <a:solidFill>
                  <a:srgbClr val="000000"/>
                </a:solidFill>
              </a:rPr>
              <a:t>kgm</a:t>
            </a:r>
            <a:r>
              <a:rPr lang="en-IE" sz="2400" b="1" baseline="33000" dirty="0">
                <a:solidFill>
                  <a:srgbClr val="000000"/>
                </a:solidFill>
              </a:rPr>
              <a:t>2</a:t>
            </a:r>
            <a:r>
              <a:rPr lang="en-IE" sz="2400" b="1" dirty="0">
                <a:solidFill>
                  <a:srgbClr val="000000"/>
                </a:solidFill>
              </a:rPr>
              <a:t>]</a:t>
            </a:r>
          </a:p>
          <a:p>
            <a:pPr marL="427038" indent="-322263" hangingPunct="0">
              <a:spcAft>
                <a:spcPts val="1413"/>
              </a:spcAft>
              <a:buClrTx/>
              <a:buSzTx/>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latin typeface="DejaVu Sans"/>
              </a:rPr>
              <a:t>Estimate the moment of inertia of a baseball bat, mass = 0.9kg, length = 0.81m</a:t>
            </a:r>
          </a:p>
          <a:p>
            <a:pPr marL="427038" indent="-322263" algn="ctr" hangingPunct="0">
              <a:spcAft>
                <a:spcPts val="1413"/>
              </a:spcAft>
              <a:buClrTx/>
              <a:buSzTx/>
              <a:buFontTx/>
              <a:buNone/>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a:solidFill>
                  <a:srgbClr val="000000"/>
                </a:solidFill>
              </a:rPr>
              <a:t>[ 0.197 kgm</a:t>
            </a:r>
            <a:r>
              <a:rPr lang="en-IE" sz="2400" b="1" baseline="33000" dirty="0">
                <a:solidFill>
                  <a:srgbClr val="000000"/>
                </a:solidFill>
              </a:rPr>
              <a:t>2</a:t>
            </a:r>
            <a:r>
              <a:rPr lang="en-IE" sz="2400" b="1" dirty="0">
                <a:solidFill>
                  <a:srgbClr val="000000"/>
                </a:solidFill>
              </a:rPr>
              <a:t>]</a:t>
            </a:r>
          </a:p>
          <a:p>
            <a:pPr marL="427038" indent="-322263">
              <a:spcAft>
                <a:spcPts val="1413"/>
              </a:spcAft>
              <a:buClrTx/>
              <a:buSzTx/>
              <a:buFontTx/>
              <a:buNone/>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endParaRPr lang="en-IE" sz="2400" dirty="0">
              <a:solidFill>
                <a:srgbClr val="000000"/>
              </a:solidFill>
            </a:endParaRPr>
          </a:p>
        </p:txBody>
      </p:sp>
      <p:sp>
        <p:nvSpPr>
          <p:cNvPr id="77827"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71CF460-5414-4DB4-9096-C30359D4946C}"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15</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15</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dirty="0">
                <a:solidFill>
                  <a:srgbClr val="1F497D"/>
                </a:solidFill>
              </a:rPr>
              <a:t>Moments of Inertia - Axes</a:t>
            </a:r>
          </a:p>
        </p:txBody>
      </p:sp>
      <p:sp>
        <p:nvSpPr>
          <p:cNvPr id="77826" name="Text Box 2"/>
          <p:cNvSpPr txBox="1">
            <a:spLocks noChangeArrowheads="1"/>
          </p:cNvSpPr>
          <p:nvPr/>
        </p:nvSpPr>
        <p:spPr bwMode="auto">
          <a:xfrm>
            <a:off x="0" y="1115541"/>
            <a:ext cx="9864848" cy="57245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With mass, the same object has the same mass every time</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Not so with moment of inertia</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Depends on the axis about which it rotates</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Take human body in standing position:</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Small I around axis along spine (</a:t>
            </a:r>
            <a:r>
              <a:rPr lang="en-IE" sz="2800" dirty="0" err="1">
                <a:solidFill>
                  <a:srgbClr val="000000"/>
                </a:solidFill>
                <a:latin typeface="DejaVu Sans"/>
              </a:rPr>
              <a:t>sagittal</a:t>
            </a:r>
            <a:r>
              <a:rPr lang="en-IE" sz="2800" dirty="0">
                <a:solidFill>
                  <a:srgbClr val="000000"/>
                </a:solidFill>
                <a:latin typeface="DejaVu Sans"/>
              </a:rPr>
              <a:t>)</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Medium I around axis through midriff from left to right (transverse)</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Big I around axis coming out through your navel (frontal)</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endParaRPr lang="en-IE" sz="2800" dirty="0">
              <a:solidFill>
                <a:srgbClr val="000000"/>
              </a:solidFill>
            </a:endParaRPr>
          </a:p>
        </p:txBody>
      </p:sp>
      <p:sp>
        <p:nvSpPr>
          <p:cNvPr id="77827"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71CF460-5414-4DB4-9096-C30359D4946C}"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16</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16</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dirty="0">
                <a:solidFill>
                  <a:srgbClr val="1F497D"/>
                </a:solidFill>
              </a:rPr>
              <a:t>Moments of Inertia - axes</a:t>
            </a:r>
          </a:p>
        </p:txBody>
      </p:sp>
      <p:sp>
        <p:nvSpPr>
          <p:cNvPr id="79874" name="Text Box 2"/>
          <p:cNvSpPr txBox="1">
            <a:spLocks noChangeArrowheads="1"/>
          </p:cNvSpPr>
          <p:nvPr/>
        </p:nvSpPr>
        <p:spPr bwMode="auto">
          <a:xfrm>
            <a:off x="360363" y="1619250"/>
            <a:ext cx="9142412" cy="5219700"/>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Same object has different moments of inertia along different axes</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Will depend on average distance of the mass of the object from the axis.</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Take a tennis racket:</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First axis is longer, it’s closer to </a:t>
            </a:r>
          </a:p>
          <a:p>
            <a:pPr marL="1169988" lvl="1" indent="-322263">
              <a:spcAft>
                <a:spcPts val="1413"/>
              </a:spcAft>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		most of the mass, has a smaller </a:t>
            </a:r>
          </a:p>
          <a:p>
            <a:pPr marL="1169988" lvl="1" indent="-322263">
              <a:spcAft>
                <a:spcPts val="1413"/>
              </a:spcAft>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		moment of inertia</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For three dimensional object, cannot spin stably about intermediate axis – Tennis Racket Theorem</a:t>
            </a:r>
          </a:p>
        </p:txBody>
      </p:sp>
      <p:sp>
        <p:nvSpPr>
          <p:cNvPr id="7987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A1D2253-9890-4768-9C3D-02AA74E92A73}"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17</a:t>
            </a:fld>
            <a:endParaRPr lang="en-IE" sz="1400">
              <a:solidFill>
                <a:srgbClr val="000000"/>
              </a:solidFill>
              <a:latin typeface="Times New Roman" pitchFamily="18" charset="0"/>
            </a:endParaRPr>
          </a:p>
        </p:txBody>
      </p:sp>
      <p:grpSp>
        <p:nvGrpSpPr>
          <p:cNvPr id="2" name="Group 20"/>
          <p:cNvGrpSpPr/>
          <p:nvPr/>
        </p:nvGrpSpPr>
        <p:grpSpPr>
          <a:xfrm>
            <a:off x="6624488" y="3419797"/>
            <a:ext cx="3124220" cy="2241540"/>
            <a:chOff x="6624488" y="3419797"/>
            <a:chExt cx="3124220" cy="2241540"/>
          </a:xfrm>
        </p:grpSpPr>
        <p:pic>
          <p:nvPicPr>
            <p:cNvPr id="182274" name="Picture 2" descr="C:\Documents and Settings\ehickey\Local Settings\Temporary Internet Files\Content.IE5\GPIRK5A3\MC900437045[1].png"/>
            <p:cNvPicPr>
              <a:picLocks noChangeAspect="1" noChangeArrowheads="1"/>
            </p:cNvPicPr>
            <p:nvPr/>
          </p:nvPicPr>
          <p:blipFill>
            <a:blip r:embed="rId3" cstate="print"/>
            <a:srcRect/>
            <a:stretch>
              <a:fillRect/>
            </a:stretch>
          </p:blipFill>
          <p:spPr bwMode="auto">
            <a:xfrm>
              <a:off x="6912520" y="3707829"/>
              <a:ext cx="1714500" cy="1714500"/>
            </a:xfrm>
            <a:prstGeom prst="rect">
              <a:avLst/>
            </a:prstGeom>
            <a:noFill/>
          </p:spPr>
        </p:pic>
        <p:cxnSp>
          <p:nvCxnSpPr>
            <p:cNvPr id="7" name="Straight Arrow Connector 6"/>
            <p:cNvCxnSpPr/>
            <p:nvPr/>
          </p:nvCxnSpPr>
          <p:spPr bwMode="auto">
            <a:xfrm rot="10800000">
              <a:off x="6624488" y="3491805"/>
              <a:ext cx="2088232" cy="1944216"/>
            </a:xfrm>
            <a:prstGeom prst="straightConnector1">
              <a:avLst/>
            </a:prstGeom>
            <a:solidFill>
              <a:srgbClr val="00B8FF"/>
            </a:solidFill>
            <a:ln w="41275" cap="flat" cmpd="sng" algn="ctr">
              <a:solidFill>
                <a:schemeClr val="tx1"/>
              </a:solidFill>
              <a:prstDash val="solid"/>
              <a:round/>
              <a:headEnd type="none" w="med" len="med"/>
              <a:tailEnd type="arrow"/>
            </a:ln>
            <a:effectLst/>
          </p:spPr>
        </p:cxnSp>
        <p:sp>
          <p:nvSpPr>
            <p:cNvPr id="8" name="TextBox 7"/>
            <p:cNvSpPr txBox="1"/>
            <p:nvPr/>
          </p:nvSpPr>
          <p:spPr>
            <a:xfrm>
              <a:off x="8640712" y="5292005"/>
              <a:ext cx="1107996" cy="369332"/>
            </a:xfrm>
            <a:prstGeom prst="rect">
              <a:avLst/>
            </a:prstGeom>
            <a:noFill/>
          </p:spPr>
          <p:txBody>
            <a:bodyPr wrap="none" rtlCol="0">
              <a:spAutoFit/>
            </a:bodyPr>
            <a:lstStyle/>
            <a:p>
              <a:r>
                <a:rPr lang="en-IE" dirty="0">
                  <a:solidFill>
                    <a:schemeClr val="tx1"/>
                  </a:solidFill>
                </a:rPr>
                <a:t>First axis</a:t>
              </a:r>
            </a:p>
          </p:txBody>
        </p:sp>
        <p:cxnSp>
          <p:nvCxnSpPr>
            <p:cNvPr id="9" name="Straight Arrow Connector 8"/>
            <p:cNvCxnSpPr/>
            <p:nvPr/>
          </p:nvCxnSpPr>
          <p:spPr bwMode="auto">
            <a:xfrm rot="5400000" flipH="1" flipV="1">
              <a:off x="6912520" y="3779837"/>
              <a:ext cx="1440160" cy="1152128"/>
            </a:xfrm>
            <a:prstGeom prst="straightConnector1">
              <a:avLst/>
            </a:prstGeom>
            <a:solidFill>
              <a:srgbClr val="00B8FF"/>
            </a:solidFill>
            <a:ln w="41275" cap="flat" cmpd="sng" algn="ctr">
              <a:solidFill>
                <a:schemeClr val="tx1"/>
              </a:solidFill>
              <a:prstDash val="solid"/>
              <a:round/>
              <a:headEnd type="none" w="med" len="med"/>
              <a:tailEnd type="arrow"/>
            </a:ln>
            <a:effectLst/>
          </p:spPr>
        </p:cxnSp>
        <p:sp>
          <p:nvSpPr>
            <p:cNvPr id="13" name="TextBox 12"/>
            <p:cNvSpPr txBox="1"/>
            <p:nvPr/>
          </p:nvSpPr>
          <p:spPr>
            <a:xfrm>
              <a:off x="8208664" y="3419797"/>
              <a:ext cx="1402948" cy="369332"/>
            </a:xfrm>
            <a:prstGeom prst="rect">
              <a:avLst/>
            </a:prstGeom>
            <a:noFill/>
          </p:spPr>
          <p:txBody>
            <a:bodyPr wrap="none" rtlCol="0">
              <a:spAutoFit/>
            </a:bodyPr>
            <a:lstStyle/>
            <a:p>
              <a:r>
                <a:rPr lang="en-IE" dirty="0">
                  <a:solidFill>
                    <a:schemeClr val="tx1"/>
                  </a:solidFill>
                </a:rPr>
                <a:t>second axis</a:t>
              </a:r>
            </a:p>
          </p:txBody>
        </p:sp>
        <p:sp>
          <p:nvSpPr>
            <p:cNvPr id="18" name="Left Arrow 17"/>
            <p:cNvSpPr/>
            <p:nvPr/>
          </p:nvSpPr>
          <p:spPr bwMode="auto">
            <a:xfrm>
              <a:off x="7704608" y="4211885"/>
              <a:ext cx="936104" cy="288032"/>
            </a:xfrm>
            <a:prstGeom prst="leftArrow">
              <a:avLst/>
            </a:prstGeom>
            <a:solidFill>
              <a:srgbClr val="00B8FF"/>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en-IE" sz="1800" b="0" i="0" u="none" strike="noStrike" cap="none" normalizeH="0" baseline="0">
                <a:ln>
                  <a:noFill/>
                </a:ln>
                <a:solidFill>
                  <a:schemeClr val="bg1"/>
                </a:solidFill>
                <a:effectLst/>
                <a:latin typeface="Arial" pitchFamily="34" charset="0"/>
                <a:ea typeface="DejaVu Sans"/>
                <a:cs typeface="DejaVu Sans"/>
              </a:endParaRPr>
            </a:p>
          </p:txBody>
        </p:sp>
        <p:sp>
          <p:nvSpPr>
            <p:cNvPr id="19" name="Oval 18"/>
            <p:cNvSpPr/>
            <p:nvPr/>
          </p:nvSpPr>
          <p:spPr bwMode="auto">
            <a:xfrm>
              <a:off x="7560592" y="4355901"/>
              <a:ext cx="72008" cy="72008"/>
            </a:xfrm>
            <a:prstGeom prst="ellipse">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pPr>
              <a:endParaRPr kumimoji="0" lang="en-IE" sz="1800" b="0" i="0" u="none" strike="noStrike" cap="none" normalizeH="0" baseline="0">
                <a:ln>
                  <a:noFill/>
                </a:ln>
                <a:solidFill>
                  <a:schemeClr val="bg1"/>
                </a:solidFill>
                <a:effectLst/>
                <a:latin typeface="Arial" pitchFamily="34" charset="0"/>
                <a:ea typeface="DejaVu Sans"/>
                <a:cs typeface="DejaVu Sans"/>
              </a:endParaRPr>
            </a:p>
          </p:txBody>
        </p:sp>
        <p:sp>
          <p:nvSpPr>
            <p:cNvPr id="20" name="TextBox 19"/>
            <p:cNvSpPr txBox="1"/>
            <p:nvPr/>
          </p:nvSpPr>
          <p:spPr>
            <a:xfrm>
              <a:off x="8280672" y="3923853"/>
              <a:ext cx="1197764" cy="646331"/>
            </a:xfrm>
            <a:prstGeom prst="rect">
              <a:avLst/>
            </a:prstGeom>
            <a:noFill/>
          </p:spPr>
          <p:txBody>
            <a:bodyPr wrap="none" rtlCol="0">
              <a:spAutoFit/>
            </a:bodyPr>
            <a:lstStyle/>
            <a:p>
              <a:r>
                <a:rPr lang="en-IE" dirty="0">
                  <a:solidFill>
                    <a:srgbClr val="FF0000"/>
                  </a:solidFill>
                </a:rPr>
                <a:t>Centre of </a:t>
              </a:r>
            </a:p>
            <a:p>
              <a:pPr algn="r"/>
              <a:r>
                <a:rPr lang="en-IE" dirty="0">
                  <a:solidFill>
                    <a:srgbClr val="FF0000"/>
                  </a:solidFill>
                </a:rPr>
                <a:t>gravity</a:t>
              </a:r>
            </a:p>
          </p:txBody>
        </p:sp>
      </p:grpSp>
      <p:sp>
        <p:nvSpPr>
          <p:cNvPr id="14" name="Slide Number Placeholder 13"/>
          <p:cNvSpPr>
            <a:spLocks noGrp="1"/>
          </p:cNvSpPr>
          <p:nvPr>
            <p:ph type="sldNum" idx="10"/>
          </p:nvPr>
        </p:nvSpPr>
        <p:spPr/>
        <p:txBody>
          <a:bodyPr/>
          <a:lstStyle/>
          <a:p>
            <a:fld id="{FE851EA8-346B-4082-9734-32D7F48A3BF1}" type="slidenum">
              <a:rPr lang="en-IE" smtClean="0"/>
              <a:pPr/>
              <a:t>17</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Angular Momentum</a:t>
            </a:r>
          </a:p>
        </p:txBody>
      </p:sp>
      <p:sp>
        <p:nvSpPr>
          <p:cNvPr id="3" name="Content Placeholder 2"/>
          <p:cNvSpPr>
            <a:spLocks noGrp="1"/>
          </p:cNvSpPr>
          <p:nvPr>
            <p:ph idx="1"/>
          </p:nvPr>
        </p:nvSpPr>
        <p:spPr>
          <a:xfrm>
            <a:off x="431800" y="1259557"/>
            <a:ext cx="9067800" cy="4984750"/>
          </a:xfrm>
        </p:spPr>
        <p:txBody>
          <a:bodyPr/>
          <a:lstStyle/>
          <a:p>
            <a:pPr>
              <a:buFont typeface="Arial" pitchFamily="34" charset="0"/>
              <a:buChar char="•"/>
            </a:pPr>
            <a:r>
              <a:rPr lang="en-IE" sz="2800" dirty="0"/>
              <a:t>When we discussed linear motion we had momentum which was conserved as long as no outside force is acting.</a:t>
            </a:r>
          </a:p>
          <a:p>
            <a:pPr>
              <a:buFont typeface="Arial" pitchFamily="34" charset="0"/>
              <a:buChar char="•"/>
            </a:pPr>
            <a:r>
              <a:rPr lang="en-IE" sz="2800" dirty="0"/>
              <a:t>Of course, get an analogous feature in rotational motion</a:t>
            </a:r>
          </a:p>
          <a:p>
            <a:pPr>
              <a:buFont typeface="Arial" pitchFamily="34" charset="0"/>
              <a:buChar char="•"/>
            </a:pPr>
            <a:r>
              <a:rPr lang="en-IE" sz="2800" dirty="0"/>
              <a:t>Linear momentum was = mass x velocity</a:t>
            </a:r>
          </a:p>
          <a:p>
            <a:pPr>
              <a:buFont typeface="Arial" pitchFamily="34" charset="0"/>
              <a:buChar char="•"/>
            </a:pPr>
            <a:r>
              <a:rPr lang="en-IE" sz="2800" dirty="0"/>
              <a:t>Angular momentum is = (moment of inertia) x (angular velocity)</a:t>
            </a:r>
          </a:p>
          <a:p>
            <a:pPr algn="ctr"/>
            <a:r>
              <a:rPr lang="en-IE" sz="2800" b="1" dirty="0"/>
              <a:t>L = I</a:t>
            </a:r>
            <a:r>
              <a:rPr lang="el-GR" sz="2800" b="1" dirty="0">
                <a:latin typeface="Calibri"/>
              </a:rPr>
              <a:t>ω</a:t>
            </a:r>
            <a:endParaRPr lang="en-IE" sz="2800" b="1" dirty="0">
              <a:latin typeface="Calibri"/>
            </a:endParaRPr>
          </a:p>
          <a:p>
            <a:pPr>
              <a:buFont typeface="Arial" pitchFamily="34" charset="0"/>
              <a:buChar char="•"/>
            </a:pPr>
            <a:r>
              <a:rPr lang="en-IE" sz="2800" dirty="0"/>
              <a:t>And angular momentum is conserved as long as no outside torque is acting</a:t>
            </a:r>
          </a:p>
        </p:txBody>
      </p:sp>
      <p:sp>
        <p:nvSpPr>
          <p:cNvPr id="4" name="Slide Number Placeholder 3"/>
          <p:cNvSpPr>
            <a:spLocks noGrp="1"/>
          </p:cNvSpPr>
          <p:nvPr>
            <p:ph type="sldNum" idx="10"/>
          </p:nvPr>
        </p:nvSpPr>
        <p:spPr/>
        <p:txBody>
          <a:bodyPr/>
          <a:lstStyle/>
          <a:p>
            <a:pPr algn="r"/>
            <a:fld id="{414F4C63-A446-4846-8755-D7BA286726A2}" type="slidenum">
              <a:rPr lang="en-IE" smtClean="0">
                <a:solidFill>
                  <a:schemeClr val="tx1"/>
                </a:solidFill>
              </a:rPr>
              <a:pPr algn="r"/>
              <a:t>18</a:t>
            </a:fld>
            <a:endParaRPr lang="en-IE">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dirty="0">
                <a:solidFill>
                  <a:srgbClr val="1F497D"/>
                </a:solidFill>
              </a:rPr>
              <a:t>Conservation of Angular Momentum - examples</a:t>
            </a:r>
          </a:p>
        </p:txBody>
      </p:sp>
      <p:sp>
        <p:nvSpPr>
          <p:cNvPr id="79874" name="Text Box 2"/>
          <p:cNvSpPr txBox="1">
            <a:spLocks noChangeArrowheads="1"/>
          </p:cNvSpPr>
          <p:nvPr/>
        </p:nvSpPr>
        <p:spPr bwMode="auto">
          <a:xfrm>
            <a:off x="359792" y="1403573"/>
            <a:ext cx="9142412" cy="5219700"/>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High board diver spins at 5 </a:t>
            </a:r>
            <a:r>
              <a:rPr lang="en-IE" sz="2800" dirty="0" err="1">
                <a:solidFill>
                  <a:srgbClr val="000000"/>
                </a:solidFill>
                <a:latin typeface="DejaVu Sans"/>
              </a:rPr>
              <a:t>rads</a:t>
            </a:r>
            <a:r>
              <a:rPr lang="en-IE" sz="2800" dirty="0">
                <a:solidFill>
                  <a:srgbClr val="000000"/>
                </a:solidFill>
                <a:latin typeface="DejaVu Sans"/>
              </a:rPr>
              <a:t> s</a:t>
            </a:r>
            <a:r>
              <a:rPr lang="en-IE" sz="2800" baseline="30000" dirty="0">
                <a:solidFill>
                  <a:srgbClr val="000000"/>
                </a:solidFill>
                <a:latin typeface="DejaVu Sans"/>
              </a:rPr>
              <a:t>-1</a:t>
            </a:r>
            <a:r>
              <a:rPr lang="en-IE" sz="2800" dirty="0">
                <a:solidFill>
                  <a:srgbClr val="000000"/>
                </a:solidFill>
                <a:latin typeface="DejaVu Sans"/>
              </a:rPr>
              <a:t> about transverse axis in a layout position when her moment of inertia is 15kgm</a:t>
            </a:r>
            <a:r>
              <a:rPr lang="en-IE" sz="2800" baseline="30000" dirty="0">
                <a:solidFill>
                  <a:srgbClr val="000000"/>
                </a:solidFill>
                <a:latin typeface="DejaVu Sans"/>
              </a:rPr>
              <a:t>2</a:t>
            </a:r>
            <a:r>
              <a:rPr lang="en-IE" sz="2800" dirty="0">
                <a:solidFill>
                  <a:srgbClr val="000000"/>
                </a:solidFill>
                <a:latin typeface="DejaVu Sans"/>
              </a:rPr>
              <a:t>. When she tucks, her moment of inertia decreases to 4 kgm</a:t>
            </a:r>
            <a:r>
              <a:rPr lang="en-IE" sz="2800" baseline="30000" dirty="0">
                <a:solidFill>
                  <a:srgbClr val="000000"/>
                </a:solidFill>
                <a:latin typeface="DejaVu Sans"/>
              </a:rPr>
              <a:t>2</a:t>
            </a:r>
            <a:r>
              <a:rPr lang="en-IE" sz="2800" dirty="0">
                <a:solidFill>
                  <a:srgbClr val="000000"/>
                </a:solidFill>
                <a:latin typeface="DejaVu Sans"/>
              </a:rPr>
              <a:t>. Calculate the new rate of spin.</a:t>
            </a:r>
          </a:p>
          <a:p>
            <a:pPr marL="427038" indent="-322263" algn="ctr">
              <a:spcAft>
                <a:spcPts val="1413"/>
              </a:spcAft>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b="1" dirty="0">
                <a:solidFill>
                  <a:srgbClr val="000000"/>
                </a:solidFill>
                <a:latin typeface="DejaVu Sans"/>
              </a:rPr>
              <a:t>[18.7</a:t>
            </a:r>
            <a:r>
              <a:rPr lang="en-IE" sz="2800" dirty="0">
                <a:solidFill>
                  <a:srgbClr val="000000"/>
                </a:solidFill>
                <a:latin typeface="DejaVu Sans"/>
              </a:rPr>
              <a:t>5 </a:t>
            </a:r>
            <a:r>
              <a:rPr lang="en-IE" sz="2800" dirty="0" err="1">
                <a:solidFill>
                  <a:srgbClr val="000000"/>
                </a:solidFill>
                <a:latin typeface="DejaVu Sans"/>
              </a:rPr>
              <a:t>rads</a:t>
            </a:r>
            <a:r>
              <a:rPr lang="en-IE" sz="2800" dirty="0">
                <a:solidFill>
                  <a:srgbClr val="000000"/>
                </a:solidFill>
                <a:latin typeface="DejaVu Sans"/>
              </a:rPr>
              <a:t> s</a:t>
            </a:r>
            <a:r>
              <a:rPr lang="en-IE" sz="2800" baseline="30000" dirty="0">
                <a:solidFill>
                  <a:srgbClr val="000000"/>
                </a:solidFill>
                <a:latin typeface="DejaVu Sans"/>
              </a:rPr>
              <a:t>-1</a:t>
            </a:r>
            <a:r>
              <a:rPr lang="en-IE" sz="2800" b="1" dirty="0">
                <a:solidFill>
                  <a:srgbClr val="000000"/>
                </a:solidFill>
                <a:latin typeface="DejaVu Sans"/>
              </a:rPr>
              <a:t>]</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During a bicycle kick a player swings their leg with an angular momentum of 22kgm</a:t>
            </a:r>
            <a:r>
              <a:rPr lang="en-IE" sz="2800" baseline="30000" dirty="0">
                <a:solidFill>
                  <a:srgbClr val="000000"/>
                </a:solidFill>
                <a:latin typeface="DejaVu Sans"/>
              </a:rPr>
              <a:t>2</a:t>
            </a:r>
            <a:r>
              <a:rPr lang="en-IE" sz="2800" dirty="0">
                <a:solidFill>
                  <a:srgbClr val="000000"/>
                </a:solidFill>
                <a:latin typeface="DejaVu Sans"/>
              </a:rPr>
              <a:t>s</a:t>
            </a:r>
            <a:r>
              <a:rPr lang="en-IE" sz="2800" baseline="30000" dirty="0">
                <a:solidFill>
                  <a:srgbClr val="000000"/>
                </a:solidFill>
                <a:latin typeface="DejaVu Sans"/>
              </a:rPr>
              <a:t>-1</a:t>
            </a:r>
            <a:r>
              <a:rPr lang="en-IE" sz="2800" dirty="0">
                <a:solidFill>
                  <a:srgbClr val="000000"/>
                </a:solidFill>
                <a:latin typeface="DejaVu Sans"/>
              </a:rPr>
              <a:t> about their hip joint. If the rest of their body has a moment of inertia of 18kgm</a:t>
            </a:r>
            <a:r>
              <a:rPr lang="en-IE" sz="2800" baseline="30000" dirty="0">
                <a:solidFill>
                  <a:srgbClr val="000000"/>
                </a:solidFill>
                <a:latin typeface="DejaVu Sans"/>
              </a:rPr>
              <a:t>2</a:t>
            </a:r>
            <a:r>
              <a:rPr lang="en-IE" sz="2800" dirty="0">
                <a:solidFill>
                  <a:srgbClr val="000000"/>
                </a:solidFill>
                <a:latin typeface="DejaVu Sans"/>
              </a:rPr>
              <a:t> about this joint calculate the rate of rotation of their body during the kick. Relative to their kicking leg, in what direction does their body rotate?</a:t>
            </a:r>
          </a:p>
          <a:p>
            <a:pPr marL="427038" indent="-322263" algn="ctr">
              <a:spcAft>
                <a:spcPts val="1413"/>
              </a:spcAft>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b="1" dirty="0">
                <a:solidFill>
                  <a:srgbClr val="000000"/>
                </a:solidFill>
                <a:latin typeface="DejaVu Sans"/>
              </a:rPr>
              <a:t>[1.22</a:t>
            </a:r>
            <a:r>
              <a:rPr lang="en-IE" sz="2800" dirty="0">
                <a:solidFill>
                  <a:srgbClr val="000000"/>
                </a:solidFill>
                <a:latin typeface="DejaVu Sans"/>
              </a:rPr>
              <a:t>rads s</a:t>
            </a:r>
            <a:r>
              <a:rPr lang="en-IE" sz="2800" baseline="30000" dirty="0">
                <a:solidFill>
                  <a:srgbClr val="000000"/>
                </a:solidFill>
                <a:latin typeface="DejaVu Sans"/>
              </a:rPr>
              <a:t>-1</a:t>
            </a:r>
            <a:r>
              <a:rPr lang="en-IE" sz="2800" b="1" dirty="0">
                <a:solidFill>
                  <a:srgbClr val="000000"/>
                </a:solidFill>
                <a:latin typeface="DejaVu Sans"/>
              </a:rPr>
              <a:t>]</a:t>
            </a:r>
          </a:p>
          <a:p>
            <a:pPr marL="427038" indent="-322263" algn="ctr">
              <a:spcAft>
                <a:spcPts val="1413"/>
              </a:spcAft>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endParaRPr lang="en-IE" sz="2800" b="1" dirty="0">
              <a:solidFill>
                <a:srgbClr val="000000"/>
              </a:solidFill>
              <a:latin typeface="DejaVu Sans"/>
            </a:endParaRPr>
          </a:p>
        </p:txBody>
      </p:sp>
      <p:sp>
        <p:nvSpPr>
          <p:cNvPr id="7987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A1D2253-9890-4768-9C3D-02AA74E92A73}"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19</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19</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ext Box 1"/>
          <p:cNvSpPr txBox="1">
            <a:spLocks noChangeArrowheads="1"/>
          </p:cNvSpPr>
          <p:nvPr/>
        </p:nvSpPr>
        <p:spPr bwMode="auto">
          <a:xfrm>
            <a:off x="503238" y="301625"/>
            <a:ext cx="9070975" cy="1260475"/>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Torques</a:t>
            </a:r>
          </a:p>
        </p:txBody>
      </p:sp>
      <p:sp>
        <p:nvSpPr>
          <p:cNvPr id="56322" name="Text Box 2"/>
          <p:cNvSpPr txBox="1">
            <a:spLocks noChangeArrowheads="1"/>
          </p:cNvSpPr>
          <p:nvPr/>
        </p:nvSpPr>
        <p:spPr bwMode="auto">
          <a:xfrm>
            <a:off x="576263" y="1403350"/>
            <a:ext cx="9070975" cy="49879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dirty="0">
                <a:solidFill>
                  <a:srgbClr val="000000"/>
                </a:solidFill>
              </a:rPr>
              <a:t>What causes angular accelerations?</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dirty="0">
                <a:solidFill>
                  <a:srgbClr val="000000"/>
                </a:solidFill>
              </a:rPr>
              <a:t>Need an analogy for the force we used in linear motion</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dirty="0">
                <a:solidFill>
                  <a:srgbClr val="000000"/>
                </a:solidFill>
              </a:rPr>
              <a:t>This change in angular velocity produced by a </a:t>
            </a:r>
            <a:r>
              <a:rPr lang="en-IE" sz="3200" b="1" i="1" dirty="0">
                <a:solidFill>
                  <a:srgbClr val="000000"/>
                </a:solidFill>
              </a:rPr>
              <a:t>Torque</a:t>
            </a:r>
          </a:p>
        </p:txBody>
      </p:sp>
      <p:sp>
        <p:nvSpPr>
          <p:cNvPr id="56323"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78C404F-D978-43E1-A42D-C3BB5C85B3DF}"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20</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20</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ext Box 1"/>
          <p:cNvSpPr txBox="1">
            <a:spLocks noChangeArrowheads="1"/>
          </p:cNvSpPr>
          <p:nvPr/>
        </p:nvSpPr>
        <p:spPr bwMode="auto">
          <a:xfrm>
            <a:off x="503238" y="301625"/>
            <a:ext cx="9070975" cy="1260475"/>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Torques - definition</a:t>
            </a:r>
          </a:p>
        </p:txBody>
      </p:sp>
      <p:sp>
        <p:nvSpPr>
          <p:cNvPr id="57346" name="Text Box 2"/>
          <p:cNvSpPr txBox="1">
            <a:spLocks noChangeArrowheads="1"/>
          </p:cNvSpPr>
          <p:nvPr/>
        </p:nvSpPr>
        <p:spPr bwMode="auto">
          <a:xfrm>
            <a:off x="576263" y="1835150"/>
            <a:ext cx="9070975" cy="49879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Push middle of an object – it accelerates</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Push edge of an object – it accelerates and turns</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Push in opposite directions at top and bottom – it turns</a:t>
            </a:r>
          </a:p>
        </p:txBody>
      </p:sp>
      <p:sp>
        <p:nvSpPr>
          <p:cNvPr id="57347"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B23EB139-EAB0-4E7E-B1F5-893B15B77937}"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21</a:t>
            </a:fld>
            <a:endParaRPr lang="en-IE" sz="1400">
              <a:solidFill>
                <a:srgbClr val="000000"/>
              </a:solidFill>
              <a:latin typeface="Times New Roman" pitchFamily="18" charset="0"/>
            </a:endParaRPr>
          </a:p>
        </p:txBody>
      </p:sp>
      <p:grpSp>
        <p:nvGrpSpPr>
          <p:cNvPr id="57348" name="Group 4"/>
          <p:cNvGrpSpPr>
            <a:grpSpLocks/>
          </p:cNvGrpSpPr>
          <p:nvPr/>
        </p:nvGrpSpPr>
        <p:grpSpPr bwMode="auto">
          <a:xfrm>
            <a:off x="296863" y="4932363"/>
            <a:ext cx="8485187" cy="1870075"/>
            <a:chOff x="187" y="3107"/>
            <a:chExt cx="5345" cy="1178"/>
          </a:xfrm>
        </p:grpSpPr>
        <p:sp>
          <p:nvSpPr>
            <p:cNvPr id="57349" name="AutoShape 5"/>
            <p:cNvSpPr>
              <a:spLocks noChangeArrowheads="1"/>
            </p:cNvSpPr>
            <p:nvPr/>
          </p:nvSpPr>
          <p:spPr bwMode="auto">
            <a:xfrm>
              <a:off x="1043" y="3107"/>
              <a:ext cx="499" cy="1179"/>
            </a:xfrm>
            <a:prstGeom prst="roundRect">
              <a:avLst>
                <a:gd name="adj" fmla="val 16667"/>
              </a:avLst>
            </a:prstGeom>
            <a:solidFill>
              <a:srgbClr val="00B8FF"/>
            </a:solidFill>
            <a:ln w="9360">
              <a:solidFill>
                <a:srgbClr val="000000"/>
              </a:solidFill>
              <a:miter lim="800000"/>
              <a:headEnd/>
              <a:tailEnd/>
            </a:ln>
            <a:effectLst/>
          </p:spPr>
          <p:txBody>
            <a:bodyPr wrap="none" anchor="ctr"/>
            <a:lstStyle/>
            <a:p>
              <a:endParaRPr lang="en-IE"/>
            </a:p>
          </p:txBody>
        </p:sp>
        <p:cxnSp>
          <p:nvCxnSpPr>
            <p:cNvPr id="57350" name="AutoShape 6"/>
            <p:cNvCxnSpPr>
              <a:cxnSpLocks noChangeShapeType="1"/>
            </p:cNvCxnSpPr>
            <p:nvPr/>
          </p:nvCxnSpPr>
          <p:spPr bwMode="auto">
            <a:xfrm>
              <a:off x="362" y="3696"/>
              <a:ext cx="591" cy="1"/>
            </a:xfrm>
            <a:prstGeom prst="straightConnector1">
              <a:avLst/>
            </a:prstGeom>
            <a:noFill/>
            <a:ln w="63360">
              <a:solidFill>
                <a:srgbClr val="000000"/>
              </a:solidFill>
              <a:miter lim="800000"/>
              <a:headEnd/>
              <a:tailEnd type="triangle" w="med" len="med"/>
            </a:ln>
            <a:effectLst/>
          </p:spPr>
        </p:cxnSp>
        <p:sp>
          <p:nvSpPr>
            <p:cNvPr id="57351" name="Text Box 7"/>
            <p:cNvSpPr txBox="1">
              <a:spLocks noChangeArrowheads="1"/>
            </p:cNvSpPr>
            <p:nvPr/>
          </p:nvSpPr>
          <p:spPr bwMode="auto">
            <a:xfrm>
              <a:off x="187" y="3424"/>
              <a:ext cx="888" cy="232"/>
            </a:xfrm>
            <a:prstGeom prst="rect">
              <a:avLst/>
            </a:prstGeom>
            <a:noFill/>
            <a:ln w="9525">
              <a:noFill/>
              <a:round/>
              <a:headEnd/>
              <a:tailEnd/>
            </a:ln>
            <a:effectLst/>
          </p:spPr>
          <p:txBody>
            <a:bodyPr wrap="none" lIns="90000" tIns="46800" rIns="90000" bIns="46800">
              <a:spAutoFit/>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C00000"/>
                  </a:solidFill>
                </a:rPr>
                <a:t>acceleration</a:t>
              </a:r>
            </a:p>
          </p:txBody>
        </p:sp>
        <p:sp>
          <p:nvSpPr>
            <p:cNvPr id="57352" name="AutoShape 8"/>
            <p:cNvSpPr>
              <a:spLocks noChangeArrowheads="1"/>
            </p:cNvSpPr>
            <p:nvPr/>
          </p:nvSpPr>
          <p:spPr bwMode="auto">
            <a:xfrm>
              <a:off x="1587" y="3606"/>
              <a:ext cx="227" cy="181"/>
            </a:xfrm>
            <a:prstGeom prst="rightArrow">
              <a:avLst>
                <a:gd name="adj1" fmla="val 50000"/>
                <a:gd name="adj2" fmla="val 50166"/>
              </a:avLst>
            </a:prstGeom>
            <a:solidFill>
              <a:srgbClr val="0070C0"/>
            </a:solidFill>
            <a:ln w="9360">
              <a:solidFill>
                <a:srgbClr val="000000"/>
              </a:solidFill>
              <a:round/>
              <a:headEnd/>
              <a:tailEnd/>
            </a:ln>
            <a:effectLst/>
          </p:spPr>
          <p:txBody>
            <a:bodyPr wrap="none" anchor="ctr"/>
            <a:lstStyle/>
            <a:p>
              <a:endParaRPr lang="en-IE"/>
            </a:p>
          </p:txBody>
        </p:sp>
        <p:sp>
          <p:nvSpPr>
            <p:cNvPr id="57353" name="AutoShape 9"/>
            <p:cNvSpPr>
              <a:spLocks noChangeArrowheads="1"/>
            </p:cNvSpPr>
            <p:nvPr/>
          </p:nvSpPr>
          <p:spPr bwMode="auto">
            <a:xfrm>
              <a:off x="2903" y="3107"/>
              <a:ext cx="499" cy="1179"/>
            </a:xfrm>
            <a:prstGeom prst="roundRect">
              <a:avLst>
                <a:gd name="adj" fmla="val 16667"/>
              </a:avLst>
            </a:prstGeom>
            <a:solidFill>
              <a:srgbClr val="00B8FF"/>
            </a:solidFill>
            <a:ln w="9360">
              <a:solidFill>
                <a:srgbClr val="000000"/>
              </a:solidFill>
              <a:miter lim="800000"/>
              <a:headEnd/>
              <a:tailEnd/>
            </a:ln>
            <a:effectLst/>
          </p:spPr>
          <p:txBody>
            <a:bodyPr wrap="none" anchor="ctr"/>
            <a:lstStyle/>
            <a:p>
              <a:endParaRPr lang="en-IE"/>
            </a:p>
          </p:txBody>
        </p:sp>
        <p:cxnSp>
          <p:nvCxnSpPr>
            <p:cNvPr id="57354" name="AutoShape 10"/>
            <p:cNvCxnSpPr>
              <a:cxnSpLocks noChangeShapeType="1"/>
            </p:cNvCxnSpPr>
            <p:nvPr/>
          </p:nvCxnSpPr>
          <p:spPr bwMode="auto">
            <a:xfrm>
              <a:off x="2267" y="3197"/>
              <a:ext cx="591" cy="1"/>
            </a:xfrm>
            <a:prstGeom prst="straightConnector1">
              <a:avLst/>
            </a:prstGeom>
            <a:noFill/>
            <a:ln w="63360">
              <a:solidFill>
                <a:srgbClr val="000000"/>
              </a:solidFill>
              <a:miter lim="800000"/>
              <a:headEnd/>
              <a:tailEnd type="triangle" w="med" len="med"/>
            </a:ln>
            <a:effectLst/>
          </p:spPr>
        </p:cxnSp>
        <p:sp>
          <p:nvSpPr>
            <p:cNvPr id="57355" name="Text Box 11"/>
            <p:cNvSpPr txBox="1">
              <a:spLocks noChangeArrowheads="1"/>
            </p:cNvSpPr>
            <p:nvPr/>
          </p:nvSpPr>
          <p:spPr bwMode="auto">
            <a:xfrm>
              <a:off x="2047" y="3334"/>
              <a:ext cx="904" cy="578"/>
            </a:xfrm>
            <a:prstGeom prst="rect">
              <a:avLst/>
            </a:prstGeom>
            <a:noFill/>
            <a:ln w="9525">
              <a:noFill/>
              <a:round/>
              <a:headEnd/>
              <a:tailEnd/>
            </a:ln>
            <a:effectLst/>
          </p:spPr>
          <p:txBody>
            <a:bodyPr wrap="none" lIns="90000" tIns="46800" rIns="90000" bIns="46800">
              <a:spAutoFit/>
            </a:bodyP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C00000"/>
                  </a:solidFill>
                </a:rPr>
                <a:t>Acceleration</a:t>
              </a:r>
            </a:p>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C00000"/>
                  </a:solidFill>
                </a:rPr>
                <a:t>&amp;</a:t>
              </a:r>
            </a:p>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C00000"/>
                  </a:solidFill>
                </a:rPr>
                <a:t>twist</a:t>
              </a:r>
            </a:p>
          </p:txBody>
        </p:sp>
        <p:sp>
          <p:nvSpPr>
            <p:cNvPr id="57356" name="Freeform 12"/>
            <p:cNvSpPr>
              <a:spLocks noChangeArrowheads="1"/>
            </p:cNvSpPr>
            <p:nvPr/>
          </p:nvSpPr>
          <p:spPr bwMode="auto">
            <a:xfrm rot="4440000">
              <a:off x="3524" y="3313"/>
              <a:ext cx="453" cy="408"/>
            </a:xfrm>
            <a:custGeom>
              <a:avLst/>
              <a:gdLst>
                <a:gd name="T0" fmla="*/ 558062 w 720080"/>
                <a:gd name="T1" fmla="*/ 0 h 648072"/>
                <a:gd name="T2" fmla="*/ 558062 w 720080"/>
                <a:gd name="T3" fmla="*/ 324036 h 648072"/>
                <a:gd name="T4" fmla="*/ 81009 w 720080"/>
                <a:gd name="T5" fmla="*/ 648072 h 648072"/>
                <a:gd name="T6" fmla="*/ 720080 w 720080"/>
                <a:gd name="T7" fmla="*/ 162018 h 648072"/>
              </a:gdLst>
              <a:ahLst/>
              <a:cxnLst>
                <a:cxn ang="0">
                  <a:pos x="T0" y="T1"/>
                </a:cxn>
                <a:cxn ang="0">
                  <a:pos x="T2" y="T3"/>
                </a:cxn>
                <a:cxn ang="0">
                  <a:pos x="T4" y="T5"/>
                </a:cxn>
                <a:cxn ang="0">
                  <a:pos x="T6" y="T7"/>
                </a:cxn>
              </a:cxnLst>
              <a:rect l="0" t="0" r="r" b="b"/>
              <a:pathLst>
                <a:path w="720080" h="648072">
                  <a:moveTo>
                    <a:pt x="0" y="648072"/>
                  </a:moveTo>
                  <a:lnTo>
                    <a:pt x="0" y="364541"/>
                  </a:lnTo>
                  <a:cubicBezTo>
                    <a:pt x="0" y="207950"/>
                    <a:pt x="126941" y="81009"/>
                    <a:pt x="283531" y="81009"/>
                  </a:cubicBezTo>
                  <a:lnTo>
                    <a:pt x="558062" y="81009"/>
                  </a:lnTo>
                  <a:lnTo>
                    <a:pt x="558062" y="0"/>
                  </a:lnTo>
                  <a:lnTo>
                    <a:pt x="720080" y="162018"/>
                  </a:lnTo>
                  <a:lnTo>
                    <a:pt x="558062" y="324036"/>
                  </a:lnTo>
                  <a:lnTo>
                    <a:pt x="558062" y="243027"/>
                  </a:lnTo>
                  <a:lnTo>
                    <a:pt x="283532" y="243027"/>
                  </a:lnTo>
                  <a:lnTo>
                    <a:pt x="283531" y="243027"/>
                  </a:lnTo>
                  <a:cubicBezTo>
                    <a:pt x="216421" y="243027"/>
                    <a:pt x="162018" y="297430"/>
                    <a:pt x="162018" y="364540"/>
                  </a:cubicBezTo>
                  <a:lnTo>
                    <a:pt x="162018" y="648072"/>
                  </a:lnTo>
                  <a:close/>
                </a:path>
              </a:pathLst>
            </a:custGeom>
            <a:solidFill>
              <a:srgbClr val="0070C0"/>
            </a:solidFill>
            <a:ln w="9360">
              <a:solidFill>
                <a:srgbClr val="000000"/>
              </a:solidFill>
              <a:round/>
              <a:headEnd/>
              <a:tailEnd/>
            </a:ln>
            <a:effectLst/>
          </p:spPr>
          <p:txBody>
            <a:bodyPr wrap="none" anchor="ctr"/>
            <a:lstStyle/>
            <a:p>
              <a:endParaRPr lang="en-IE"/>
            </a:p>
          </p:txBody>
        </p:sp>
        <p:sp>
          <p:nvSpPr>
            <p:cNvPr id="57357" name="AutoShape 13"/>
            <p:cNvSpPr>
              <a:spLocks noChangeArrowheads="1"/>
            </p:cNvSpPr>
            <p:nvPr/>
          </p:nvSpPr>
          <p:spPr bwMode="auto">
            <a:xfrm>
              <a:off x="4989" y="3107"/>
              <a:ext cx="499" cy="1179"/>
            </a:xfrm>
            <a:prstGeom prst="roundRect">
              <a:avLst>
                <a:gd name="adj" fmla="val 16667"/>
              </a:avLst>
            </a:prstGeom>
            <a:solidFill>
              <a:srgbClr val="00B8FF"/>
            </a:solidFill>
            <a:ln w="9360">
              <a:solidFill>
                <a:srgbClr val="000000"/>
              </a:solidFill>
              <a:miter lim="800000"/>
              <a:headEnd/>
              <a:tailEnd/>
            </a:ln>
            <a:effectLst/>
          </p:spPr>
          <p:txBody>
            <a:bodyPr wrap="none" anchor="ctr"/>
            <a:lstStyle/>
            <a:p>
              <a:endParaRPr lang="en-IE"/>
            </a:p>
          </p:txBody>
        </p:sp>
        <p:cxnSp>
          <p:nvCxnSpPr>
            <p:cNvPr id="57358" name="AutoShape 14"/>
            <p:cNvCxnSpPr>
              <a:cxnSpLocks noChangeShapeType="1"/>
            </p:cNvCxnSpPr>
            <p:nvPr/>
          </p:nvCxnSpPr>
          <p:spPr bwMode="auto">
            <a:xfrm>
              <a:off x="4354" y="3197"/>
              <a:ext cx="591" cy="1"/>
            </a:xfrm>
            <a:prstGeom prst="straightConnector1">
              <a:avLst/>
            </a:prstGeom>
            <a:noFill/>
            <a:ln w="63360">
              <a:solidFill>
                <a:srgbClr val="000000"/>
              </a:solidFill>
              <a:miter lim="800000"/>
              <a:headEnd/>
              <a:tailEnd type="triangle" w="med" len="med"/>
            </a:ln>
            <a:effectLst/>
          </p:spPr>
        </p:cxnSp>
        <p:sp>
          <p:nvSpPr>
            <p:cNvPr id="57359" name="Text Box 15"/>
            <p:cNvSpPr txBox="1">
              <a:spLocks noChangeArrowheads="1"/>
            </p:cNvSpPr>
            <p:nvPr/>
          </p:nvSpPr>
          <p:spPr bwMode="auto">
            <a:xfrm>
              <a:off x="4384" y="3334"/>
              <a:ext cx="402" cy="232"/>
            </a:xfrm>
            <a:prstGeom prst="rect">
              <a:avLst/>
            </a:prstGeom>
            <a:noFill/>
            <a:ln w="9525">
              <a:noFill/>
              <a:round/>
              <a:headEnd/>
              <a:tailEnd/>
            </a:ln>
            <a:effectLst/>
          </p:spPr>
          <p:txBody>
            <a:bodyPr wrap="none" lIns="90000" tIns="46800" rIns="90000" bIns="46800">
              <a:spAutoFit/>
            </a:bodyP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C00000"/>
                  </a:solidFill>
                </a:rPr>
                <a:t>twist</a:t>
              </a:r>
            </a:p>
          </p:txBody>
        </p:sp>
        <p:cxnSp>
          <p:nvCxnSpPr>
            <p:cNvPr id="57360" name="AutoShape 16"/>
            <p:cNvCxnSpPr>
              <a:cxnSpLocks noChangeShapeType="1"/>
            </p:cNvCxnSpPr>
            <p:nvPr/>
          </p:nvCxnSpPr>
          <p:spPr bwMode="auto">
            <a:xfrm flipH="1" flipV="1">
              <a:off x="4943" y="4195"/>
              <a:ext cx="590" cy="1"/>
            </a:xfrm>
            <a:prstGeom prst="straightConnector1">
              <a:avLst/>
            </a:prstGeom>
            <a:noFill/>
            <a:ln w="63360">
              <a:solidFill>
                <a:srgbClr val="000000"/>
              </a:solidFill>
              <a:miter lim="800000"/>
              <a:headEnd/>
              <a:tailEnd type="triangle" w="med" len="med"/>
            </a:ln>
            <a:effectLst/>
          </p:spPr>
        </p:cxnSp>
        <p:sp>
          <p:nvSpPr>
            <p:cNvPr id="57361" name="AutoShape 17"/>
            <p:cNvSpPr>
              <a:spLocks noChangeArrowheads="1"/>
            </p:cNvSpPr>
            <p:nvPr/>
          </p:nvSpPr>
          <p:spPr bwMode="auto">
            <a:xfrm>
              <a:off x="4989" y="3424"/>
              <a:ext cx="499" cy="227"/>
            </a:xfrm>
            <a:prstGeom prst="curvedDownArrow">
              <a:avLst>
                <a:gd name="adj1" fmla="val 24985"/>
                <a:gd name="adj2" fmla="val 49959"/>
                <a:gd name="adj3" fmla="val 25000"/>
              </a:avLst>
            </a:prstGeom>
            <a:solidFill>
              <a:srgbClr val="0070C0"/>
            </a:solidFill>
            <a:ln w="9360">
              <a:solidFill>
                <a:srgbClr val="000000"/>
              </a:solidFill>
              <a:round/>
              <a:headEnd/>
              <a:tailEnd/>
            </a:ln>
            <a:effectLst/>
          </p:spPr>
          <p:txBody>
            <a:bodyPr wrap="none" anchor="ctr"/>
            <a:lstStyle/>
            <a:p>
              <a:endParaRPr lang="en-IE"/>
            </a:p>
          </p:txBody>
        </p:sp>
        <p:sp>
          <p:nvSpPr>
            <p:cNvPr id="57362" name="AutoShape 18"/>
            <p:cNvSpPr>
              <a:spLocks noChangeArrowheads="1"/>
            </p:cNvSpPr>
            <p:nvPr/>
          </p:nvSpPr>
          <p:spPr bwMode="auto">
            <a:xfrm flipH="1" flipV="1">
              <a:off x="4989" y="3695"/>
              <a:ext cx="499" cy="227"/>
            </a:xfrm>
            <a:prstGeom prst="curvedDownArrow">
              <a:avLst>
                <a:gd name="adj1" fmla="val 24985"/>
                <a:gd name="adj2" fmla="val 49959"/>
                <a:gd name="adj3" fmla="val 25000"/>
              </a:avLst>
            </a:prstGeom>
            <a:solidFill>
              <a:srgbClr val="0070C0"/>
            </a:solidFill>
            <a:ln w="9360">
              <a:solidFill>
                <a:srgbClr val="000000"/>
              </a:solidFill>
              <a:round/>
              <a:headEnd/>
              <a:tailEnd/>
            </a:ln>
            <a:effectLst/>
          </p:spPr>
          <p:txBody>
            <a:bodyPr wrap="none" anchor="ctr"/>
            <a:lstStyle/>
            <a:p>
              <a:endParaRPr lang="en-IE"/>
            </a:p>
          </p:txBody>
        </p:sp>
      </p:grpSp>
      <p:sp>
        <p:nvSpPr>
          <p:cNvPr id="20" name="Slide Number Placeholder 19"/>
          <p:cNvSpPr>
            <a:spLocks noGrp="1"/>
          </p:cNvSpPr>
          <p:nvPr>
            <p:ph type="sldNum" idx="10"/>
          </p:nvPr>
        </p:nvSpPr>
        <p:spPr/>
        <p:txBody>
          <a:bodyPr/>
          <a:lstStyle/>
          <a:p>
            <a:fld id="{FE851EA8-346B-4082-9734-32D7F48A3BF1}" type="slidenum">
              <a:rPr lang="en-IE" smtClean="0"/>
              <a:pPr/>
              <a:t>21</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ext Box 1"/>
          <p:cNvSpPr txBox="1">
            <a:spLocks noChangeArrowheads="1"/>
          </p:cNvSpPr>
          <p:nvPr/>
        </p:nvSpPr>
        <p:spPr bwMode="auto">
          <a:xfrm>
            <a:off x="503238" y="301625"/>
            <a:ext cx="9070975" cy="1260475"/>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Torques - definition</a:t>
            </a:r>
          </a:p>
        </p:txBody>
      </p:sp>
      <p:sp>
        <p:nvSpPr>
          <p:cNvPr id="58370" name="Text Box 2"/>
          <p:cNvSpPr txBox="1">
            <a:spLocks noChangeArrowheads="1"/>
          </p:cNvSpPr>
          <p:nvPr/>
        </p:nvSpPr>
        <p:spPr bwMode="auto">
          <a:xfrm>
            <a:off x="576263" y="1835150"/>
            <a:ext cx="9070975" cy="49879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Making something rotate depends on:</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How hard you push</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How far from centre you push</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Concept of </a:t>
            </a:r>
            <a:r>
              <a:rPr lang="en-IE" sz="3200" i="1">
                <a:solidFill>
                  <a:srgbClr val="000000"/>
                </a:solidFill>
              </a:rPr>
              <a:t>lever arm</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Magnitude of torque is defined to be:</a:t>
            </a:r>
          </a:p>
          <a:p>
            <a:pPr marL="427038" indent="-322263">
              <a:spcAft>
                <a:spcPts val="1413"/>
              </a:spcAft>
              <a:buClrTx/>
              <a:buFontTx/>
              <a:buNone/>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				Torque = Force x Distance</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The distance is measured from the line of action of the force to the hinge, the centre of rotation, of the object</a:t>
            </a:r>
          </a:p>
        </p:txBody>
      </p:sp>
      <p:sp>
        <p:nvSpPr>
          <p:cNvPr id="58371"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2B3FD0E8-D868-4680-998B-75F8227D815C}"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22</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22</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ext Box 1"/>
          <p:cNvSpPr txBox="1">
            <a:spLocks noChangeArrowheads="1"/>
          </p:cNvSpPr>
          <p:nvPr/>
        </p:nvSpPr>
        <p:spPr bwMode="auto">
          <a:xfrm>
            <a:off x="503238" y="301625"/>
            <a:ext cx="9070975" cy="1260475"/>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Torques - definition</a:t>
            </a:r>
          </a:p>
        </p:txBody>
      </p:sp>
      <p:sp>
        <p:nvSpPr>
          <p:cNvPr id="59394" name="Text Box 2"/>
          <p:cNvSpPr txBox="1">
            <a:spLocks noChangeArrowheads="1"/>
          </p:cNvSpPr>
          <p:nvPr/>
        </p:nvSpPr>
        <p:spPr bwMode="auto">
          <a:xfrm>
            <a:off x="576263" y="1835150"/>
            <a:ext cx="9070975" cy="49879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Torques can be positive or negative</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Torque is a vector</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By convention, torques causing counter-clockwise rotations are positive</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Torques can add, subtract, cancel each other out</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Units for torque are Newtons x metres = Nm</a:t>
            </a:r>
          </a:p>
          <a:p>
            <a:pPr marL="427038" indent="-322263" algn="ctr">
              <a:spcAft>
                <a:spcPts val="1413"/>
              </a:spcAft>
              <a:buClrTx/>
              <a:buFontTx/>
              <a:buNone/>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(bizarrely this is the same for work and energy, but they are totally different things)</a:t>
            </a:r>
          </a:p>
        </p:txBody>
      </p:sp>
      <p:sp>
        <p:nvSpPr>
          <p:cNvPr id="5939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B5E2362-BA84-4CA3-ABBE-5A8854AADEFB}"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23</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23</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ext Box 1"/>
          <p:cNvSpPr txBox="1">
            <a:spLocks noChangeArrowheads="1"/>
          </p:cNvSpPr>
          <p:nvPr/>
        </p:nvSpPr>
        <p:spPr bwMode="auto">
          <a:xfrm>
            <a:off x="503238" y="301625"/>
            <a:ext cx="9070975" cy="1260475"/>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Torques - example</a:t>
            </a:r>
          </a:p>
        </p:txBody>
      </p:sp>
      <p:sp>
        <p:nvSpPr>
          <p:cNvPr id="60418" name="Text Box 2"/>
          <p:cNvSpPr txBox="1">
            <a:spLocks noChangeArrowheads="1"/>
          </p:cNvSpPr>
          <p:nvPr/>
        </p:nvSpPr>
        <p:spPr bwMode="auto">
          <a:xfrm>
            <a:off x="576263" y="1474788"/>
            <a:ext cx="9070975" cy="2233612"/>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When jumping a person exerts a force through their Achilles tendon of 850N. The tendon is attached 3.5cm from the ankle joint. Calculate the torque about the joint.</a:t>
            </a:r>
          </a:p>
          <a:p>
            <a:pPr marL="427038" indent="-322263" algn="ctr">
              <a:spcAft>
                <a:spcPts val="1413"/>
              </a:spcAft>
              <a:buClrTx/>
              <a:buFontTx/>
              <a:buNone/>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[ 29.75Nm]</a:t>
            </a:r>
          </a:p>
        </p:txBody>
      </p:sp>
      <p:sp>
        <p:nvSpPr>
          <p:cNvPr id="60419"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0EE0418-E387-4E47-8EDD-6497B2D8B1C8}"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24</a:t>
            </a:fld>
            <a:endParaRPr lang="en-IE" sz="1400">
              <a:solidFill>
                <a:srgbClr val="000000"/>
              </a:solidFill>
              <a:latin typeface="Times New Roman" pitchFamily="18" charset="0"/>
            </a:endParaRPr>
          </a:p>
        </p:txBody>
      </p:sp>
      <p:grpSp>
        <p:nvGrpSpPr>
          <p:cNvPr id="60420" name="Group 4"/>
          <p:cNvGrpSpPr>
            <a:grpSpLocks/>
          </p:cNvGrpSpPr>
          <p:nvPr/>
        </p:nvGrpSpPr>
        <p:grpSpPr bwMode="auto">
          <a:xfrm>
            <a:off x="3455988" y="4067175"/>
            <a:ext cx="3527425" cy="2790825"/>
            <a:chOff x="2177" y="2562"/>
            <a:chExt cx="2222" cy="1758"/>
          </a:xfrm>
        </p:grpSpPr>
        <p:pic>
          <p:nvPicPr>
            <p:cNvPr id="60421" name="Picture 5"/>
            <p:cNvPicPr>
              <a:picLocks noChangeAspect="1" noChangeArrowheads="1"/>
            </p:cNvPicPr>
            <p:nvPr/>
          </p:nvPicPr>
          <p:blipFill>
            <a:blip r:embed="rId3" cstate="print"/>
            <a:srcRect/>
            <a:stretch>
              <a:fillRect/>
            </a:stretch>
          </p:blipFill>
          <p:spPr bwMode="auto">
            <a:xfrm>
              <a:off x="2177" y="2653"/>
              <a:ext cx="2223" cy="1668"/>
            </a:xfrm>
            <a:prstGeom prst="rect">
              <a:avLst/>
            </a:prstGeom>
            <a:noFill/>
            <a:ln w="9525">
              <a:noFill/>
              <a:round/>
              <a:headEnd/>
              <a:tailEnd/>
            </a:ln>
            <a:effectLst/>
          </p:spPr>
        </p:pic>
        <p:sp>
          <p:nvSpPr>
            <p:cNvPr id="60422" name="AutoShape 6"/>
            <p:cNvSpPr>
              <a:spLocks noChangeArrowheads="1"/>
            </p:cNvSpPr>
            <p:nvPr/>
          </p:nvSpPr>
          <p:spPr bwMode="auto">
            <a:xfrm>
              <a:off x="2222" y="2562"/>
              <a:ext cx="317" cy="1361"/>
            </a:xfrm>
            <a:prstGeom prst="upArrow">
              <a:avLst>
                <a:gd name="adj1" fmla="val 50000"/>
                <a:gd name="adj2" fmla="val 50089"/>
              </a:avLst>
            </a:prstGeom>
            <a:solidFill>
              <a:srgbClr val="00B8FF"/>
            </a:solidFill>
            <a:ln w="9360">
              <a:solidFill>
                <a:srgbClr val="000000"/>
              </a:solidFill>
              <a:round/>
              <a:headEnd/>
              <a:tailEnd/>
            </a:ln>
            <a:effectLst/>
          </p:spPr>
          <p:txBody>
            <a:bodyPr lIns="90000" tIns="46800" rIns="90000" bIns="46800"/>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1100">
                  <a:solidFill>
                    <a:srgbClr val="000000"/>
                  </a:solidFill>
                </a:rPr>
                <a:t>Force = 850N</a:t>
              </a:r>
            </a:p>
          </p:txBody>
        </p:sp>
        <p:sp>
          <p:nvSpPr>
            <p:cNvPr id="60423" name="Oval 7"/>
            <p:cNvSpPr>
              <a:spLocks noChangeArrowheads="1"/>
            </p:cNvSpPr>
            <p:nvPr/>
          </p:nvSpPr>
          <p:spPr bwMode="auto">
            <a:xfrm>
              <a:off x="2676" y="3651"/>
              <a:ext cx="136" cy="136"/>
            </a:xfrm>
            <a:prstGeom prst="ellipse">
              <a:avLst/>
            </a:prstGeom>
            <a:solidFill>
              <a:srgbClr val="00B8FF"/>
            </a:solidFill>
            <a:ln w="9360">
              <a:solidFill>
                <a:srgbClr val="000000"/>
              </a:solidFill>
              <a:miter lim="800000"/>
              <a:headEnd/>
              <a:tailEnd/>
            </a:ln>
            <a:effectLst/>
          </p:spPr>
          <p:txBody>
            <a:bodyPr wrap="none" anchor="ctr"/>
            <a:lstStyle/>
            <a:p>
              <a:endParaRPr lang="en-IE"/>
            </a:p>
          </p:txBody>
        </p:sp>
        <p:sp>
          <p:nvSpPr>
            <p:cNvPr id="60424" name="AutoShape 8"/>
            <p:cNvSpPr>
              <a:spLocks noChangeArrowheads="1"/>
            </p:cNvSpPr>
            <p:nvPr/>
          </p:nvSpPr>
          <p:spPr bwMode="auto">
            <a:xfrm rot="20280000">
              <a:off x="2416" y="3752"/>
              <a:ext cx="317" cy="136"/>
            </a:xfrm>
            <a:prstGeom prst="leftRightArrow">
              <a:avLst>
                <a:gd name="adj1" fmla="val 50000"/>
                <a:gd name="adj2" fmla="val 49952"/>
              </a:avLst>
            </a:prstGeom>
            <a:solidFill>
              <a:srgbClr val="FFFFFF"/>
            </a:solidFill>
            <a:ln w="9360">
              <a:solidFill>
                <a:srgbClr val="FFFFFF"/>
              </a:solidFill>
              <a:round/>
              <a:headEnd/>
              <a:tailEnd/>
            </a:ln>
            <a:effectLst/>
          </p:spPr>
          <p:txBody>
            <a:bodyPr wrap="none" anchor="ctr"/>
            <a:lstStyle/>
            <a:p>
              <a:endParaRPr lang="en-IE"/>
            </a:p>
          </p:txBody>
        </p:sp>
        <p:sp>
          <p:nvSpPr>
            <p:cNvPr id="60425" name="Text Box 9"/>
            <p:cNvSpPr txBox="1">
              <a:spLocks noChangeArrowheads="1"/>
            </p:cNvSpPr>
            <p:nvPr/>
          </p:nvSpPr>
          <p:spPr bwMode="auto">
            <a:xfrm>
              <a:off x="2498" y="3878"/>
              <a:ext cx="521" cy="232"/>
            </a:xfrm>
            <a:prstGeom prst="rect">
              <a:avLst/>
            </a:prstGeom>
            <a:noFill/>
            <a:ln w="9525">
              <a:noFill/>
              <a:round/>
              <a:headEnd/>
              <a:tailEnd/>
            </a:ln>
            <a:effectLst/>
          </p:spPr>
          <p:txBody>
            <a:bodyPr wrap="none" lIns="90000" tIns="46800" rIns="90000" bIns="46800">
              <a:spAutoFit/>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b="1">
                  <a:solidFill>
                    <a:srgbClr val="FFFFFF"/>
                  </a:solidFill>
                </a:rPr>
                <a:t>3.5cm</a:t>
              </a:r>
            </a:p>
          </p:txBody>
        </p:sp>
      </p:grpSp>
      <p:sp>
        <p:nvSpPr>
          <p:cNvPr id="11" name="Slide Number Placeholder 10"/>
          <p:cNvSpPr>
            <a:spLocks noGrp="1"/>
          </p:cNvSpPr>
          <p:nvPr>
            <p:ph type="sldNum" idx="10"/>
          </p:nvPr>
        </p:nvSpPr>
        <p:spPr/>
        <p:txBody>
          <a:bodyPr/>
          <a:lstStyle/>
          <a:p>
            <a:fld id="{FE851EA8-346B-4082-9734-32D7F48A3BF1}" type="slidenum">
              <a:rPr lang="en-IE" smtClean="0"/>
              <a:pPr/>
              <a:t>24</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ext Box 1"/>
          <p:cNvSpPr txBox="1">
            <a:spLocks noChangeArrowheads="1"/>
          </p:cNvSpPr>
          <p:nvPr/>
        </p:nvSpPr>
        <p:spPr bwMode="auto">
          <a:xfrm>
            <a:off x="503238" y="301625"/>
            <a:ext cx="9070975" cy="1260475"/>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Torques in Sport</a:t>
            </a:r>
          </a:p>
        </p:txBody>
      </p:sp>
      <p:sp>
        <p:nvSpPr>
          <p:cNvPr id="61442" name="Text Box 2"/>
          <p:cNvSpPr txBox="1">
            <a:spLocks noChangeArrowheads="1"/>
          </p:cNvSpPr>
          <p:nvPr/>
        </p:nvSpPr>
        <p:spPr bwMode="auto">
          <a:xfrm>
            <a:off x="503238" y="1768475"/>
            <a:ext cx="9070975" cy="49879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Any sporting action that involves a turn, spin, or swing</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e.g rowing, golf, tennis, cricket</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Feature of tackling and wrestling</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Principle behind how most weights machines work</a:t>
            </a:r>
          </a:p>
        </p:txBody>
      </p:sp>
      <p:sp>
        <p:nvSpPr>
          <p:cNvPr id="61443"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88A6C33D-CDC2-4989-88A8-B128580CFD80}"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25</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25</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ext Box 1"/>
          <p:cNvSpPr txBox="1">
            <a:spLocks noChangeArrowheads="1"/>
          </p:cNvSpPr>
          <p:nvPr/>
        </p:nvSpPr>
        <p:spPr bwMode="auto">
          <a:xfrm>
            <a:off x="503238" y="301625"/>
            <a:ext cx="9070975" cy="1260475"/>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Torques in Sport</a:t>
            </a:r>
          </a:p>
        </p:txBody>
      </p:sp>
      <p:sp>
        <p:nvSpPr>
          <p:cNvPr id="62466" name="Text Box 2"/>
          <p:cNvSpPr txBox="1">
            <a:spLocks noChangeArrowheads="1"/>
          </p:cNvSpPr>
          <p:nvPr/>
        </p:nvSpPr>
        <p:spPr bwMode="auto">
          <a:xfrm>
            <a:off x="503238" y="1768475"/>
            <a:ext cx="9070975" cy="49879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Also important to understand muscle action</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See previous example</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Different torques as a joint is flexed</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Maximum torque for elbow at a right angle</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Weight machines designed to match this torque curve (dynamic variable resistance)</a:t>
            </a:r>
          </a:p>
        </p:txBody>
      </p:sp>
      <p:sp>
        <p:nvSpPr>
          <p:cNvPr id="62467"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92245CA-94F0-4180-90F1-3E61E2116E8A}"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26</a:t>
            </a:fld>
            <a:endParaRPr lang="en-IE" sz="1400">
              <a:solidFill>
                <a:srgbClr val="000000"/>
              </a:solidFill>
              <a:latin typeface="Times New Roman" pitchFamily="18" charset="0"/>
            </a:endParaRPr>
          </a:p>
        </p:txBody>
      </p:sp>
      <p:pic>
        <p:nvPicPr>
          <p:cNvPr id="62468" name="Picture 4"/>
          <p:cNvPicPr>
            <a:picLocks noChangeAspect="1" noChangeArrowheads="1"/>
          </p:cNvPicPr>
          <p:nvPr/>
        </p:nvPicPr>
        <p:blipFill>
          <a:blip r:embed="rId3" cstate="print"/>
          <a:srcRect/>
          <a:stretch>
            <a:fillRect/>
          </a:stretch>
        </p:blipFill>
        <p:spPr bwMode="auto">
          <a:xfrm>
            <a:off x="2303463" y="4932363"/>
            <a:ext cx="4143375" cy="2352675"/>
          </a:xfrm>
          <a:prstGeom prst="rect">
            <a:avLst/>
          </a:prstGeom>
          <a:noFill/>
          <a:ln w="9525">
            <a:noFill/>
            <a:round/>
            <a:headEnd/>
            <a:tailEnd/>
          </a:ln>
          <a:effectLst/>
        </p:spPr>
      </p:pic>
      <p:sp>
        <p:nvSpPr>
          <p:cNvPr id="6" name="Slide Number Placeholder 5"/>
          <p:cNvSpPr>
            <a:spLocks noGrp="1"/>
          </p:cNvSpPr>
          <p:nvPr>
            <p:ph type="sldNum" idx="10"/>
          </p:nvPr>
        </p:nvSpPr>
        <p:spPr/>
        <p:txBody>
          <a:bodyPr/>
          <a:lstStyle/>
          <a:p>
            <a:fld id="{FE851EA8-346B-4082-9734-32D7F48A3BF1}" type="slidenum">
              <a:rPr lang="en-IE" smtClean="0"/>
              <a:pPr/>
              <a:t>26</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ext Box 1"/>
          <p:cNvSpPr txBox="1">
            <a:spLocks noChangeArrowheads="1"/>
          </p:cNvSpPr>
          <p:nvPr/>
        </p:nvSpPr>
        <p:spPr bwMode="auto">
          <a:xfrm>
            <a:off x="503238" y="301625"/>
            <a:ext cx="9070975" cy="1260475"/>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dirty="0">
                <a:solidFill>
                  <a:srgbClr val="1F497D"/>
                </a:solidFill>
              </a:rPr>
              <a:t>Torques in Muscles</a:t>
            </a:r>
          </a:p>
        </p:txBody>
      </p:sp>
      <p:sp>
        <p:nvSpPr>
          <p:cNvPr id="62466" name="Text Box 2"/>
          <p:cNvSpPr txBox="1">
            <a:spLocks noChangeArrowheads="1"/>
          </p:cNvSpPr>
          <p:nvPr/>
        </p:nvSpPr>
        <p:spPr bwMode="auto">
          <a:xfrm>
            <a:off x="503238" y="1768475"/>
            <a:ext cx="9070975" cy="49879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endParaRPr lang="en-IE" sz="2800" dirty="0">
              <a:solidFill>
                <a:srgbClr val="000000"/>
              </a:solidFill>
            </a:endParaRPr>
          </a:p>
        </p:txBody>
      </p:sp>
      <p:sp>
        <p:nvSpPr>
          <p:cNvPr id="62467"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D92245CA-94F0-4180-90F1-3E61E2116E8A}"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27</a:t>
            </a:fld>
            <a:endParaRPr lang="en-IE" sz="1400">
              <a:solidFill>
                <a:srgbClr val="000000"/>
              </a:solidFill>
              <a:latin typeface="Times New Roman" pitchFamily="18" charset="0"/>
            </a:endParaRPr>
          </a:p>
        </p:txBody>
      </p:sp>
      <p:graphicFrame>
        <p:nvGraphicFramePr>
          <p:cNvPr id="6" name="Table 5"/>
          <p:cNvGraphicFramePr>
            <a:graphicFrameLocks noGrp="1"/>
          </p:cNvGraphicFramePr>
          <p:nvPr/>
        </p:nvGraphicFramePr>
        <p:xfrm>
          <a:off x="1871960" y="1547589"/>
          <a:ext cx="5736472" cy="3708400"/>
        </p:xfrm>
        <a:graphic>
          <a:graphicData uri="http://schemas.openxmlformats.org/drawingml/2006/table">
            <a:tbl>
              <a:tblPr firstRow="1" bandRow="1">
                <a:tableStyleId>{5C22544A-7EE6-4342-B048-85BDC9FD1C3A}</a:tableStyleId>
              </a:tblPr>
              <a:tblGrid>
                <a:gridCol w="2342956">
                  <a:extLst>
                    <a:ext uri="{9D8B030D-6E8A-4147-A177-3AD203B41FA5}">
                      <a16:colId xmlns:a16="http://schemas.microsoft.com/office/drawing/2014/main" val="20000"/>
                    </a:ext>
                  </a:extLst>
                </a:gridCol>
                <a:gridCol w="3393516">
                  <a:extLst>
                    <a:ext uri="{9D8B030D-6E8A-4147-A177-3AD203B41FA5}">
                      <a16:colId xmlns:a16="http://schemas.microsoft.com/office/drawing/2014/main" val="20001"/>
                    </a:ext>
                  </a:extLst>
                </a:gridCol>
              </a:tblGrid>
              <a:tr h="370840">
                <a:tc>
                  <a:txBody>
                    <a:bodyPr/>
                    <a:lstStyle/>
                    <a:p>
                      <a:r>
                        <a:rPr lang="en-IE" dirty="0"/>
                        <a:t>action</a:t>
                      </a:r>
                    </a:p>
                  </a:txBody>
                  <a:tcPr/>
                </a:tc>
                <a:tc>
                  <a:txBody>
                    <a:bodyPr/>
                    <a:lstStyle/>
                    <a:p>
                      <a:r>
                        <a:rPr lang="en-IE" dirty="0"/>
                        <a:t>Peak muscle torque (Nm)</a:t>
                      </a:r>
                    </a:p>
                  </a:txBody>
                  <a:tcPr/>
                </a:tc>
                <a:extLst>
                  <a:ext uri="{0D108BD9-81ED-4DB2-BD59-A6C34878D82A}">
                    <a16:rowId xmlns:a16="http://schemas.microsoft.com/office/drawing/2014/main" val="10000"/>
                  </a:ext>
                </a:extLst>
              </a:tr>
              <a:tr h="370840">
                <a:tc>
                  <a:txBody>
                    <a:bodyPr/>
                    <a:lstStyle/>
                    <a:p>
                      <a:r>
                        <a:rPr lang="en-IE" dirty="0"/>
                        <a:t>Trunk extension</a:t>
                      </a:r>
                    </a:p>
                  </a:txBody>
                  <a:tcPr/>
                </a:tc>
                <a:tc>
                  <a:txBody>
                    <a:bodyPr/>
                    <a:lstStyle/>
                    <a:p>
                      <a:pPr algn="ctr"/>
                      <a:r>
                        <a:rPr lang="en-IE" dirty="0"/>
                        <a:t>258</a:t>
                      </a:r>
                    </a:p>
                  </a:txBody>
                  <a:tcPr/>
                </a:tc>
                <a:extLst>
                  <a:ext uri="{0D108BD9-81ED-4DB2-BD59-A6C34878D82A}">
                    <a16:rowId xmlns:a16="http://schemas.microsoft.com/office/drawing/2014/main" val="10001"/>
                  </a:ext>
                </a:extLst>
              </a:tr>
              <a:tr h="370840">
                <a:tc>
                  <a:txBody>
                    <a:bodyPr/>
                    <a:lstStyle/>
                    <a:p>
                      <a:r>
                        <a:rPr lang="en-IE" dirty="0"/>
                        <a:t>Trunk flexion</a:t>
                      </a:r>
                    </a:p>
                  </a:txBody>
                  <a:tcPr/>
                </a:tc>
                <a:tc>
                  <a:txBody>
                    <a:bodyPr/>
                    <a:lstStyle/>
                    <a:p>
                      <a:pPr algn="ctr"/>
                      <a:r>
                        <a:rPr lang="en-IE" dirty="0"/>
                        <a:t>177</a:t>
                      </a:r>
                    </a:p>
                  </a:txBody>
                  <a:tcPr/>
                </a:tc>
                <a:extLst>
                  <a:ext uri="{0D108BD9-81ED-4DB2-BD59-A6C34878D82A}">
                    <a16:rowId xmlns:a16="http://schemas.microsoft.com/office/drawing/2014/main" val="10002"/>
                  </a:ext>
                </a:extLst>
              </a:tr>
              <a:tr h="370840">
                <a:tc>
                  <a:txBody>
                    <a:bodyPr/>
                    <a:lstStyle/>
                    <a:p>
                      <a:r>
                        <a:rPr lang="en-IE" dirty="0"/>
                        <a:t>Knee extension</a:t>
                      </a:r>
                    </a:p>
                  </a:txBody>
                  <a:tcPr/>
                </a:tc>
                <a:tc>
                  <a:txBody>
                    <a:bodyPr/>
                    <a:lstStyle/>
                    <a:p>
                      <a:pPr algn="ctr"/>
                      <a:r>
                        <a:rPr lang="en-IE" dirty="0"/>
                        <a:t>204</a:t>
                      </a:r>
                    </a:p>
                  </a:txBody>
                  <a:tcPr/>
                </a:tc>
                <a:extLst>
                  <a:ext uri="{0D108BD9-81ED-4DB2-BD59-A6C34878D82A}">
                    <a16:rowId xmlns:a16="http://schemas.microsoft.com/office/drawing/2014/main" val="10003"/>
                  </a:ext>
                </a:extLst>
              </a:tr>
              <a:tr h="370840">
                <a:tc>
                  <a:txBody>
                    <a:bodyPr/>
                    <a:lstStyle/>
                    <a:p>
                      <a:r>
                        <a:rPr lang="en-IE" dirty="0"/>
                        <a:t>Knee flexion</a:t>
                      </a:r>
                    </a:p>
                  </a:txBody>
                  <a:tcPr/>
                </a:tc>
                <a:tc>
                  <a:txBody>
                    <a:bodyPr/>
                    <a:lstStyle/>
                    <a:p>
                      <a:pPr algn="ctr"/>
                      <a:r>
                        <a:rPr lang="en-IE" dirty="0"/>
                        <a:t>109</a:t>
                      </a:r>
                    </a:p>
                  </a:txBody>
                  <a:tcPr/>
                </a:tc>
                <a:extLst>
                  <a:ext uri="{0D108BD9-81ED-4DB2-BD59-A6C34878D82A}">
                    <a16:rowId xmlns:a16="http://schemas.microsoft.com/office/drawing/2014/main" val="10004"/>
                  </a:ext>
                </a:extLst>
              </a:tr>
              <a:tr h="370840">
                <a:tc>
                  <a:txBody>
                    <a:bodyPr/>
                    <a:lstStyle/>
                    <a:p>
                      <a:r>
                        <a:rPr lang="en-IE" dirty="0"/>
                        <a:t>Hip extension</a:t>
                      </a:r>
                    </a:p>
                  </a:txBody>
                  <a:tcPr/>
                </a:tc>
                <a:tc>
                  <a:txBody>
                    <a:bodyPr/>
                    <a:lstStyle/>
                    <a:p>
                      <a:pPr algn="ctr"/>
                      <a:r>
                        <a:rPr lang="en-IE" dirty="0"/>
                        <a:t>150</a:t>
                      </a:r>
                    </a:p>
                  </a:txBody>
                  <a:tcPr/>
                </a:tc>
                <a:extLst>
                  <a:ext uri="{0D108BD9-81ED-4DB2-BD59-A6C34878D82A}">
                    <a16:rowId xmlns:a16="http://schemas.microsoft.com/office/drawing/2014/main" val="10005"/>
                  </a:ext>
                </a:extLst>
              </a:tr>
              <a:tr h="370840">
                <a:tc>
                  <a:txBody>
                    <a:bodyPr/>
                    <a:lstStyle/>
                    <a:p>
                      <a:r>
                        <a:rPr lang="en-IE" dirty="0"/>
                        <a:t>Ankle</a:t>
                      </a:r>
                      <a:r>
                        <a:rPr lang="en-IE" baseline="0" dirty="0"/>
                        <a:t> plantar flexion</a:t>
                      </a:r>
                      <a:endParaRPr lang="en-IE" dirty="0"/>
                    </a:p>
                  </a:txBody>
                  <a:tcPr/>
                </a:tc>
                <a:tc>
                  <a:txBody>
                    <a:bodyPr/>
                    <a:lstStyle/>
                    <a:p>
                      <a:pPr algn="ctr"/>
                      <a:r>
                        <a:rPr lang="en-IE" dirty="0"/>
                        <a:t>74</a:t>
                      </a:r>
                    </a:p>
                  </a:txBody>
                  <a:tcPr/>
                </a:tc>
                <a:extLst>
                  <a:ext uri="{0D108BD9-81ED-4DB2-BD59-A6C34878D82A}">
                    <a16:rowId xmlns:a16="http://schemas.microsoft.com/office/drawing/2014/main" val="10006"/>
                  </a:ext>
                </a:extLst>
              </a:tr>
              <a:tr h="370840">
                <a:tc>
                  <a:txBody>
                    <a:bodyPr/>
                    <a:lstStyle/>
                    <a:p>
                      <a:r>
                        <a:rPr lang="en-IE" dirty="0"/>
                        <a:t>Elbow flexion</a:t>
                      </a:r>
                    </a:p>
                  </a:txBody>
                  <a:tcPr/>
                </a:tc>
                <a:tc>
                  <a:txBody>
                    <a:bodyPr/>
                    <a:lstStyle/>
                    <a:p>
                      <a:pPr algn="ctr"/>
                      <a:r>
                        <a:rPr lang="en-IE" dirty="0"/>
                        <a:t>20</a:t>
                      </a:r>
                    </a:p>
                  </a:txBody>
                  <a:tcPr/>
                </a:tc>
                <a:extLst>
                  <a:ext uri="{0D108BD9-81ED-4DB2-BD59-A6C34878D82A}">
                    <a16:rowId xmlns:a16="http://schemas.microsoft.com/office/drawing/2014/main" val="10007"/>
                  </a:ext>
                </a:extLst>
              </a:tr>
              <a:tr h="370840">
                <a:tc>
                  <a:txBody>
                    <a:bodyPr/>
                    <a:lstStyle/>
                    <a:p>
                      <a:r>
                        <a:rPr lang="en-IE" dirty="0"/>
                        <a:t>Wrist flexion</a:t>
                      </a:r>
                    </a:p>
                  </a:txBody>
                  <a:tcPr/>
                </a:tc>
                <a:tc>
                  <a:txBody>
                    <a:bodyPr/>
                    <a:lstStyle/>
                    <a:p>
                      <a:pPr algn="ctr"/>
                      <a:r>
                        <a:rPr lang="en-IE" dirty="0"/>
                        <a:t>8</a:t>
                      </a:r>
                    </a:p>
                  </a:txBody>
                  <a:tcPr/>
                </a:tc>
                <a:extLst>
                  <a:ext uri="{0D108BD9-81ED-4DB2-BD59-A6C34878D82A}">
                    <a16:rowId xmlns:a16="http://schemas.microsoft.com/office/drawing/2014/main" val="10008"/>
                  </a:ext>
                </a:extLst>
              </a:tr>
              <a:tr h="370840">
                <a:tc>
                  <a:txBody>
                    <a:bodyPr/>
                    <a:lstStyle/>
                    <a:p>
                      <a:r>
                        <a:rPr lang="en-IE" dirty="0"/>
                        <a:t>Wrist extension</a:t>
                      </a:r>
                    </a:p>
                  </a:txBody>
                  <a:tcPr/>
                </a:tc>
                <a:tc>
                  <a:txBody>
                    <a:bodyPr/>
                    <a:lstStyle/>
                    <a:p>
                      <a:pPr algn="ctr"/>
                      <a:r>
                        <a:rPr lang="en-IE" dirty="0"/>
                        <a:t>4</a:t>
                      </a:r>
                    </a:p>
                  </a:txBody>
                  <a:tcPr/>
                </a:tc>
                <a:extLst>
                  <a:ext uri="{0D108BD9-81ED-4DB2-BD59-A6C34878D82A}">
                    <a16:rowId xmlns:a16="http://schemas.microsoft.com/office/drawing/2014/main" val="10009"/>
                  </a:ext>
                </a:extLst>
              </a:tr>
            </a:tbl>
          </a:graphicData>
        </a:graphic>
      </p:graphicFrame>
      <p:sp>
        <p:nvSpPr>
          <p:cNvPr id="7" name="TextBox 6"/>
          <p:cNvSpPr txBox="1"/>
          <p:nvPr/>
        </p:nvSpPr>
        <p:spPr>
          <a:xfrm>
            <a:off x="3071928" y="5587928"/>
            <a:ext cx="4044697" cy="369332"/>
          </a:xfrm>
          <a:prstGeom prst="rect">
            <a:avLst/>
          </a:prstGeom>
          <a:noFill/>
        </p:spPr>
        <p:txBody>
          <a:bodyPr wrap="none" rtlCol="0">
            <a:spAutoFit/>
          </a:bodyPr>
          <a:lstStyle/>
          <a:p>
            <a:r>
              <a:rPr lang="en-IE" i="1" dirty="0">
                <a:solidFill>
                  <a:schemeClr val="tx1"/>
                </a:solidFill>
              </a:rPr>
              <a:t>(from Knudson, Biomechanics, p.171)</a:t>
            </a:r>
          </a:p>
        </p:txBody>
      </p:sp>
      <p:sp>
        <p:nvSpPr>
          <p:cNvPr id="8" name="Slide Number Placeholder 7"/>
          <p:cNvSpPr>
            <a:spLocks noGrp="1"/>
          </p:cNvSpPr>
          <p:nvPr>
            <p:ph type="sldNum" idx="10"/>
          </p:nvPr>
        </p:nvSpPr>
        <p:spPr/>
        <p:txBody>
          <a:bodyPr/>
          <a:lstStyle/>
          <a:p>
            <a:fld id="{FE851EA8-346B-4082-9734-32D7F48A3BF1}" type="slidenum">
              <a:rPr lang="en-IE" smtClean="0"/>
              <a:pPr/>
              <a:t>27</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Torque and Moments of Inertia - examples</a:t>
            </a:r>
          </a:p>
        </p:txBody>
      </p:sp>
      <p:sp>
        <p:nvSpPr>
          <p:cNvPr id="78850" name="Text Box 2"/>
          <p:cNvSpPr txBox="1">
            <a:spLocks noChangeArrowheads="1"/>
          </p:cNvSpPr>
          <p:nvPr/>
        </p:nvSpPr>
        <p:spPr bwMode="auto">
          <a:xfrm>
            <a:off x="360363" y="1619250"/>
            <a:ext cx="9142412" cy="5219700"/>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latin typeface="DejaVu Sans"/>
              </a:rPr>
              <a:t>A string is wound around a disk of mass 3kg and radius 0.25m. The string is pulled with a force of 10N. The disk is intially at rest</a:t>
            </a:r>
          </a:p>
          <a:p>
            <a:pPr marL="741363" lvl="1" indent="-284163">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latin typeface="DejaVu Sans"/>
              </a:rPr>
              <a:t>What is the moment of inertia of the disk?</a:t>
            </a:r>
          </a:p>
          <a:p>
            <a:pPr marL="741363" lvl="1" indent="-284163">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What is the torque on the disk?</a:t>
            </a:r>
          </a:p>
          <a:p>
            <a:pPr marL="741363" lvl="1" indent="-284163">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What is the angular acceleration of the disk?</a:t>
            </a:r>
          </a:p>
          <a:p>
            <a:pPr marL="741363" lvl="1" indent="-284163">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latin typeface="DejaVu Sans"/>
              </a:rPr>
              <a:t>what is the angular velocity after 7s?</a:t>
            </a:r>
          </a:p>
          <a:p>
            <a:pPr marL="427038" indent="-322263" algn="ctr">
              <a:spcAft>
                <a:spcPts val="1413"/>
              </a:spcAft>
              <a:buFont typeface="Arial" pitchFamily="34" charset="0"/>
              <a:buNone/>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a:solidFill>
                  <a:srgbClr val="000000"/>
                </a:solidFill>
              </a:rPr>
              <a:t>[ 0.0938kgm</a:t>
            </a:r>
            <a:r>
              <a:rPr lang="en-IE" sz="2400" b="1" baseline="33000">
                <a:solidFill>
                  <a:srgbClr val="000000"/>
                </a:solidFill>
              </a:rPr>
              <a:t>2</a:t>
            </a:r>
            <a:r>
              <a:rPr lang="en-IE" sz="2400" b="1">
                <a:solidFill>
                  <a:srgbClr val="000000"/>
                </a:solidFill>
              </a:rPr>
              <a:t>, 2.5Nm, 26.7rads s</a:t>
            </a:r>
            <a:r>
              <a:rPr lang="en-IE" sz="2400" b="1" baseline="33000">
                <a:solidFill>
                  <a:srgbClr val="000000"/>
                </a:solidFill>
              </a:rPr>
              <a:t>-2</a:t>
            </a:r>
            <a:r>
              <a:rPr lang="en-IE" sz="2400" b="1">
                <a:solidFill>
                  <a:srgbClr val="000000"/>
                </a:solidFill>
              </a:rPr>
              <a:t>, 186.7rads s</a:t>
            </a:r>
            <a:r>
              <a:rPr lang="en-IE" sz="2400" b="1" baseline="33000">
                <a:solidFill>
                  <a:srgbClr val="000000"/>
                </a:solidFill>
              </a:rPr>
              <a:t>-1</a:t>
            </a:r>
            <a:r>
              <a:rPr lang="en-IE" sz="2400" b="1">
                <a:solidFill>
                  <a:srgbClr val="000000"/>
                </a:solidFill>
              </a:rPr>
              <a:t>]</a:t>
            </a:r>
          </a:p>
        </p:txBody>
      </p:sp>
      <p:sp>
        <p:nvSpPr>
          <p:cNvPr id="78851"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ACFE97D2-8EB4-4B56-B287-EE905B08EDB1}"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28</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28</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Torque and Moments of Inertia - examples</a:t>
            </a:r>
          </a:p>
        </p:txBody>
      </p:sp>
      <p:sp>
        <p:nvSpPr>
          <p:cNvPr id="79874" name="Text Box 2"/>
          <p:cNvSpPr txBox="1">
            <a:spLocks noChangeArrowheads="1"/>
          </p:cNvSpPr>
          <p:nvPr/>
        </p:nvSpPr>
        <p:spPr bwMode="auto">
          <a:xfrm>
            <a:off x="360363" y="1619250"/>
            <a:ext cx="9142412" cy="5219700"/>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latin typeface="DejaVu Sans"/>
              </a:rPr>
              <a:t>A 2.9kg mass is attached to a string wound around a wheel of mass 6.1kg and radius 0.75m. </a:t>
            </a:r>
          </a:p>
          <a:p>
            <a:pPr marL="741363" lvl="1" indent="-284163">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Calculate the moment of inertia of the wheel</a:t>
            </a:r>
          </a:p>
          <a:p>
            <a:pPr marL="741363" lvl="1" indent="-284163">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Calculate the weight of the attached mass</a:t>
            </a:r>
          </a:p>
          <a:p>
            <a:pPr marL="741363" lvl="1" indent="-284163">
              <a:spcAft>
                <a:spcPts val="1413"/>
              </a:spcAft>
              <a:buFont typeface="Times New Roman" pitchFamily="18"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Calculate the acceleration of the attached mass as it falls</a:t>
            </a:r>
          </a:p>
          <a:p>
            <a:pPr marL="427038" indent="-322263" algn="ctr">
              <a:spcAft>
                <a:spcPts val="1413"/>
              </a:spcAft>
              <a:buFont typeface="Arial" pitchFamily="34" charset="0"/>
              <a:buNone/>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a:solidFill>
                  <a:srgbClr val="000000"/>
                </a:solidFill>
              </a:rPr>
              <a:t>[ 1.716kgm</a:t>
            </a:r>
            <a:r>
              <a:rPr lang="en-IE" sz="2400" b="1" baseline="33000">
                <a:solidFill>
                  <a:srgbClr val="000000"/>
                </a:solidFill>
              </a:rPr>
              <a:t>2</a:t>
            </a:r>
            <a:r>
              <a:rPr lang="en-IE" sz="2400" b="1">
                <a:solidFill>
                  <a:srgbClr val="000000"/>
                </a:solidFill>
              </a:rPr>
              <a:t>, 28.45N, 4.78ms</a:t>
            </a:r>
            <a:r>
              <a:rPr lang="en-IE" sz="2400" b="1" baseline="33000">
                <a:solidFill>
                  <a:srgbClr val="000000"/>
                </a:solidFill>
              </a:rPr>
              <a:t>-2</a:t>
            </a:r>
            <a:r>
              <a:rPr lang="en-IE" sz="2400" b="1">
                <a:solidFill>
                  <a:srgbClr val="000000"/>
                </a:solidFill>
              </a:rPr>
              <a:t>]</a:t>
            </a:r>
          </a:p>
        </p:txBody>
      </p:sp>
      <p:sp>
        <p:nvSpPr>
          <p:cNvPr id="7987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A1D2253-9890-4768-9C3D-02AA74E92A73}"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29</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29</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dirty="0">
                <a:solidFill>
                  <a:srgbClr val="1F497D"/>
                </a:solidFill>
              </a:rPr>
              <a:t>Moments of Inertia - planes</a:t>
            </a:r>
          </a:p>
        </p:txBody>
      </p:sp>
      <p:sp>
        <p:nvSpPr>
          <p:cNvPr id="79874" name="Text Box 2"/>
          <p:cNvSpPr txBox="1">
            <a:spLocks noChangeArrowheads="1"/>
          </p:cNvSpPr>
          <p:nvPr/>
        </p:nvSpPr>
        <p:spPr bwMode="auto">
          <a:xfrm>
            <a:off x="359792" y="1403573"/>
            <a:ext cx="9361040" cy="5219700"/>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To identify the axis of rotation it can help to think about the plane of rotation</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If you can picture a two dimensional sheet in which a part of the object is moving, then the axis of rotation is perpendicular to this sheet.</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b="1" dirty="0" err="1">
                <a:solidFill>
                  <a:srgbClr val="000000"/>
                </a:solidFill>
                <a:latin typeface="DejaVu Sans"/>
              </a:rPr>
              <a:t>Sagittal</a:t>
            </a:r>
            <a:r>
              <a:rPr lang="en-IE" sz="2800" b="1" dirty="0">
                <a:solidFill>
                  <a:srgbClr val="000000"/>
                </a:solidFill>
                <a:latin typeface="DejaVu Sans"/>
              </a:rPr>
              <a:t> Plane</a:t>
            </a:r>
            <a:r>
              <a:rPr lang="en-IE" sz="2800" dirty="0">
                <a:solidFill>
                  <a:srgbClr val="000000"/>
                </a:solidFill>
                <a:latin typeface="DejaVu Sans"/>
              </a:rPr>
              <a:t> – divides body left and right</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b="1" dirty="0">
                <a:solidFill>
                  <a:srgbClr val="000000"/>
                </a:solidFill>
                <a:latin typeface="DejaVu Sans"/>
              </a:rPr>
              <a:t>Coronal Plane</a:t>
            </a:r>
            <a:r>
              <a:rPr lang="en-IE" sz="2800" dirty="0">
                <a:solidFill>
                  <a:srgbClr val="000000"/>
                </a:solidFill>
                <a:latin typeface="DejaVu Sans"/>
              </a:rPr>
              <a:t> – divides body back and front</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b="1" dirty="0">
                <a:solidFill>
                  <a:srgbClr val="000000"/>
                </a:solidFill>
                <a:latin typeface="DejaVu Sans"/>
              </a:rPr>
              <a:t>Transverse Plane</a:t>
            </a:r>
            <a:r>
              <a:rPr lang="en-IE" sz="2800" dirty="0">
                <a:solidFill>
                  <a:srgbClr val="000000"/>
                </a:solidFill>
                <a:latin typeface="DejaVu Sans"/>
              </a:rPr>
              <a:t> – divides body top and bottom</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b="1" dirty="0">
                <a:solidFill>
                  <a:srgbClr val="000000"/>
                </a:solidFill>
                <a:latin typeface="DejaVu Sans"/>
              </a:rPr>
              <a:t>Transverse Axis</a:t>
            </a:r>
            <a:r>
              <a:rPr lang="en-IE" sz="2800" dirty="0">
                <a:solidFill>
                  <a:srgbClr val="000000"/>
                </a:solidFill>
                <a:latin typeface="DejaVu Sans"/>
              </a:rPr>
              <a:t> – perpendicular to </a:t>
            </a:r>
            <a:r>
              <a:rPr lang="en-IE" sz="2800" dirty="0" err="1">
                <a:solidFill>
                  <a:srgbClr val="000000"/>
                </a:solidFill>
                <a:latin typeface="DejaVu Sans"/>
              </a:rPr>
              <a:t>sagittal</a:t>
            </a:r>
            <a:r>
              <a:rPr lang="en-IE" sz="2800" dirty="0">
                <a:solidFill>
                  <a:srgbClr val="000000"/>
                </a:solidFill>
                <a:latin typeface="DejaVu Sans"/>
              </a:rPr>
              <a:t> plane</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b="1" dirty="0" err="1">
                <a:solidFill>
                  <a:srgbClr val="000000"/>
                </a:solidFill>
                <a:latin typeface="DejaVu Sans"/>
              </a:rPr>
              <a:t>Anteroposterior</a:t>
            </a:r>
            <a:r>
              <a:rPr lang="en-IE" sz="2800" b="1" dirty="0">
                <a:solidFill>
                  <a:srgbClr val="000000"/>
                </a:solidFill>
                <a:latin typeface="DejaVu Sans"/>
              </a:rPr>
              <a:t> Axis</a:t>
            </a:r>
            <a:r>
              <a:rPr lang="en-IE" sz="2800" dirty="0">
                <a:solidFill>
                  <a:srgbClr val="000000"/>
                </a:solidFill>
                <a:latin typeface="DejaVu Sans"/>
              </a:rPr>
              <a:t> – perpendicular to coronal plane</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b="1" dirty="0">
                <a:solidFill>
                  <a:srgbClr val="000000"/>
                </a:solidFill>
                <a:latin typeface="DejaVu Sans"/>
              </a:rPr>
              <a:t>Longitudinal Axis </a:t>
            </a:r>
            <a:r>
              <a:rPr lang="en-IE" sz="2800" dirty="0">
                <a:solidFill>
                  <a:srgbClr val="000000"/>
                </a:solidFill>
                <a:latin typeface="DejaVu Sans"/>
              </a:rPr>
              <a:t>– perpendicular to transverse plane</a:t>
            </a:r>
          </a:p>
        </p:txBody>
      </p:sp>
      <p:sp>
        <p:nvSpPr>
          <p:cNvPr id="7987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A1D2253-9890-4768-9C3D-02AA74E92A73}"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30</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30</a:t>
            </a:fld>
            <a:endParaRPr lang="en-IE"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ext Box 1"/>
          <p:cNvSpPr txBox="1">
            <a:spLocks noChangeArrowheads="1"/>
          </p:cNvSpPr>
          <p:nvPr/>
        </p:nvSpPr>
        <p:spPr bwMode="auto">
          <a:xfrm>
            <a:off x="503238" y="265113"/>
            <a:ext cx="9070975" cy="669925"/>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Torques at Equilibrium</a:t>
            </a:r>
          </a:p>
        </p:txBody>
      </p:sp>
      <p:sp>
        <p:nvSpPr>
          <p:cNvPr id="63490" name="Text Box 2"/>
          <p:cNvSpPr txBox="1">
            <a:spLocks noChangeArrowheads="1"/>
          </p:cNvSpPr>
          <p:nvPr/>
        </p:nvSpPr>
        <p:spPr bwMode="auto">
          <a:xfrm>
            <a:off x="431800" y="971550"/>
            <a:ext cx="9290050" cy="3887788"/>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As torques are vectors they can add and subtract</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Can get a force couple that gives us no net torque</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This is the law of the lever</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Consider the diver on a spring board below:</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Can figure out that the force on the bolt is 1800N and on the fulcrum is 2400N</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Note that in equilibrium, it doesn’t matter where we choose the axis of rotation</a:t>
            </a:r>
          </a:p>
        </p:txBody>
      </p:sp>
      <p:sp>
        <p:nvSpPr>
          <p:cNvPr id="63491"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E552138-915D-47CB-B037-24FC923D1E47}"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31</a:t>
            </a:fld>
            <a:endParaRPr lang="en-IE" sz="1400">
              <a:solidFill>
                <a:srgbClr val="000000"/>
              </a:solidFill>
              <a:latin typeface="Times New Roman" pitchFamily="18" charset="0"/>
            </a:endParaRPr>
          </a:p>
        </p:txBody>
      </p:sp>
      <p:grpSp>
        <p:nvGrpSpPr>
          <p:cNvPr id="63492" name="Group 4"/>
          <p:cNvGrpSpPr>
            <a:grpSpLocks/>
          </p:cNvGrpSpPr>
          <p:nvPr/>
        </p:nvGrpSpPr>
        <p:grpSpPr bwMode="auto">
          <a:xfrm>
            <a:off x="3024188" y="4716463"/>
            <a:ext cx="4999037" cy="2446337"/>
            <a:chOff x="1905" y="2971"/>
            <a:chExt cx="3149" cy="1541"/>
          </a:xfrm>
        </p:grpSpPr>
        <p:grpSp>
          <p:nvGrpSpPr>
            <p:cNvPr id="63493" name="Group 5"/>
            <p:cNvGrpSpPr>
              <a:grpSpLocks/>
            </p:cNvGrpSpPr>
            <p:nvPr/>
          </p:nvGrpSpPr>
          <p:grpSpPr bwMode="auto">
            <a:xfrm>
              <a:off x="1905" y="2971"/>
              <a:ext cx="3149" cy="1450"/>
              <a:chOff x="1905" y="2971"/>
              <a:chExt cx="3149" cy="1450"/>
            </a:xfrm>
          </p:grpSpPr>
          <p:sp>
            <p:nvSpPr>
              <p:cNvPr id="63494" name="AutoShape 6"/>
              <p:cNvSpPr>
                <a:spLocks noChangeArrowheads="1"/>
              </p:cNvSpPr>
              <p:nvPr/>
            </p:nvSpPr>
            <p:spPr bwMode="auto">
              <a:xfrm>
                <a:off x="2631" y="3742"/>
                <a:ext cx="272" cy="363"/>
              </a:xfrm>
              <a:prstGeom prst="triangle">
                <a:avLst>
                  <a:gd name="adj" fmla="val 50000"/>
                </a:avLst>
              </a:prstGeom>
              <a:solidFill>
                <a:srgbClr val="00B8FF"/>
              </a:solidFill>
              <a:ln w="9360">
                <a:solidFill>
                  <a:srgbClr val="000000"/>
                </a:solidFill>
                <a:round/>
                <a:headEnd/>
                <a:tailEnd/>
              </a:ln>
              <a:effectLst/>
            </p:spPr>
            <p:txBody>
              <a:bodyPr wrap="none" anchor="ctr"/>
              <a:lstStyle/>
              <a:p>
                <a:endParaRPr lang="en-IE"/>
              </a:p>
            </p:txBody>
          </p:sp>
          <p:sp>
            <p:nvSpPr>
              <p:cNvPr id="63495" name="Line 7"/>
              <p:cNvSpPr>
                <a:spLocks noChangeShapeType="1"/>
              </p:cNvSpPr>
              <p:nvPr/>
            </p:nvSpPr>
            <p:spPr bwMode="auto">
              <a:xfrm>
                <a:off x="2041" y="3787"/>
                <a:ext cx="2495" cy="1"/>
              </a:xfrm>
              <a:prstGeom prst="line">
                <a:avLst/>
              </a:prstGeom>
              <a:noFill/>
              <a:ln w="47520">
                <a:solidFill>
                  <a:srgbClr val="000000"/>
                </a:solidFill>
                <a:miter lim="800000"/>
                <a:headEnd/>
                <a:tailEnd/>
              </a:ln>
              <a:effectLst/>
            </p:spPr>
            <p:txBody>
              <a:bodyPr/>
              <a:lstStyle/>
              <a:p>
                <a:endParaRPr lang="en-IE"/>
              </a:p>
            </p:txBody>
          </p:sp>
          <p:sp>
            <p:nvSpPr>
              <p:cNvPr id="63496" name="AutoShape 8"/>
              <p:cNvSpPr>
                <a:spLocks noChangeArrowheads="1"/>
              </p:cNvSpPr>
              <p:nvPr/>
            </p:nvSpPr>
            <p:spPr bwMode="auto">
              <a:xfrm>
                <a:off x="2087" y="3742"/>
                <a:ext cx="91" cy="363"/>
              </a:xfrm>
              <a:prstGeom prst="flowChartMagneticDisk">
                <a:avLst/>
              </a:prstGeom>
              <a:solidFill>
                <a:srgbClr val="00B8FF"/>
              </a:solidFill>
              <a:ln w="9360">
                <a:solidFill>
                  <a:srgbClr val="000000"/>
                </a:solidFill>
                <a:miter lim="800000"/>
                <a:headEnd/>
                <a:tailEnd/>
              </a:ln>
              <a:effectLst/>
            </p:spPr>
            <p:txBody>
              <a:bodyPr wrap="none" anchor="ctr"/>
              <a:lstStyle/>
              <a:p>
                <a:endParaRPr lang="en-IE"/>
              </a:p>
            </p:txBody>
          </p:sp>
          <p:sp>
            <p:nvSpPr>
              <p:cNvPr id="63497" name="AutoShape 9"/>
              <p:cNvSpPr>
                <a:spLocks noChangeArrowheads="1"/>
              </p:cNvSpPr>
              <p:nvPr/>
            </p:nvSpPr>
            <p:spPr bwMode="auto">
              <a:xfrm>
                <a:off x="1905" y="4105"/>
                <a:ext cx="1134" cy="317"/>
              </a:xfrm>
              <a:prstGeom prst="roundRect">
                <a:avLst>
                  <a:gd name="adj" fmla="val 16667"/>
                </a:avLst>
              </a:prstGeom>
              <a:solidFill>
                <a:srgbClr val="00B8FF"/>
              </a:solidFill>
              <a:ln w="9360">
                <a:solidFill>
                  <a:srgbClr val="000000"/>
                </a:solidFill>
                <a:miter lim="800000"/>
                <a:headEnd/>
                <a:tailEnd/>
              </a:ln>
              <a:effectLst/>
            </p:spPr>
            <p:txBody>
              <a:bodyPr wrap="none" anchor="ctr"/>
              <a:lstStyle/>
              <a:p>
                <a:endParaRPr lang="en-IE"/>
              </a:p>
            </p:txBody>
          </p:sp>
          <p:pic>
            <p:nvPicPr>
              <p:cNvPr id="63498" name="Picture 10"/>
              <p:cNvPicPr>
                <a:picLocks noChangeAspect="1" noChangeArrowheads="1"/>
              </p:cNvPicPr>
              <p:nvPr/>
            </p:nvPicPr>
            <p:blipFill>
              <a:blip r:embed="rId3" cstate="print"/>
              <a:srcRect/>
              <a:stretch>
                <a:fillRect/>
              </a:stretch>
            </p:blipFill>
            <p:spPr bwMode="auto">
              <a:xfrm>
                <a:off x="4173" y="2971"/>
                <a:ext cx="882" cy="810"/>
              </a:xfrm>
              <a:prstGeom prst="rect">
                <a:avLst/>
              </a:prstGeom>
              <a:noFill/>
              <a:ln w="9525">
                <a:noFill/>
                <a:round/>
                <a:headEnd/>
                <a:tailEnd/>
              </a:ln>
              <a:effectLst/>
            </p:spPr>
          </p:pic>
        </p:grpSp>
        <p:cxnSp>
          <p:nvCxnSpPr>
            <p:cNvPr id="63499" name="AutoShape 11"/>
            <p:cNvCxnSpPr>
              <a:cxnSpLocks noChangeShapeType="1"/>
            </p:cNvCxnSpPr>
            <p:nvPr/>
          </p:nvCxnSpPr>
          <p:spPr bwMode="auto">
            <a:xfrm>
              <a:off x="2087" y="3651"/>
              <a:ext cx="681" cy="1"/>
            </a:xfrm>
            <a:prstGeom prst="straightConnector1">
              <a:avLst/>
            </a:prstGeom>
            <a:noFill/>
            <a:ln w="9360">
              <a:solidFill>
                <a:srgbClr val="000000"/>
              </a:solidFill>
              <a:miter lim="800000"/>
              <a:headEnd type="triangle" w="med" len="med"/>
              <a:tailEnd type="triangle" w="med" len="med"/>
            </a:ln>
            <a:effectLst/>
          </p:spPr>
        </p:cxnSp>
        <p:cxnSp>
          <p:nvCxnSpPr>
            <p:cNvPr id="63500" name="AutoShape 12"/>
            <p:cNvCxnSpPr>
              <a:cxnSpLocks noChangeShapeType="1"/>
            </p:cNvCxnSpPr>
            <p:nvPr/>
          </p:nvCxnSpPr>
          <p:spPr bwMode="auto">
            <a:xfrm>
              <a:off x="2086" y="3515"/>
              <a:ext cx="2404" cy="1"/>
            </a:xfrm>
            <a:prstGeom prst="straightConnector1">
              <a:avLst/>
            </a:prstGeom>
            <a:noFill/>
            <a:ln w="9360">
              <a:solidFill>
                <a:srgbClr val="000000"/>
              </a:solidFill>
              <a:miter lim="800000"/>
              <a:headEnd type="triangle" w="med" len="med"/>
              <a:tailEnd type="triangle" w="med" len="med"/>
            </a:ln>
            <a:effectLst/>
          </p:spPr>
        </p:cxnSp>
        <p:sp>
          <p:nvSpPr>
            <p:cNvPr id="63501" name="Text Box 13"/>
            <p:cNvSpPr txBox="1">
              <a:spLocks noChangeArrowheads="1"/>
            </p:cNvSpPr>
            <p:nvPr/>
          </p:nvSpPr>
          <p:spPr bwMode="auto">
            <a:xfrm>
              <a:off x="2769" y="3515"/>
              <a:ext cx="314" cy="232"/>
            </a:xfrm>
            <a:prstGeom prst="rect">
              <a:avLst/>
            </a:prstGeom>
            <a:noFill/>
            <a:ln w="9525">
              <a:noFill/>
              <a:round/>
              <a:headEnd/>
              <a:tailEnd/>
            </a:ln>
            <a:effectLst/>
          </p:spPr>
          <p:txBody>
            <a:bodyPr wrap="none" lIns="90000" tIns="46800" rIns="90000" bIns="46800">
              <a:spAutoFit/>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FF0000"/>
                  </a:solidFill>
                </a:rPr>
                <a:t>1m</a:t>
              </a:r>
            </a:p>
          </p:txBody>
        </p:sp>
        <p:sp>
          <p:nvSpPr>
            <p:cNvPr id="63502" name="Text Box 14"/>
            <p:cNvSpPr txBox="1">
              <a:spLocks noChangeArrowheads="1"/>
            </p:cNvSpPr>
            <p:nvPr/>
          </p:nvSpPr>
          <p:spPr bwMode="auto">
            <a:xfrm>
              <a:off x="3223" y="3288"/>
              <a:ext cx="314" cy="232"/>
            </a:xfrm>
            <a:prstGeom prst="rect">
              <a:avLst/>
            </a:prstGeom>
            <a:noFill/>
            <a:ln w="9525">
              <a:noFill/>
              <a:round/>
              <a:headEnd/>
              <a:tailEnd/>
            </a:ln>
            <a:effectLst/>
          </p:spPr>
          <p:txBody>
            <a:bodyPr wrap="none" lIns="90000" tIns="46800" rIns="90000" bIns="46800">
              <a:spAutoFit/>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FF0000"/>
                  </a:solidFill>
                </a:rPr>
                <a:t>4m</a:t>
              </a:r>
            </a:p>
          </p:txBody>
        </p:sp>
        <p:sp>
          <p:nvSpPr>
            <p:cNvPr id="63503" name="AutoShape 15"/>
            <p:cNvSpPr>
              <a:spLocks noChangeArrowheads="1"/>
            </p:cNvSpPr>
            <p:nvPr/>
          </p:nvSpPr>
          <p:spPr bwMode="auto">
            <a:xfrm>
              <a:off x="4400" y="3878"/>
              <a:ext cx="181" cy="635"/>
            </a:xfrm>
            <a:prstGeom prst="downArrow">
              <a:avLst>
                <a:gd name="adj1" fmla="val 50000"/>
                <a:gd name="adj2" fmla="val 50123"/>
              </a:avLst>
            </a:prstGeom>
            <a:solidFill>
              <a:srgbClr val="00B8FF"/>
            </a:solidFill>
            <a:ln w="9360">
              <a:solidFill>
                <a:srgbClr val="000000"/>
              </a:solidFill>
              <a:round/>
              <a:headEnd/>
              <a:tailEnd/>
            </a:ln>
            <a:effectLst/>
          </p:spPr>
          <p:txBody>
            <a:bodyPr wrap="none" anchor="ctr"/>
            <a:lstStyle/>
            <a:p>
              <a:endParaRPr lang="en-IE"/>
            </a:p>
          </p:txBody>
        </p:sp>
        <p:sp>
          <p:nvSpPr>
            <p:cNvPr id="63504" name="Text Box 16"/>
            <p:cNvSpPr txBox="1">
              <a:spLocks noChangeArrowheads="1"/>
            </p:cNvSpPr>
            <p:nvPr/>
          </p:nvSpPr>
          <p:spPr bwMode="auto">
            <a:xfrm>
              <a:off x="4585" y="4105"/>
              <a:ext cx="456" cy="232"/>
            </a:xfrm>
            <a:prstGeom prst="rect">
              <a:avLst/>
            </a:prstGeom>
            <a:noFill/>
            <a:ln w="9525">
              <a:noFill/>
              <a:round/>
              <a:headEnd/>
              <a:tailEnd/>
            </a:ln>
            <a:effectLst/>
          </p:spPr>
          <p:txBody>
            <a:bodyPr wrap="none" lIns="90000" tIns="46800" rIns="90000" bIns="46800">
              <a:spAutoFit/>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FF0000"/>
                  </a:solidFill>
                </a:rPr>
                <a:t>600N</a:t>
              </a:r>
            </a:p>
          </p:txBody>
        </p:sp>
      </p:grpSp>
      <p:sp>
        <p:nvSpPr>
          <p:cNvPr id="18" name="Slide Number Placeholder 17"/>
          <p:cNvSpPr>
            <a:spLocks noGrp="1"/>
          </p:cNvSpPr>
          <p:nvPr>
            <p:ph type="sldNum" idx="10"/>
          </p:nvPr>
        </p:nvSpPr>
        <p:spPr/>
        <p:txBody>
          <a:bodyPr/>
          <a:lstStyle/>
          <a:p>
            <a:fld id="{FE851EA8-346B-4082-9734-32D7F48A3BF1}" type="slidenum">
              <a:rPr lang="en-IE" smtClean="0"/>
              <a:pPr/>
              <a:t>31</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Centre of Gravity</a:t>
            </a:r>
          </a:p>
        </p:txBody>
      </p:sp>
      <p:sp>
        <p:nvSpPr>
          <p:cNvPr id="64514" name="Text Box 2"/>
          <p:cNvSpPr txBox="1">
            <a:spLocks noChangeArrowheads="1"/>
          </p:cNvSpPr>
          <p:nvPr/>
        </p:nvSpPr>
        <p:spPr bwMode="auto">
          <a:xfrm>
            <a:off x="431800" y="1116013"/>
            <a:ext cx="9070975" cy="49879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Point at which entire mass of a body seems to be concentrated</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Example: consider a human arm</a:t>
            </a:r>
          </a:p>
        </p:txBody>
      </p:sp>
      <p:sp>
        <p:nvSpPr>
          <p:cNvPr id="6451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A3A7E41-0DD3-4EC1-9007-0640CB8B035E}"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32</a:t>
            </a:fld>
            <a:endParaRPr lang="en-IE" sz="1400">
              <a:solidFill>
                <a:srgbClr val="000000"/>
              </a:solidFill>
              <a:latin typeface="Times New Roman" pitchFamily="18" charset="0"/>
            </a:endParaRPr>
          </a:p>
        </p:txBody>
      </p:sp>
      <p:grpSp>
        <p:nvGrpSpPr>
          <p:cNvPr id="64516" name="Group 4"/>
          <p:cNvGrpSpPr>
            <a:grpSpLocks/>
          </p:cNvGrpSpPr>
          <p:nvPr/>
        </p:nvGrpSpPr>
        <p:grpSpPr bwMode="auto">
          <a:xfrm>
            <a:off x="-792163" y="2771775"/>
            <a:ext cx="8524876" cy="3103563"/>
            <a:chOff x="-499" y="1746"/>
            <a:chExt cx="5370" cy="1955"/>
          </a:xfrm>
        </p:grpSpPr>
        <p:pic>
          <p:nvPicPr>
            <p:cNvPr id="64517" name="Picture 5"/>
            <p:cNvPicPr>
              <a:picLocks noChangeAspect="1" noChangeArrowheads="1"/>
            </p:cNvPicPr>
            <p:nvPr/>
          </p:nvPicPr>
          <p:blipFill>
            <a:blip r:embed="rId3" cstate="print"/>
            <a:srcRect/>
            <a:stretch>
              <a:fillRect/>
            </a:stretch>
          </p:blipFill>
          <p:spPr bwMode="auto">
            <a:xfrm>
              <a:off x="1542" y="1746"/>
              <a:ext cx="3330" cy="1158"/>
            </a:xfrm>
            <a:prstGeom prst="rect">
              <a:avLst/>
            </a:prstGeom>
            <a:noFill/>
            <a:ln w="9525">
              <a:noFill/>
              <a:round/>
              <a:headEnd/>
              <a:tailEnd/>
            </a:ln>
            <a:effectLst/>
          </p:spPr>
        </p:pic>
        <p:cxnSp>
          <p:nvCxnSpPr>
            <p:cNvPr id="64518" name="AutoShape 6"/>
            <p:cNvCxnSpPr>
              <a:cxnSpLocks noChangeShapeType="1"/>
            </p:cNvCxnSpPr>
            <p:nvPr/>
          </p:nvCxnSpPr>
          <p:spPr bwMode="auto">
            <a:xfrm flipH="1" flipV="1">
              <a:off x="3313" y="3152"/>
              <a:ext cx="725" cy="1"/>
            </a:xfrm>
            <a:prstGeom prst="straightConnector1">
              <a:avLst/>
            </a:prstGeom>
            <a:noFill/>
            <a:ln w="9360">
              <a:solidFill>
                <a:srgbClr val="000000"/>
              </a:solidFill>
              <a:miter lim="800000"/>
              <a:headEnd type="triangle" w="med" len="med"/>
              <a:tailEnd type="triangle" w="med" len="med"/>
            </a:ln>
            <a:effectLst/>
          </p:spPr>
        </p:cxnSp>
        <p:cxnSp>
          <p:nvCxnSpPr>
            <p:cNvPr id="64519" name="AutoShape 7"/>
            <p:cNvCxnSpPr>
              <a:cxnSpLocks noChangeShapeType="1"/>
            </p:cNvCxnSpPr>
            <p:nvPr/>
          </p:nvCxnSpPr>
          <p:spPr bwMode="auto">
            <a:xfrm flipH="1" flipV="1">
              <a:off x="1134" y="3424"/>
              <a:ext cx="1815" cy="1"/>
            </a:xfrm>
            <a:prstGeom prst="straightConnector1">
              <a:avLst/>
            </a:prstGeom>
            <a:noFill/>
            <a:ln w="9360">
              <a:solidFill>
                <a:srgbClr val="000000"/>
              </a:solidFill>
              <a:miter lim="800000"/>
              <a:headEnd type="triangle" w="med" len="med"/>
              <a:tailEnd type="triangle" w="med" len="med"/>
            </a:ln>
            <a:effectLst/>
          </p:spPr>
        </p:cxnSp>
        <p:cxnSp>
          <p:nvCxnSpPr>
            <p:cNvPr id="64520" name="AutoShape 8"/>
            <p:cNvCxnSpPr>
              <a:cxnSpLocks noChangeShapeType="1"/>
            </p:cNvCxnSpPr>
            <p:nvPr/>
          </p:nvCxnSpPr>
          <p:spPr bwMode="auto">
            <a:xfrm flipH="1" flipV="1">
              <a:off x="-499" y="3696"/>
              <a:ext cx="2631" cy="1"/>
            </a:xfrm>
            <a:prstGeom prst="straightConnector1">
              <a:avLst/>
            </a:prstGeom>
            <a:noFill/>
            <a:ln w="9360">
              <a:solidFill>
                <a:srgbClr val="000000"/>
              </a:solidFill>
              <a:miter lim="800000"/>
              <a:headEnd type="triangle" w="med" len="med"/>
              <a:tailEnd type="triangle" w="med" len="med"/>
            </a:ln>
            <a:effectLst/>
          </p:spPr>
        </p:cxnSp>
        <p:sp>
          <p:nvSpPr>
            <p:cNvPr id="64521" name="Text Box 9"/>
            <p:cNvSpPr txBox="1">
              <a:spLocks noChangeArrowheads="1"/>
            </p:cNvSpPr>
            <p:nvPr/>
          </p:nvSpPr>
          <p:spPr bwMode="auto">
            <a:xfrm>
              <a:off x="4358" y="2970"/>
              <a:ext cx="513" cy="232"/>
            </a:xfrm>
            <a:prstGeom prst="rect">
              <a:avLst/>
            </a:prstGeom>
            <a:noFill/>
            <a:ln w="9525">
              <a:noFill/>
              <a:round/>
              <a:headEnd/>
              <a:tailEnd/>
            </a:ln>
            <a:effectLst/>
          </p:spPr>
          <p:txBody>
            <a:bodyPr wrap="none" lIns="90000" tIns="46800" rIns="90000" bIns="46800">
              <a:spAutoFit/>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FF0000"/>
                  </a:solidFill>
                </a:rPr>
                <a:t>0.13m</a:t>
              </a:r>
            </a:p>
          </p:txBody>
        </p:sp>
        <p:sp>
          <p:nvSpPr>
            <p:cNvPr id="64522" name="Text Box 10"/>
            <p:cNvSpPr txBox="1">
              <a:spLocks noChangeArrowheads="1"/>
            </p:cNvSpPr>
            <p:nvPr/>
          </p:nvSpPr>
          <p:spPr bwMode="auto">
            <a:xfrm>
              <a:off x="4358" y="3197"/>
              <a:ext cx="513" cy="232"/>
            </a:xfrm>
            <a:prstGeom prst="rect">
              <a:avLst/>
            </a:prstGeom>
            <a:noFill/>
            <a:ln w="9525">
              <a:noFill/>
              <a:round/>
              <a:headEnd/>
              <a:tailEnd/>
            </a:ln>
            <a:effectLst/>
          </p:spPr>
          <p:txBody>
            <a:bodyPr wrap="none" lIns="90000" tIns="46800" rIns="90000" bIns="46800">
              <a:spAutoFit/>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FF0000"/>
                  </a:solidFill>
                </a:rPr>
                <a:t>0.38m</a:t>
              </a:r>
            </a:p>
          </p:txBody>
        </p:sp>
        <p:sp>
          <p:nvSpPr>
            <p:cNvPr id="64523" name="Text Box 11"/>
            <p:cNvSpPr txBox="1">
              <a:spLocks noChangeArrowheads="1"/>
            </p:cNvSpPr>
            <p:nvPr/>
          </p:nvSpPr>
          <p:spPr bwMode="auto">
            <a:xfrm>
              <a:off x="4313" y="3470"/>
              <a:ext cx="513" cy="232"/>
            </a:xfrm>
            <a:prstGeom prst="rect">
              <a:avLst/>
            </a:prstGeom>
            <a:noFill/>
            <a:ln w="9525">
              <a:noFill/>
              <a:round/>
              <a:headEnd/>
              <a:tailEnd/>
            </a:ln>
            <a:effectLst/>
          </p:spPr>
          <p:txBody>
            <a:bodyPr wrap="none" lIns="90000" tIns="46800" rIns="90000" bIns="46800">
              <a:spAutoFit/>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FF0000"/>
                  </a:solidFill>
                </a:rPr>
                <a:t>0.61m</a:t>
              </a:r>
            </a:p>
          </p:txBody>
        </p:sp>
        <p:sp>
          <p:nvSpPr>
            <p:cNvPr id="64524" name="AutoShape 12"/>
            <p:cNvSpPr>
              <a:spLocks noChangeArrowheads="1"/>
            </p:cNvSpPr>
            <p:nvPr/>
          </p:nvSpPr>
          <p:spPr bwMode="auto">
            <a:xfrm>
              <a:off x="3992" y="2789"/>
              <a:ext cx="181" cy="227"/>
            </a:xfrm>
            <a:prstGeom prst="downArrow">
              <a:avLst>
                <a:gd name="adj1" fmla="val 50000"/>
                <a:gd name="adj2" fmla="val 50166"/>
              </a:avLst>
            </a:prstGeom>
            <a:solidFill>
              <a:srgbClr val="00B8FF"/>
            </a:solidFill>
            <a:ln w="9360">
              <a:solidFill>
                <a:srgbClr val="000000"/>
              </a:solidFill>
              <a:round/>
              <a:headEnd/>
              <a:tailEnd/>
            </a:ln>
            <a:effectLst/>
          </p:spPr>
          <p:txBody>
            <a:bodyPr wrap="none" anchor="ctr"/>
            <a:lstStyle/>
            <a:p>
              <a:endParaRPr lang="en-IE"/>
            </a:p>
          </p:txBody>
        </p:sp>
        <p:sp>
          <p:nvSpPr>
            <p:cNvPr id="64525" name="AutoShape 13"/>
            <p:cNvSpPr>
              <a:spLocks noChangeArrowheads="1"/>
            </p:cNvSpPr>
            <p:nvPr/>
          </p:nvSpPr>
          <p:spPr bwMode="auto">
            <a:xfrm>
              <a:off x="2994" y="2698"/>
              <a:ext cx="181" cy="227"/>
            </a:xfrm>
            <a:prstGeom prst="downArrow">
              <a:avLst>
                <a:gd name="adj1" fmla="val 50000"/>
                <a:gd name="adj2" fmla="val 50166"/>
              </a:avLst>
            </a:prstGeom>
            <a:solidFill>
              <a:srgbClr val="00B8FF"/>
            </a:solidFill>
            <a:ln w="9360">
              <a:solidFill>
                <a:srgbClr val="000000"/>
              </a:solidFill>
              <a:round/>
              <a:headEnd/>
              <a:tailEnd/>
            </a:ln>
            <a:effectLst/>
          </p:spPr>
          <p:txBody>
            <a:bodyPr wrap="none" anchor="ctr"/>
            <a:lstStyle/>
            <a:p>
              <a:endParaRPr lang="en-IE"/>
            </a:p>
          </p:txBody>
        </p:sp>
        <p:sp>
          <p:nvSpPr>
            <p:cNvPr id="64526" name="AutoShape 14"/>
            <p:cNvSpPr>
              <a:spLocks noChangeArrowheads="1"/>
            </p:cNvSpPr>
            <p:nvPr/>
          </p:nvSpPr>
          <p:spPr bwMode="auto">
            <a:xfrm>
              <a:off x="1950" y="2562"/>
              <a:ext cx="181" cy="227"/>
            </a:xfrm>
            <a:prstGeom prst="downArrow">
              <a:avLst>
                <a:gd name="adj1" fmla="val 50000"/>
                <a:gd name="adj2" fmla="val 50166"/>
              </a:avLst>
            </a:prstGeom>
            <a:solidFill>
              <a:srgbClr val="00B8FF"/>
            </a:solidFill>
            <a:ln w="9360">
              <a:solidFill>
                <a:srgbClr val="000000"/>
              </a:solidFill>
              <a:round/>
              <a:headEnd/>
              <a:tailEnd/>
            </a:ln>
            <a:effectLst/>
          </p:spPr>
          <p:txBody>
            <a:bodyPr wrap="none" anchor="ctr"/>
            <a:lstStyle/>
            <a:p>
              <a:endParaRPr lang="en-IE"/>
            </a:p>
          </p:txBody>
        </p:sp>
        <p:sp>
          <p:nvSpPr>
            <p:cNvPr id="64527" name="Text Box 15"/>
            <p:cNvSpPr txBox="1">
              <a:spLocks noChangeArrowheads="1"/>
            </p:cNvSpPr>
            <p:nvPr/>
          </p:nvSpPr>
          <p:spPr bwMode="auto">
            <a:xfrm>
              <a:off x="1816" y="2744"/>
              <a:ext cx="297" cy="232"/>
            </a:xfrm>
            <a:prstGeom prst="rect">
              <a:avLst/>
            </a:prstGeom>
            <a:noFill/>
            <a:ln w="9525">
              <a:noFill/>
              <a:round/>
              <a:headEnd/>
              <a:tailEnd/>
            </a:ln>
            <a:effectLst/>
          </p:spPr>
          <p:txBody>
            <a:bodyPr wrap="none" lIns="90000" tIns="46800" rIns="90000" bIns="46800">
              <a:spAutoFit/>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FF0000"/>
                  </a:solidFill>
                </a:rPr>
                <a:t>4N</a:t>
              </a:r>
            </a:p>
          </p:txBody>
        </p:sp>
        <p:sp>
          <p:nvSpPr>
            <p:cNvPr id="64528" name="Text Box 16"/>
            <p:cNvSpPr txBox="1">
              <a:spLocks noChangeArrowheads="1"/>
            </p:cNvSpPr>
            <p:nvPr/>
          </p:nvSpPr>
          <p:spPr bwMode="auto">
            <a:xfrm>
              <a:off x="2810" y="2880"/>
              <a:ext cx="377" cy="232"/>
            </a:xfrm>
            <a:prstGeom prst="rect">
              <a:avLst/>
            </a:prstGeom>
            <a:noFill/>
            <a:ln w="9525">
              <a:noFill/>
              <a:round/>
              <a:headEnd/>
              <a:tailEnd/>
            </a:ln>
            <a:effectLst/>
          </p:spPr>
          <p:txBody>
            <a:bodyPr wrap="none" lIns="90000" tIns="46800" rIns="90000" bIns="46800">
              <a:spAutoFit/>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FF0000"/>
                  </a:solidFill>
                </a:rPr>
                <a:t>11N</a:t>
              </a:r>
            </a:p>
          </p:txBody>
        </p:sp>
        <p:sp>
          <p:nvSpPr>
            <p:cNvPr id="64529" name="Text Box 17"/>
            <p:cNvSpPr txBox="1">
              <a:spLocks noChangeArrowheads="1"/>
            </p:cNvSpPr>
            <p:nvPr/>
          </p:nvSpPr>
          <p:spPr bwMode="auto">
            <a:xfrm>
              <a:off x="3586" y="2834"/>
              <a:ext cx="377" cy="232"/>
            </a:xfrm>
            <a:prstGeom prst="rect">
              <a:avLst/>
            </a:prstGeom>
            <a:noFill/>
            <a:ln w="9525">
              <a:noFill/>
              <a:round/>
              <a:headEnd/>
              <a:tailEnd/>
            </a:ln>
            <a:effectLst/>
          </p:spPr>
          <p:txBody>
            <a:bodyPr wrap="none" lIns="90000" tIns="46800" rIns="90000" bIns="46800">
              <a:spAutoFit/>
            </a:bodyPr>
            <a:lstStyle/>
            <a:p>
              <a:pP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a:solidFill>
                    <a:srgbClr val="FF0000"/>
                  </a:solidFill>
                </a:rPr>
                <a:t>17N</a:t>
              </a:r>
            </a:p>
          </p:txBody>
        </p:sp>
      </p:grpSp>
      <p:graphicFrame>
        <p:nvGraphicFramePr>
          <p:cNvPr id="64530" name="Object 18"/>
          <p:cNvGraphicFramePr>
            <a:graphicFrameLocks noChangeAspect="1"/>
          </p:cNvGraphicFramePr>
          <p:nvPr/>
        </p:nvGraphicFramePr>
        <p:xfrm>
          <a:off x="1367905" y="6113463"/>
          <a:ext cx="7255396" cy="1022350"/>
        </p:xfrm>
        <a:graphic>
          <a:graphicData uri="http://schemas.openxmlformats.org/presentationml/2006/ole">
            <mc:AlternateContent xmlns:mc="http://schemas.openxmlformats.org/markup-compatibility/2006">
              <mc:Choice xmlns:v="urn:schemas-microsoft-com:vml" Requires="v">
                <p:oleObj name="Equation" r:id="rId4" imgW="2793960" imgH="393480" progId="Equation.3">
                  <p:embed/>
                </p:oleObj>
              </mc:Choice>
              <mc:Fallback>
                <p:oleObj name="Equation" r:id="rId4" imgW="2793960" imgH="393480" progId="Equation.3">
                  <p:embed/>
                  <p:pic>
                    <p:nvPicPr>
                      <p:cNvPr id="6453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67905" y="6113463"/>
                        <a:ext cx="7255396" cy="102235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20" name="Slide Number Placeholder 19"/>
          <p:cNvSpPr>
            <a:spLocks noGrp="1"/>
          </p:cNvSpPr>
          <p:nvPr>
            <p:ph type="sldNum" idx="10"/>
          </p:nvPr>
        </p:nvSpPr>
        <p:spPr/>
        <p:txBody>
          <a:bodyPr/>
          <a:lstStyle/>
          <a:p>
            <a:fld id="{FE851EA8-346B-4082-9734-32D7F48A3BF1}" type="slidenum">
              <a:rPr lang="en-IE" smtClean="0"/>
              <a:pPr/>
              <a:t>32</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Centre of Gravity</a:t>
            </a:r>
          </a:p>
        </p:txBody>
      </p:sp>
      <p:sp>
        <p:nvSpPr>
          <p:cNvPr id="65538" name="Text Box 2"/>
          <p:cNvSpPr txBox="1">
            <a:spLocks noChangeArrowheads="1"/>
          </p:cNvSpPr>
          <p:nvPr/>
        </p:nvSpPr>
        <p:spPr bwMode="auto">
          <a:xfrm>
            <a:off x="431800" y="1116013"/>
            <a:ext cx="5148263" cy="49879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In humans, COG depends on position of limbs</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In normal resting position (arms by your side), your COG is slightly below your navel</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000" dirty="0">
                <a:solidFill>
                  <a:srgbClr val="000000"/>
                </a:solidFill>
              </a:rPr>
              <a:t>About 55% of body height for women</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000" dirty="0">
                <a:solidFill>
                  <a:srgbClr val="000000"/>
                </a:solidFill>
              </a:rPr>
              <a:t>About 57% of body height for men</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If limbs move COG changes</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dirty="0">
                <a:solidFill>
                  <a:srgbClr val="000000"/>
                </a:solidFill>
              </a:rPr>
              <a:t>Can be outside body</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000" dirty="0" err="1">
                <a:solidFill>
                  <a:srgbClr val="000000"/>
                </a:solidFill>
              </a:rPr>
              <a:t>Highjumper</a:t>
            </a:r>
            <a:r>
              <a:rPr lang="en-IE" sz="2000" dirty="0">
                <a:solidFill>
                  <a:srgbClr val="000000"/>
                </a:solidFill>
              </a:rPr>
              <a:t> clearing bar, COG below backbone</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000" dirty="0">
                <a:solidFill>
                  <a:srgbClr val="000000"/>
                </a:solidFill>
              </a:rPr>
              <a:t>Springboard diver in piked position, COG between limbs</a:t>
            </a:r>
          </a:p>
        </p:txBody>
      </p:sp>
      <p:sp>
        <p:nvSpPr>
          <p:cNvPr id="65539"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BF2CF1FC-DB50-45A0-95E9-7261C1E829AD}"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33</a:t>
            </a:fld>
            <a:endParaRPr lang="en-IE" sz="1400">
              <a:solidFill>
                <a:srgbClr val="000000"/>
              </a:solidFill>
              <a:latin typeface="Times New Roman" pitchFamily="18" charset="0"/>
            </a:endParaRPr>
          </a:p>
        </p:txBody>
      </p:sp>
      <p:pic>
        <p:nvPicPr>
          <p:cNvPr id="65540" name="Picture 4"/>
          <p:cNvPicPr>
            <a:picLocks noChangeAspect="1" noChangeArrowheads="1"/>
          </p:cNvPicPr>
          <p:nvPr/>
        </p:nvPicPr>
        <p:blipFill>
          <a:blip r:embed="rId3" cstate="print"/>
          <a:srcRect/>
          <a:stretch>
            <a:fillRect/>
          </a:stretch>
        </p:blipFill>
        <p:spPr bwMode="auto">
          <a:xfrm>
            <a:off x="6480175" y="1439863"/>
            <a:ext cx="2519363" cy="2757487"/>
          </a:xfrm>
          <a:prstGeom prst="rect">
            <a:avLst/>
          </a:prstGeom>
          <a:solidFill>
            <a:srgbClr val="800000"/>
          </a:solidFill>
          <a:ln w="9525">
            <a:noFill/>
            <a:round/>
            <a:headEnd/>
            <a:tailEnd/>
          </a:ln>
          <a:effectLst/>
        </p:spPr>
      </p:pic>
      <p:sp>
        <p:nvSpPr>
          <p:cNvPr id="65541" name="Oval 5"/>
          <p:cNvSpPr>
            <a:spLocks noChangeArrowheads="1"/>
          </p:cNvSpPr>
          <p:nvPr/>
        </p:nvSpPr>
        <p:spPr bwMode="auto">
          <a:xfrm flipV="1">
            <a:off x="7559675" y="2517775"/>
            <a:ext cx="179388" cy="179388"/>
          </a:xfrm>
          <a:prstGeom prst="ellipse">
            <a:avLst/>
          </a:prstGeom>
          <a:solidFill>
            <a:srgbClr val="C90016"/>
          </a:solidFill>
          <a:ln w="9360">
            <a:solidFill>
              <a:srgbClr val="000000"/>
            </a:solidFill>
            <a:round/>
            <a:headEnd/>
            <a:tailEnd/>
          </a:ln>
          <a:effectLst/>
        </p:spPr>
        <p:txBody>
          <a:bodyPr wrap="none" anchor="ctr"/>
          <a:lstStyle/>
          <a:p>
            <a:endParaRPr lang="en-IE"/>
          </a:p>
        </p:txBody>
      </p:sp>
      <p:sp>
        <p:nvSpPr>
          <p:cNvPr id="65542" name="Text Box 6"/>
          <p:cNvSpPr txBox="1">
            <a:spLocks noChangeArrowheads="1"/>
          </p:cNvSpPr>
          <p:nvPr/>
        </p:nvSpPr>
        <p:spPr bwMode="auto">
          <a:xfrm>
            <a:off x="7915275" y="3227388"/>
            <a:ext cx="904875" cy="912812"/>
          </a:xfrm>
          <a:prstGeom prst="rect">
            <a:avLst/>
          </a:prstGeom>
          <a:noFill/>
          <a:ln w="9525">
            <a:noFill/>
            <a:round/>
            <a:headEnd/>
            <a:tailEnd/>
          </a:ln>
          <a:effectLst/>
        </p:spPr>
        <p:txBody>
          <a:bodyPr wrap="none" lIns="90000" tIns="45000" rIns="90000" bIns="45000"/>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b="1" dirty="0">
                <a:solidFill>
                  <a:srgbClr val="FF3366"/>
                </a:solidFill>
              </a:rPr>
              <a:t>Centre</a:t>
            </a:r>
          </a:p>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b="1" dirty="0">
                <a:solidFill>
                  <a:srgbClr val="FF3366"/>
                </a:solidFill>
              </a:rPr>
              <a:t>Of</a:t>
            </a:r>
          </a:p>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b="1" dirty="0">
                <a:solidFill>
                  <a:srgbClr val="FF3366"/>
                </a:solidFill>
              </a:rPr>
              <a:t>Gravity</a:t>
            </a:r>
          </a:p>
        </p:txBody>
      </p:sp>
      <p:sp>
        <p:nvSpPr>
          <p:cNvPr id="65543" name="Line 7"/>
          <p:cNvSpPr>
            <a:spLocks noChangeShapeType="1"/>
          </p:cNvSpPr>
          <p:nvPr/>
        </p:nvSpPr>
        <p:spPr bwMode="auto">
          <a:xfrm flipH="1" flipV="1">
            <a:off x="7735888" y="2697163"/>
            <a:ext cx="366712" cy="546100"/>
          </a:xfrm>
          <a:prstGeom prst="line">
            <a:avLst/>
          </a:prstGeom>
          <a:noFill/>
          <a:ln w="50800">
            <a:solidFill>
              <a:srgbClr val="000000"/>
            </a:solidFill>
            <a:round/>
            <a:headEnd/>
            <a:tailEnd type="triangle" w="med" len="med"/>
          </a:ln>
          <a:effectLst/>
        </p:spPr>
        <p:txBody>
          <a:bodyPr/>
          <a:lstStyle/>
          <a:p>
            <a:endParaRPr lang="en-IE"/>
          </a:p>
        </p:txBody>
      </p:sp>
      <p:pic>
        <p:nvPicPr>
          <p:cNvPr id="65544" name="Picture 8"/>
          <p:cNvPicPr>
            <a:picLocks noChangeAspect="1" noChangeArrowheads="1"/>
          </p:cNvPicPr>
          <p:nvPr/>
        </p:nvPicPr>
        <p:blipFill>
          <a:blip r:embed="rId4" cstate="print"/>
          <a:srcRect/>
          <a:stretch>
            <a:fillRect/>
          </a:stretch>
        </p:blipFill>
        <p:spPr bwMode="auto">
          <a:xfrm>
            <a:off x="6554788" y="4379913"/>
            <a:ext cx="2444750" cy="2460625"/>
          </a:xfrm>
          <a:prstGeom prst="rect">
            <a:avLst/>
          </a:prstGeom>
          <a:noFill/>
          <a:ln w="9525">
            <a:noFill/>
            <a:round/>
            <a:headEnd/>
            <a:tailEnd/>
          </a:ln>
          <a:effectLst/>
        </p:spPr>
      </p:pic>
      <p:sp>
        <p:nvSpPr>
          <p:cNvPr id="10" name="Oval 5"/>
          <p:cNvSpPr>
            <a:spLocks noChangeArrowheads="1"/>
          </p:cNvSpPr>
          <p:nvPr/>
        </p:nvSpPr>
        <p:spPr bwMode="auto">
          <a:xfrm flipV="1">
            <a:off x="7709048" y="5230464"/>
            <a:ext cx="179388" cy="179388"/>
          </a:xfrm>
          <a:prstGeom prst="ellipse">
            <a:avLst/>
          </a:prstGeom>
          <a:solidFill>
            <a:srgbClr val="C90016"/>
          </a:solidFill>
          <a:ln w="9360">
            <a:solidFill>
              <a:srgbClr val="000000"/>
            </a:solidFill>
            <a:round/>
            <a:headEnd/>
            <a:tailEnd/>
          </a:ln>
          <a:effectLst/>
        </p:spPr>
        <p:txBody>
          <a:bodyPr wrap="none" anchor="ctr"/>
          <a:lstStyle/>
          <a:p>
            <a:endParaRPr lang="en-IE"/>
          </a:p>
        </p:txBody>
      </p:sp>
      <p:sp>
        <p:nvSpPr>
          <p:cNvPr id="11" name="Text Box 6"/>
          <p:cNvSpPr txBox="1">
            <a:spLocks noChangeArrowheads="1"/>
          </p:cNvSpPr>
          <p:nvPr/>
        </p:nvSpPr>
        <p:spPr bwMode="auto">
          <a:xfrm>
            <a:off x="9000752" y="5364013"/>
            <a:ext cx="904875" cy="912812"/>
          </a:xfrm>
          <a:prstGeom prst="rect">
            <a:avLst/>
          </a:prstGeom>
          <a:noFill/>
          <a:ln w="9525">
            <a:noFill/>
            <a:round/>
            <a:headEnd/>
            <a:tailEnd/>
          </a:ln>
          <a:effectLst/>
        </p:spPr>
        <p:txBody>
          <a:bodyPr wrap="none" lIns="90000" tIns="45000" rIns="90000" bIns="45000"/>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b="1" dirty="0">
                <a:solidFill>
                  <a:srgbClr val="FF3366"/>
                </a:solidFill>
              </a:rPr>
              <a:t>Centre</a:t>
            </a:r>
          </a:p>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b="1" dirty="0">
                <a:solidFill>
                  <a:srgbClr val="FF3366"/>
                </a:solidFill>
              </a:rPr>
              <a:t>Of</a:t>
            </a:r>
          </a:p>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b="1" dirty="0">
                <a:solidFill>
                  <a:srgbClr val="FF3366"/>
                </a:solidFill>
              </a:rPr>
              <a:t>Gravity</a:t>
            </a:r>
          </a:p>
        </p:txBody>
      </p:sp>
      <p:sp>
        <p:nvSpPr>
          <p:cNvPr id="12" name="Line 7"/>
          <p:cNvSpPr>
            <a:spLocks noChangeShapeType="1"/>
          </p:cNvSpPr>
          <p:nvPr/>
        </p:nvSpPr>
        <p:spPr bwMode="auto">
          <a:xfrm flipH="1" flipV="1">
            <a:off x="7920631" y="5364013"/>
            <a:ext cx="1152127" cy="216024"/>
          </a:xfrm>
          <a:prstGeom prst="line">
            <a:avLst/>
          </a:prstGeom>
          <a:noFill/>
          <a:ln w="47625">
            <a:solidFill>
              <a:srgbClr val="000000"/>
            </a:solidFill>
            <a:round/>
            <a:headEnd/>
            <a:tailEnd type="triangle" w="med" len="med"/>
          </a:ln>
          <a:effectLst/>
        </p:spPr>
        <p:txBody>
          <a:bodyPr/>
          <a:lstStyle/>
          <a:p>
            <a:endParaRPr lang="en-IE"/>
          </a:p>
        </p:txBody>
      </p:sp>
      <p:sp>
        <p:nvSpPr>
          <p:cNvPr id="13" name="Slide Number Placeholder 12"/>
          <p:cNvSpPr>
            <a:spLocks noGrp="1"/>
          </p:cNvSpPr>
          <p:nvPr>
            <p:ph type="sldNum" idx="10"/>
          </p:nvPr>
        </p:nvSpPr>
        <p:spPr/>
        <p:txBody>
          <a:bodyPr/>
          <a:lstStyle/>
          <a:p>
            <a:fld id="{FE851EA8-346B-4082-9734-32D7F48A3BF1}" type="slidenum">
              <a:rPr lang="en-IE" smtClean="0"/>
              <a:pPr/>
              <a:t>33</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Centre of Gravity</a:t>
            </a:r>
          </a:p>
        </p:txBody>
      </p:sp>
      <p:sp>
        <p:nvSpPr>
          <p:cNvPr id="66562" name="Text Box 2"/>
          <p:cNvSpPr txBox="1">
            <a:spLocks noChangeArrowheads="1"/>
          </p:cNvSpPr>
          <p:nvPr/>
        </p:nvSpPr>
        <p:spPr bwMode="auto">
          <a:xfrm>
            <a:off x="431800" y="1116013"/>
            <a:ext cx="9288463" cy="57245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Lots of sporting techniques involve adjustments of the COG</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Example is high jump from previous slide</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In other sports players can seem to hang in the air</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COG follows parabola, as it must</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Movement of limbs means other parts of body can be stable in the air</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Example; dropping your non-striking arm in volleyball gives steadier platform from which to spike</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Easier to reach higher with one arm raised rather than two</a:t>
            </a:r>
          </a:p>
        </p:txBody>
      </p:sp>
      <p:sp>
        <p:nvSpPr>
          <p:cNvPr id="66563"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C6A6916A-75D7-4009-97E8-FBFE78798CC0}"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34</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34</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Measuring Centre of Gravity</a:t>
            </a:r>
          </a:p>
        </p:txBody>
      </p:sp>
      <p:sp>
        <p:nvSpPr>
          <p:cNvPr id="67586" name="Text Box 2"/>
          <p:cNvSpPr txBox="1">
            <a:spLocks noChangeArrowheads="1"/>
          </p:cNvSpPr>
          <p:nvPr/>
        </p:nvSpPr>
        <p:spPr bwMode="auto">
          <a:xfrm>
            <a:off x="431800" y="1116013"/>
            <a:ext cx="9288463" cy="57245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Two methods</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Suspend object twice from different points of support</a:t>
            </a:r>
          </a:p>
          <a:p>
            <a:pPr marL="1139825" lvl="2" indent="-225425">
              <a:spcBef>
                <a:spcPts val="6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Intersection of vertical lines from points of support is COG</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Measure total mass of object then measure mass with one end supported</a:t>
            </a:r>
          </a:p>
          <a:p>
            <a:pPr marL="1139825" lvl="2" indent="-225425">
              <a:spcBef>
                <a:spcPts val="6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Fractional decrease in measured mass tells you how far up object COG is</a:t>
            </a:r>
          </a:p>
        </p:txBody>
      </p:sp>
      <p:sp>
        <p:nvSpPr>
          <p:cNvPr id="67587"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975EDCA6-3AB6-4FF2-B919-C1E05CBAAD35}"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35</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35</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Stability</a:t>
            </a:r>
          </a:p>
        </p:txBody>
      </p:sp>
      <p:sp>
        <p:nvSpPr>
          <p:cNvPr id="68610" name="Text Box 2"/>
          <p:cNvSpPr txBox="1">
            <a:spLocks noChangeArrowheads="1"/>
          </p:cNvSpPr>
          <p:nvPr/>
        </p:nvSpPr>
        <p:spPr bwMode="auto">
          <a:xfrm>
            <a:off x="431800" y="1116013"/>
            <a:ext cx="9070975" cy="49879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Ability to return to balance, to equilibrium, after having been displaced</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Sometimes stability desirable</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Golfers</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Wrestlers</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Sometimes not</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Goalie</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Serve receive</a:t>
            </a:r>
          </a:p>
        </p:txBody>
      </p:sp>
      <p:sp>
        <p:nvSpPr>
          <p:cNvPr id="68611"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F4D7B7F2-3F59-4AAC-A4FE-422787920A03}"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36</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36</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Stability</a:t>
            </a:r>
          </a:p>
        </p:txBody>
      </p:sp>
      <p:sp>
        <p:nvSpPr>
          <p:cNvPr id="69634" name="Text Box 2"/>
          <p:cNvSpPr txBox="1">
            <a:spLocks noChangeArrowheads="1"/>
          </p:cNvSpPr>
          <p:nvPr/>
        </p:nvSpPr>
        <p:spPr bwMode="auto">
          <a:xfrm>
            <a:off x="431800" y="1116013"/>
            <a:ext cx="9070975" cy="57245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Factors affecting stability</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Size of base of support</a:t>
            </a:r>
          </a:p>
          <a:p>
            <a:pPr marL="1139825" lvl="2" indent="-225425">
              <a:spcBef>
                <a:spcPts val="6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The bigger the more stable</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Height of centre of gravity</a:t>
            </a:r>
          </a:p>
          <a:p>
            <a:pPr marL="1139825" lvl="2" indent="-225425">
              <a:spcBef>
                <a:spcPts val="6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Closer to support the more stable</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Weight of object</a:t>
            </a:r>
          </a:p>
          <a:p>
            <a:pPr marL="1139825" lvl="2" indent="-225425">
              <a:spcBef>
                <a:spcPts val="6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Greater weight means more stable</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a:solidFill>
                  <a:srgbClr val="000000"/>
                </a:solidFill>
              </a:rPr>
              <a:t>Torque of force trying to disturb equilibrium</a:t>
            </a:r>
          </a:p>
          <a:p>
            <a:pPr marL="1139825" lvl="2" indent="-225425">
              <a:spcBef>
                <a:spcPts val="6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a:solidFill>
                  <a:srgbClr val="000000"/>
                </a:solidFill>
              </a:rPr>
              <a:t>Greater the torque, the further from COG, the greater the chance of upsetting stability</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a:solidFill>
                  <a:srgbClr val="000000"/>
                </a:solidFill>
              </a:rPr>
              <a:t>Most stable stance is the one which minimises your potential energy</a:t>
            </a:r>
          </a:p>
        </p:txBody>
      </p:sp>
      <p:sp>
        <p:nvSpPr>
          <p:cNvPr id="6963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53512211-B715-4CC9-989F-E10567F7091B}"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37</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37</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a:solidFill>
                  <a:srgbClr val="1F497D"/>
                </a:solidFill>
              </a:rPr>
              <a:t>Stability - Example</a:t>
            </a:r>
          </a:p>
        </p:txBody>
      </p:sp>
      <p:sp>
        <p:nvSpPr>
          <p:cNvPr id="70658" name="Text Box 2"/>
          <p:cNvSpPr txBox="1">
            <a:spLocks noChangeArrowheads="1"/>
          </p:cNvSpPr>
          <p:nvPr/>
        </p:nvSpPr>
        <p:spPr bwMode="auto">
          <a:xfrm>
            <a:off x="431800" y="1116013"/>
            <a:ext cx="9070975" cy="5724525"/>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dirty="0">
                <a:solidFill>
                  <a:srgbClr val="000000"/>
                </a:solidFill>
              </a:rPr>
              <a:t>Car negotiating a turn. Given the wheelbase of the car, the height of the COG, and the radius of curvature of the corner, calculate the maximum speed the car can travel without overturning.</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rPr>
              <a:t>Torque produced by </a:t>
            </a:r>
            <a:r>
              <a:rPr lang="en-IE" sz="2800" dirty="0" err="1">
                <a:solidFill>
                  <a:srgbClr val="000000"/>
                </a:solidFill>
              </a:rPr>
              <a:t>centrapetal</a:t>
            </a:r>
            <a:r>
              <a:rPr lang="en-IE" sz="2800" dirty="0">
                <a:solidFill>
                  <a:srgbClr val="000000"/>
                </a:solidFill>
              </a:rPr>
              <a:t> force of circular motion (a=v</a:t>
            </a:r>
            <a:r>
              <a:rPr lang="en-IE" sz="2800" baseline="33000" dirty="0">
                <a:solidFill>
                  <a:srgbClr val="000000"/>
                </a:solidFill>
              </a:rPr>
              <a:t>2</a:t>
            </a:r>
            <a:r>
              <a:rPr lang="en-IE" sz="2800" dirty="0">
                <a:solidFill>
                  <a:srgbClr val="000000"/>
                </a:solidFill>
              </a:rPr>
              <a:t>/r)</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rPr>
              <a:t>This is counteracted by weight of car</a:t>
            </a:r>
          </a:p>
          <a:p>
            <a:pPr marL="738188" lvl="1" indent="-280988">
              <a:spcBef>
                <a:spcPts val="700"/>
              </a:spcBef>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rPr>
              <a:t>End up with </a:t>
            </a:r>
          </a:p>
        </p:txBody>
      </p:sp>
      <p:sp>
        <p:nvSpPr>
          <p:cNvPr id="70659"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1E8FE811-4F77-4EF9-B064-0AFE6C3C1495}"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38</a:t>
            </a:fld>
            <a:endParaRPr lang="en-IE" sz="1400">
              <a:solidFill>
                <a:srgbClr val="000000"/>
              </a:solidFill>
              <a:latin typeface="Times New Roman" pitchFamily="18" charset="0"/>
            </a:endParaRPr>
          </a:p>
        </p:txBody>
      </p:sp>
      <p:graphicFrame>
        <p:nvGraphicFramePr>
          <p:cNvPr id="70660" name="Object 4"/>
          <p:cNvGraphicFramePr>
            <a:graphicFrameLocks noChangeAspect="1"/>
          </p:cNvGraphicFramePr>
          <p:nvPr/>
        </p:nvGraphicFramePr>
        <p:xfrm>
          <a:off x="3659188" y="5327650"/>
          <a:ext cx="2135187" cy="1263650"/>
        </p:xfrm>
        <a:graphic>
          <a:graphicData uri="http://schemas.openxmlformats.org/presentationml/2006/ole">
            <mc:AlternateContent xmlns:mc="http://schemas.openxmlformats.org/markup-compatibility/2006">
              <mc:Choice xmlns:v="urn:schemas-microsoft-com:vml" Requires="v">
                <p:oleObj name="Equation" r:id="rId3" imgW="825480" imgH="444240" progId="Equation.3">
                  <p:embed/>
                </p:oleObj>
              </mc:Choice>
              <mc:Fallback>
                <p:oleObj name="Equation" r:id="rId3" imgW="825480" imgH="444240" progId="Equation.3">
                  <p:embed/>
                  <p:pic>
                    <p:nvPicPr>
                      <p:cNvPr id="7066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9188" y="5327650"/>
                        <a:ext cx="2135187" cy="126365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oleObj>
              </mc:Fallback>
            </mc:AlternateContent>
          </a:graphicData>
        </a:graphic>
      </p:graphicFrame>
      <p:sp>
        <p:nvSpPr>
          <p:cNvPr id="6" name="Slide Number Placeholder 5"/>
          <p:cNvSpPr>
            <a:spLocks noGrp="1"/>
          </p:cNvSpPr>
          <p:nvPr>
            <p:ph type="sldNum" idx="10"/>
          </p:nvPr>
        </p:nvSpPr>
        <p:spPr/>
        <p:txBody>
          <a:bodyPr/>
          <a:lstStyle/>
          <a:p>
            <a:fld id="{FE851EA8-346B-4082-9734-32D7F48A3BF1}" type="slidenum">
              <a:rPr lang="en-IE" smtClean="0"/>
              <a:pPr/>
              <a:t>38</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dirty="0">
                <a:solidFill>
                  <a:srgbClr val="1F497D"/>
                </a:solidFill>
              </a:rPr>
              <a:t>Moments of Inertia - planes</a:t>
            </a:r>
          </a:p>
        </p:txBody>
      </p:sp>
      <p:sp>
        <p:nvSpPr>
          <p:cNvPr id="79874" name="Text Box 2"/>
          <p:cNvSpPr txBox="1">
            <a:spLocks noChangeArrowheads="1"/>
          </p:cNvSpPr>
          <p:nvPr/>
        </p:nvSpPr>
        <p:spPr bwMode="auto">
          <a:xfrm>
            <a:off x="359792" y="1403573"/>
            <a:ext cx="9142412" cy="5219700"/>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Human body’s moment of inertia is largest around </a:t>
            </a:r>
            <a:r>
              <a:rPr lang="en-IE" sz="2800" dirty="0" err="1">
                <a:solidFill>
                  <a:srgbClr val="000000"/>
                </a:solidFill>
                <a:latin typeface="DejaVu Sans"/>
              </a:rPr>
              <a:t>anteroposterior</a:t>
            </a:r>
            <a:r>
              <a:rPr lang="en-IE" sz="2800" dirty="0">
                <a:solidFill>
                  <a:srgbClr val="000000"/>
                </a:solidFill>
                <a:latin typeface="DejaVu Sans"/>
              </a:rPr>
              <a:t> axis, smallest around longitudinal axis</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By tennis racket theorem, rotation around transverse axis unstable</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Typical moments of inertia are 10’s of kgm</a:t>
            </a:r>
            <a:r>
              <a:rPr lang="en-IE" sz="2800" baseline="30000" dirty="0">
                <a:solidFill>
                  <a:srgbClr val="000000"/>
                </a:solidFill>
                <a:latin typeface="DejaVu Sans"/>
              </a:rPr>
              <a:t>2</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Depends on axis and depends on body position</a:t>
            </a:r>
          </a:p>
        </p:txBody>
      </p:sp>
      <p:sp>
        <p:nvSpPr>
          <p:cNvPr id="7987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A1D2253-9890-4768-9C3D-02AA74E92A73}"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39</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39</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dirty="0">
                <a:solidFill>
                  <a:srgbClr val="1F497D"/>
                </a:solidFill>
              </a:rPr>
              <a:t>Moments of Inertia – human movement</a:t>
            </a:r>
          </a:p>
        </p:txBody>
      </p:sp>
      <p:sp>
        <p:nvSpPr>
          <p:cNvPr id="79874" name="Text Box 2"/>
          <p:cNvSpPr txBox="1">
            <a:spLocks noChangeArrowheads="1"/>
          </p:cNvSpPr>
          <p:nvPr/>
        </p:nvSpPr>
        <p:spPr bwMode="auto">
          <a:xfrm>
            <a:off x="2087983" y="1619250"/>
            <a:ext cx="7414791" cy="5219700"/>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Terms describing movement of:</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Elbow</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Knee</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Shoulder</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Hip</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Wrist</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Ankle</a:t>
            </a:r>
          </a:p>
        </p:txBody>
      </p:sp>
      <p:sp>
        <p:nvSpPr>
          <p:cNvPr id="7987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A1D2253-9890-4768-9C3D-02AA74E92A73}"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40</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40</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dirty="0">
                <a:solidFill>
                  <a:srgbClr val="1F497D"/>
                </a:solidFill>
              </a:rPr>
              <a:t>Moments of Inertia – human movement</a:t>
            </a:r>
          </a:p>
        </p:txBody>
      </p:sp>
      <p:sp>
        <p:nvSpPr>
          <p:cNvPr id="79874" name="Text Box 2"/>
          <p:cNvSpPr txBox="1">
            <a:spLocks noChangeArrowheads="1"/>
          </p:cNvSpPr>
          <p:nvPr/>
        </p:nvSpPr>
        <p:spPr bwMode="auto">
          <a:xfrm>
            <a:off x="360362" y="1619250"/>
            <a:ext cx="9432477" cy="5219700"/>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In </a:t>
            </a:r>
            <a:r>
              <a:rPr lang="en-IE" sz="2800" dirty="0" err="1">
                <a:solidFill>
                  <a:srgbClr val="000000"/>
                </a:solidFill>
                <a:latin typeface="DejaVu Sans"/>
              </a:rPr>
              <a:t>sagittal</a:t>
            </a:r>
            <a:r>
              <a:rPr lang="en-IE" sz="2800" dirty="0">
                <a:solidFill>
                  <a:srgbClr val="000000"/>
                </a:solidFill>
                <a:latin typeface="DejaVu Sans"/>
              </a:rPr>
              <a:t> plane</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a:solidFill>
                  <a:srgbClr val="000000"/>
                </a:solidFill>
                <a:latin typeface="DejaVu Sans"/>
              </a:rPr>
              <a:t>Flexion</a:t>
            </a:r>
            <a:r>
              <a:rPr lang="en-IE" sz="2400" dirty="0">
                <a:solidFill>
                  <a:srgbClr val="000000"/>
                </a:solidFill>
                <a:latin typeface="DejaVu Sans"/>
              </a:rPr>
              <a:t> –around transverse axis, away from rest position</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a:solidFill>
                  <a:srgbClr val="000000"/>
                </a:solidFill>
                <a:latin typeface="DejaVu Sans"/>
              </a:rPr>
              <a:t>Extension</a:t>
            </a:r>
            <a:r>
              <a:rPr lang="en-IE" sz="2400" dirty="0">
                <a:solidFill>
                  <a:srgbClr val="000000"/>
                </a:solidFill>
                <a:latin typeface="DejaVu Sans"/>
              </a:rPr>
              <a:t> – opposite of flexion, returns to rest position</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err="1">
                <a:solidFill>
                  <a:srgbClr val="000000"/>
                </a:solidFill>
                <a:latin typeface="DejaVu Sans"/>
              </a:rPr>
              <a:t>Dorsiflexion</a:t>
            </a:r>
            <a:r>
              <a:rPr lang="en-IE" sz="2400" dirty="0">
                <a:solidFill>
                  <a:srgbClr val="000000"/>
                </a:solidFill>
                <a:latin typeface="DejaVu Sans"/>
              </a:rPr>
              <a:t> – flexion of the ankle joint</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a:solidFill>
                  <a:srgbClr val="000000"/>
                </a:solidFill>
                <a:latin typeface="DejaVu Sans"/>
              </a:rPr>
              <a:t>Plantar Flexion</a:t>
            </a:r>
            <a:r>
              <a:rPr lang="en-IE" sz="2400" dirty="0">
                <a:solidFill>
                  <a:srgbClr val="000000"/>
                </a:solidFill>
                <a:latin typeface="DejaVu Sans"/>
              </a:rPr>
              <a:t> – extension for the ankle (standing on your toes is plantar flexion)</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800" dirty="0">
                <a:solidFill>
                  <a:srgbClr val="000000"/>
                </a:solidFill>
                <a:latin typeface="DejaVu Sans"/>
              </a:rPr>
              <a:t>In frontal plane</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a:solidFill>
                  <a:srgbClr val="000000"/>
                </a:solidFill>
                <a:latin typeface="DejaVu Sans"/>
              </a:rPr>
              <a:t>Abduction</a:t>
            </a:r>
            <a:r>
              <a:rPr lang="en-IE" sz="2400" dirty="0">
                <a:solidFill>
                  <a:srgbClr val="000000"/>
                </a:solidFill>
                <a:latin typeface="DejaVu Sans"/>
              </a:rPr>
              <a:t> – around </a:t>
            </a:r>
            <a:r>
              <a:rPr lang="en-IE" sz="2400" dirty="0" err="1">
                <a:solidFill>
                  <a:srgbClr val="000000"/>
                </a:solidFill>
                <a:latin typeface="DejaVu Sans"/>
              </a:rPr>
              <a:t>anteroposterior</a:t>
            </a:r>
            <a:r>
              <a:rPr lang="en-IE" sz="2400" dirty="0">
                <a:solidFill>
                  <a:srgbClr val="000000"/>
                </a:solidFill>
                <a:latin typeface="DejaVu Sans"/>
              </a:rPr>
              <a:t> axis, away from rest position</a:t>
            </a:r>
          </a:p>
          <a:p>
            <a:pPr marL="1169988" lvl="1"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2400" b="1" dirty="0">
                <a:solidFill>
                  <a:srgbClr val="000000"/>
                </a:solidFill>
                <a:latin typeface="DejaVu Sans"/>
              </a:rPr>
              <a:t>Adduction</a:t>
            </a:r>
            <a:r>
              <a:rPr lang="en-IE" sz="2400" dirty="0">
                <a:solidFill>
                  <a:srgbClr val="000000"/>
                </a:solidFill>
                <a:latin typeface="DejaVu Sans"/>
              </a:rPr>
              <a:t> – opposite of abduction, back to rest position</a:t>
            </a:r>
            <a:endParaRPr lang="en-IE" sz="2400" b="1" dirty="0">
              <a:solidFill>
                <a:srgbClr val="000000"/>
              </a:solidFill>
              <a:latin typeface="DejaVu Sans"/>
            </a:endParaRP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endParaRPr lang="en-IE" sz="2800" b="1" dirty="0">
              <a:solidFill>
                <a:srgbClr val="000000"/>
              </a:solidFill>
              <a:latin typeface="DejaVu Sans"/>
            </a:endParaRPr>
          </a:p>
        </p:txBody>
      </p:sp>
      <p:sp>
        <p:nvSpPr>
          <p:cNvPr id="7987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A1D2253-9890-4768-9C3D-02AA74E92A73}"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41</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41</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dirty="0">
                <a:solidFill>
                  <a:srgbClr val="1F497D"/>
                </a:solidFill>
              </a:rPr>
              <a:t>Rotational Kinetic Energy</a:t>
            </a:r>
          </a:p>
        </p:txBody>
      </p:sp>
      <p:sp>
        <p:nvSpPr>
          <p:cNvPr id="79874" name="Text Box 2"/>
          <p:cNvSpPr txBox="1">
            <a:spLocks noChangeArrowheads="1"/>
          </p:cNvSpPr>
          <p:nvPr/>
        </p:nvSpPr>
        <p:spPr bwMode="auto">
          <a:xfrm>
            <a:off x="360363" y="1619250"/>
            <a:ext cx="9142412" cy="5219700"/>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dirty="0">
                <a:solidFill>
                  <a:srgbClr val="000000"/>
                </a:solidFill>
                <a:latin typeface="DejaVu Sans"/>
              </a:rPr>
              <a:t>Spinning object has energy</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dirty="0">
                <a:solidFill>
                  <a:srgbClr val="000000"/>
                </a:solidFill>
                <a:latin typeface="DejaVu Sans"/>
              </a:rPr>
              <a:t>Depends on rate of rotation and of mass distribution</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dirty="0">
                <a:solidFill>
                  <a:srgbClr val="000000"/>
                </a:solidFill>
                <a:latin typeface="DejaVu Sans"/>
              </a:rPr>
              <a:t>Get Rotational Kinetic Energy = RKE = ½ I</a:t>
            </a:r>
            <a:r>
              <a:rPr lang="el-GR" sz="3200" dirty="0">
                <a:solidFill>
                  <a:srgbClr val="000000"/>
                </a:solidFill>
                <a:latin typeface="Calibri"/>
              </a:rPr>
              <a:t>ω</a:t>
            </a:r>
            <a:r>
              <a:rPr lang="en-IE" sz="3200" baseline="30000" dirty="0">
                <a:solidFill>
                  <a:srgbClr val="000000"/>
                </a:solidFill>
                <a:latin typeface="Calibri"/>
              </a:rPr>
              <a:t>2</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endParaRPr lang="en-IE" sz="3200" dirty="0">
              <a:solidFill>
                <a:srgbClr val="000000"/>
              </a:solidFill>
              <a:latin typeface="DejaVu Sans"/>
            </a:endParaRPr>
          </a:p>
        </p:txBody>
      </p:sp>
      <p:sp>
        <p:nvSpPr>
          <p:cNvPr id="7987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A1D2253-9890-4768-9C3D-02AA74E92A73}"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42</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42</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ext Box 1"/>
          <p:cNvSpPr txBox="1">
            <a:spLocks noChangeArrowheads="1"/>
          </p:cNvSpPr>
          <p:nvPr/>
        </p:nvSpPr>
        <p:spPr bwMode="auto">
          <a:xfrm>
            <a:off x="503238" y="301625"/>
            <a:ext cx="9070975" cy="741363"/>
          </a:xfrm>
          <a:prstGeom prst="rect">
            <a:avLst/>
          </a:prstGeom>
          <a:noFill/>
          <a:ln w="9525">
            <a:noFill/>
            <a:round/>
            <a:headEnd/>
            <a:tailEnd/>
          </a:ln>
          <a:effectLst/>
        </p:spPr>
        <p:txBody>
          <a:bodyPr lIns="0" tIns="0" rIns="0" bIns="0" anchor="ctr"/>
          <a:lstStyle/>
          <a:p>
            <a:pPr algn="ct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IE" sz="4400" dirty="0">
                <a:solidFill>
                  <a:srgbClr val="1F497D"/>
                </a:solidFill>
              </a:rPr>
              <a:t>Rotational Kinetic Energy - examples</a:t>
            </a:r>
          </a:p>
        </p:txBody>
      </p:sp>
      <p:sp>
        <p:nvSpPr>
          <p:cNvPr id="79874" name="Text Box 2"/>
          <p:cNvSpPr txBox="1">
            <a:spLocks noChangeArrowheads="1"/>
          </p:cNvSpPr>
          <p:nvPr/>
        </p:nvSpPr>
        <p:spPr bwMode="auto">
          <a:xfrm>
            <a:off x="360363" y="1619250"/>
            <a:ext cx="9142412" cy="5219700"/>
          </a:xfrm>
          <a:prstGeom prst="rect">
            <a:avLst/>
          </a:prstGeom>
          <a:noFill/>
          <a:ln w="9525">
            <a:noFill/>
            <a:round/>
            <a:headEnd/>
            <a:tailEnd/>
          </a:ln>
          <a:effectLst/>
        </p:spPr>
        <p:txBody>
          <a:bodyPr lIns="0" tIns="0" rIns="0" bIns="0"/>
          <a:lstStyle/>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dirty="0">
                <a:solidFill>
                  <a:srgbClr val="000000"/>
                </a:solidFill>
                <a:latin typeface="DejaVu Sans"/>
              </a:rPr>
              <a:t>Re-examine the problem on slide 29 and solve using energy conservation. Note how much easier it is to do this way.</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dirty="0">
                <a:solidFill>
                  <a:srgbClr val="000000"/>
                </a:solidFill>
                <a:latin typeface="DejaVu Sans"/>
              </a:rPr>
              <a:t>A bowling ball has a radius of 0.269m, a mass of 6.5kg, and a moment of inertia of 0.188kgm</a:t>
            </a:r>
            <a:r>
              <a:rPr lang="en-IE" sz="3200" baseline="30000" dirty="0">
                <a:solidFill>
                  <a:srgbClr val="000000"/>
                </a:solidFill>
                <a:latin typeface="DejaVu Sans"/>
              </a:rPr>
              <a:t>2</a:t>
            </a:r>
            <a:r>
              <a:rPr lang="en-IE" sz="3200" dirty="0">
                <a:solidFill>
                  <a:srgbClr val="000000"/>
                </a:solidFill>
                <a:latin typeface="DejaVu Sans"/>
              </a:rPr>
              <a:t>. Its speed is 5ms</a:t>
            </a:r>
            <a:r>
              <a:rPr lang="en-IE" sz="3200" baseline="30000" dirty="0">
                <a:solidFill>
                  <a:srgbClr val="000000"/>
                </a:solidFill>
                <a:latin typeface="DejaVu Sans"/>
              </a:rPr>
              <a:t>-1</a:t>
            </a:r>
            <a:r>
              <a:rPr lang="en-IE" sz="3200" dirty="0">
                <a:solidFill>
                  <a:srgbClr val="000000"/>
                </a:solidFill>
                <a:latin typeface="DejaVu Sans"/>
              </a:rPr>
              <a:t>. Calculate its kinetic energy, its angular velocity, and its angular kinetic energy.</a:t>
            </a:r>
          </a:p>
          <a:p>
            <a:pPr marL="427038" indent="-322263" algn="ctr">
              <a:spcAft>
                <a:spcPts val="1413"/>
              </a:spcAft>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r>
              <a:rPr lang="en-IE" sz="3200" b="1" dirty="0">
                <a:solidFill>
                  <a:srgbClr val="000000"/>
                </a:solidFill>
                <a:latin typeface="DejaVu Sans"/>
              </a:rPr>
              <a:t>[81.25J, 18.6rads s</a:t>
            </a:r>
            <a:r>
              <a:rPr lang="en-IE" sz="3200" b="1" baseline="30000" dirty="0">
                <a:solidFill>
                  <a:srgbClr val="000000"/>
                </a:solidFill>
                <a:latin typeface="DejaVu Sans"/>
              </a:rPr>
              <a:t>-1</a:t>
            </a:r>
            <a:r>
              <a:rPr lang="en-IE" sz="3200" b="1" dirty="0">
                <a:solidFill>
                  <a:srgbClr val="000000"/>
                </a:solidFill>
                <a:latin typeface="DejaVu Sans"/>
              </a:rPr>
              <a:t>, 32.52J]</a:t>
            </a:r>
          </a:p>
          <a:p>
            <a:pPr marL="427038" indent="-322263">
              <a:spcAft>
                <a:spcPts val="1413"/>
              </a:spcAft>
              <a:buFont typeface="Arial" pitchFamily="34" charset="0"/>
              <a:buChar char="•"/>
              <a:tabLst>
                <a:tab pos="427038" algn="l"/>
                <a:tab pos="874713" algn="l"/>
                <a:tab pos="1323975" algn="l"/>
                <a:tab pos="1773238" algn="l"/>
                <a:tab pos="2222500" algn="l"/>
                <a:tab pos="2671763" algn="l"/>
                <a:tab pos="3121025" algn="l"/>
                <a:tab pos="3570288" algn="l"/>
                <a:tab pos="4019550" algn="l"/>
                <a:tab pos="4468813" algn="l"/>
                <a:tab pos="4918075" algn="l"/>
                <a:tab pos="5367338" algn="l"/>
                <a:tab pos="5816600" algn="l"/>
                <a:tab pos="6265863" algn="l"/>
                <a:tab pos="6715125" algn="l"/>
                <a:tab pos="7164388" algn="l"/>
                <a:tab pos="7613650" algn="l"/>
                <a:tab pos="8062913" algn="l"/>
                <a:tab pos="8512175" algn="l"/>
                <a:tab pos="8961438" algn="l"/>
                <a:tab pos="9410700" algn="l"/>
              </a:tabLst>
            </a:pPr>
            <a:endParaRPr lang="en-IE" sz="3200" dirty="0">
              <a:solidFill>
                <a:srgbClr val="000000"/>
              </a:solidFill>
              <a:latin typeface="DejaVu Sans"/>
            </a:endParaRPr>
          </a:p>
        </p:txBody>
      </p:sp>
      <p:sp>
        <p:nvSpPr>
          <p:cNvPr id="79875" name="Text Box 3"/>
          <p:cNvSpPr txBox="1">
            <a:spLocks noChangeArrowheads="1"/>
          </p:cNvSpPr>
          <p:nvPr/>
        </p:nvSpPr>
        <p:spPr bwMode="auto">
          <a:xfrm>
            <a:off x="7226300" y="6886575"/>
            <a:ext cx="2347913" cy="520700"/>
          </a:xfrm>
          <a:prstGeom prst="rect">
            <a:avLst/>
          </a:prstGeom>
          <a:noFill/>
          <a:ln w="9525">
            <a:noFill/>
            <a:round/>
            <a:headEnd/>
            <a:tailEnd/>
          </a:ln>
          <a:effectLst/>
        </p:spPr>
        <p:txBody>
          <a:bodyPr lIns="0" tIns="0" rIns="0" bIns="0"/>
          <a:lstStyle/>
          <a:p>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fld id="{4A1D2253-9890-4768-9C3D-02AA74E92A73}" type="slidenum">
              <a:rPr lang="en-IE" sz="1400">
                <a:solidFill>
                  <a:srgbClr val="000000"/>
                </a:solidFill>
                <a:latin typeface="Times New Roman" pitchFamily="18" charset="0"/>
              </a:rPr>
              <a:pPr algn="r">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t>43</a:t>
            </a:fld>
            <a:endParaRPr lang="en-IE" sz="1400">
              <a:solidFill>
                <a:srgbClr val="000000"/>
              </a:solidFill>
              <a:latin typeface="Times New Roman" pitchFamily="18" charset="0"/>
            </a:endParaRPr>
          </a:p>
        </p:txBody>
      </p:sp>
      <p:sp>
        <p:nvSpPr>
          <p:cNvPr id="5" name="Slide Number Placeholder 4"/>
          <p:cNvSpPr>
            <a:spLocks noGrp="1"/>
          </p:cNvSpPr>
          <p:nvPr>
            <p:ph type="sldNum" idx="10"/>
          </p:nvPr>
        </p:nvSpPr>
        <p:spPr/>
        <p:txBody>
          <a:bodyPr/>
          <a:lstStyle/>
          <a:p>
            <a:fld id="{FE851EA8-346B-4082-9734-32D7F48A3BF1}" type="slidenum">
              <a:rPr lang="en-IE" smtClean="0"/>
              <a:pPr/>
              <a:t>43</a:t>
            </a:fld>
            <a:endParaRPr lang="en-IE"/>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BF0235-B4BA-C033-0F9B-8C9778CEC6B7}"/>
              </a:ext>
            </a:extLst>
          </p:cNvPr>
          <p:cNvSpPr>
            <a:spLocks noGrp="1"/>
          </p:cNvSpPr>
          <p:nvPr>
            <p:ph type="sldNum" idx="10"/>
          </p:nvPr>
        </p:nvSpPr>
        <p:spPr/>
        <p:txBody>
          <a:bodyPr/>
          <a:lstStyle/>
          <a:p>
            <a:fld id="{FE851EA8-346B-4082-9734-32D7F48A3BF1}" type="slidenum">
              <a:rPr lang="en-IE" smtClean="0"/>
              <a:pPr/>
              <a:t>44</a:t>
            </a:fld>
            <a:endParaRPr lang="en-IE"/>
          </a:p>
        </p:txBody>
      </p:sp>
      <p:sp>
        <p:nvSpPr>
          <p:cNvPr id="4" name="TextBox 3">
            <a:extLst>
              <a:ext uri="{FF2B5EF4-FFF2-40B4-BE49-F238E27FC236}">
                <a16:creationId xmlns:a16="http://schemas.microsoft.com/office/drawing/2014/main" id="{4073CAD7-23A6-745D-E5C2-FBD20A7C3C85}"/>
              </a:ext>
            </a:extLst>
          </p:cNvPr>
          <p:cNvSpPr txBox="1"/>
          <p:nvPr/>
        </p:nvSpPr>
        <p:spPr>
          <a:xfrm>
            <a:off x="2519314" y="3595482"/>
            <a:ext cx="5038626" cy="369332"/>
          </a:xfrm>
          <a:prstGeom prst="rect">
            <a:avLst/>
          </a:prstGeom>
          <a:noFill/>
        </p:spPr>
        <p:txBody>
          <a:bodyPr wrap="square">
            <a:spAutoFit/>
          </a:bodyPr>
          <a:lstStyle/>
          <a:p>
            <a:r>
              <a:rPr lang="en-IE" dirty="0">
                <a:solidFill>
                  <a:srgbClr val="C00000"/>
                </a:solidFill>
              </a:rPr>
              <a:t>https://ciechanow.ski/bicycle/</a:t>
            </a:r>
          </a:p>
        </p:txBody>
      </p:sp>
    </p:spTree>
    <p:extLst>
      <p:ext uri="{BB962C8B-B14F-4D97-AF65-F5344CB8AC3E}">
        <p14:creationId xmlns:p14="http://schemas.microsoft.com/office/powerpoint/2010/main" val="3226142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Biomechanics Summary</a:t>
            </a:r>
          </a:p>
        </p:txBody>
      </p:sp>
      <p:sp>
        <p:nvSpPr>
          <p:cNvPr id="3" name="Content Placeholder 2"/>
          <p:cNvSpPr>
            <a:spLocks noGrp="1"/>
          </p:cNvSpPr>
          <p:nvPr>
            <p:ph sz="half" idx="1"/>
          </p:nvPr>
        </p:nvSpPr>
        <p:spPr>
          <a:xfrm>
            <a:off x="1871960" y="1691605"/>
            <a:ext cx="6265266" cy="4984750"/>
          </a:xfrm>
        </p:spPr>
        <p:txBody>
          <a:bodyPr/>
          <a:lstStyle/>
          <a:p>
            <a:pPr>
              <a:buFont typeface="Arial" pitchFamily="34" charset="0"/>
              <a:buChar char="•"/>
            </a:pPr>
            <a:r>
              <a:rPr lang="en-IE" dirty="0"/>
              <a:t>Period / frequency</a:t>
            </a:r>
          </a:p>
          <a:p>
            <a:pPr>
              <a:buFont typeface="Arial" pitchFamily="34" charset="0"/>
              <a:buChar char="•"/>
            </a:pPr>
            <a:r>
              <a:rPr lang="en-IE" dirty="0"/>
              <a:t>Radians / angular velocity</a:t>
            </a:r>
          </a:p>
          <a:p>
            <a:pPr>
              <a:buFont typeface="Arial" pitchFamily="34" charset="0"/>
              <a:buChar char="•"/>
            </a:pPr>
            <a:r>
              <a:rPr lang="en-IE" dirty="0"/>
              <a:t>Angular kinetics</a:t>
            </a:r>
          </a:p>
          <a:p>
            <a:pPr>
              <a:buFont typeface="Arial" pitchFamily="34" charset="0"/>
              <a:buChar char="•"/>
            </a:pPr>
            <a:r>
              <a:rPr lang="en-IE" dirty="0"/>
              <a:t>Angular momentum, conservation</a:t>
            </a:r>
          </a:p>
          <a:p>
            <a:pPr>
              <a:buFont typeface="Arial" pitchFamily="34" charset="0"/>
              <a:buChar char="•"/>
            </a:pPr>
            <a:r>
              <a:rPr lang="en-IE" dirty="0"/>
              <a:t>Moment of inertia</a:t>
            </a:r>
          </a:p>
          <a:p>
            <a:pPr>
              <a:buFont typeface="Arial" pitchFamily="34" charset="0"/>
              <a:buChar char="•"/>
            </a:pPr>
            <a:r>
              <a:rPr lang="en-IE" dirty="0"/>
              <a:t>Torques</a:t>
            </a:r>
          </a:p>
          <a:p>
            <a:pPr>
              <a:buFont typeface="Arial" pitchFamily="34" charset="0"/>
              <a:buChar char="•"/>
            </a:pPr>
            <a:r>
              <a:rPr lang="en-IE" dirty="0"/>
              <a:t>Rotational kinetic energy</a:t>
            </a:r>
          </a:p>
          <a:p>
            <a:pPr>
              <a:buFont typeface="Arial" pitchFamily="34" charset="0"/>
              <a:buChar char="•"/>
            </a:pPr>
            <a:endParaRPr lang="en-IE" dirty="0"/>
          </a:p>
        </p:txBody>
      </p:sp>
      <p:sp>
        <p:nvSpPr>
          <p:cNvPr id="5" name="Slide Number Placeholder 4"/>
          <p:cNvSpPr>
            <a:spLocks noGrp="1"/>
          </p:cNvSpPr>
          <p:nvPr>
            <p:ph type="sldNum" idx="10"/>
          </p:nvPr>
        </p:nvSpPr>
        <p:spPr/>
        <p:txBody>
          <a:bodyPr/>
          <a:lstStyle/>
          <a:p>
            <a:fld id="{D5AAFA2B-6629-436B-8C2B-F2E4074EC49A}" type="slidenum">
              <a:rPr lang="en-IE" smtClean="0"/>
              <a:pPr/>
              <a:t>45</a:t>
            </a:fld>
            <a:endParaRPr lang="en-IE"/>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Biomechanics Summary</a:t>
            </a:r>
          </a:p>
        </p:txBody>
      </p:sp>
      <p:sp>
        <p:nvSpPr>
          <p:cNvPr id="3" name="Content Placeholder 2"/>
          <p:cNvSpPr>
            <a:spLocks noGrp="1"/>
          </p:cNvSpPr>
          <p:nvPr>
            <p:ph sz="half" idx="1"/>
          </p:nvPr>
        </p:nvSpPr>
        <p:spPr/>
        <p:txBody>
          <a:bodyPr/>
          <a:lstStyle/>
          <a:p>
            <a:pPr>
              <a:buFont typeface="Arial" pitchFamily="34" charset="0"/>
              <a:buChar char="•"/>
            </a:pPr>
            <a:r>
              <a:rPr lang="en-IE" dirty="0"/>
              <a:t>T = 1/f = 2</a:t>
            </a:r>
            <a:r>
              <a:rPr lang="el-GR" dirty="0"/>
              <a:t>π</a:t>
            </a:r>
            <a:r>
              <a:rPr lang="en-IE" dirty="0"/>
              <a:t>/</a:t>
            </a:r>
            <a:r>
              <a:rPr lang="el-GR" dirty="0"/>
              <a:t>ω</a:t>
            </a:r>
            <a:endParaRPr lang="en-IE" dirty="0"/>
          </a:p>
          <a:p>
            <a:pPr>
              <a:buFont typeface="Arial" pitchFamily="34" charset="0"/>
              <a:buChar char="•"/>
            </a:pPr>
            <a:r>
              <a:rPr lang="en-IE" dirty="0"/>
              <a:t>F = 1/T = </a:t>
            </a:r>
            <a:r>
              <a:rPr lang="el-GR" dirty="0"/>
              <a:t>ω</a:t>
            </a:r>
            <a:r>
              <a:rPr lang="en-IE" dirty="0"/>
              <a:t>/2</a:t>
            </a:r>
            <a:r>
              <a:rPr lang="el-GR" dirty="0"/>
              <a:t>π</a:t>
            </a:r>
            <a:endParaRPr lang="en-IE" dirty="0"/>
          </a:p>
          <a:p>
            <a:pPr>
              <a:buFont typeface="Arial" pitchFamily="34" charset="0"/>
              <a:buChar char="•"/>
            </a:pPr>
            <a:r>
              <a:rPr lang="el-GR" dirty="0"/>
              <a:t>ω </a:t>
            </a:r>
            <a:r>
              <a:rPr lang="en-IE" dirty="0"/>
              <a:t>=2</a:t>
            </a:r>
            <a:r>
              <a:rPr lang="el-GR" dirty="0"/>
              <a:t>π</a:t>
            </a:r>
            <a:r>
              <a:rPr lang="en-IE" dirty="0"/>
              <a:t>f = 2</a:t>
            </a:r>
            <a:r>
              <a:rPr lang="el-GR" dirty="0"/>
              <a:t>π</a:t>
            </a:r>
            <a:r>
              <a:rPr lang="en-IE" dirty="0"/>
              <a:t>/T</a:t>
            </a:r>
          </a:p>
          <a:p>
            <a:pPr>
              <a:buFont typeface="Arial" pitchFamily="34" charset="0"/>
              <a:buChar char="•"/>
            </a:pPr>
            <a:r>
              <a:rPr lang="en-IE" dirty="0"/>
              <a:t>v =</a:t>
            </a:r>
            <a:r>
              <a:rPr lang="el-GR" dirty="0"/>
              <a:t> ω</a:t>
            </a:r>
            <a:r>
              <a:rPr lang="en-IE" dirty="0"/>
              <a:t>R: a</a:t>
            </a:r>
            <a:r>
              <a:rPr lang="en-IE" baseline="-25000" dirty="0"/>
              <a:t>t</a:t>
            </a:r>
            <a:r>
              <a:rPr lang="en-IE" dirty="0"/>
              <a:t> =</a:t>
            </a:r>
            <a:r>
              <a:rPr lang="en-IE" dirty="0" err="1"/>
              <a:t>αR</a:t>
            </a:r>
            <a:endParaRPr lang="en-IE" dirty="0"/>
          </a:p>
          <a:p>
            <a:pPr>
              <a:buFont typeface="Arial" pitchFamily="34" charset="0"/>
              <a:buChar char="•"/>
            </a:pPr>
            <a:r>
              <a:rPr lang="en-IE" dirty="0" err="1"/>
              <a:t>a</a:t>
            </a:r>
            <a:r>
              <a:rPr lang="en-IE" baseline="-25000" dirty="0" err="1"/>
              <a:t>r</a:t>
            </a:r>
            <a:r>
              <a:rPr lang="en-IE" dirty="0"/>
              <a:t> = v</a:t>
            </a:r>
            <a:r>
              <a:rPr lang="el-GR" dirty="0"/>
              <a:t>ω</a:t>
            </a:r>
            <a:r>
              <a:rPr lang="en-IE" dirty="0"/>
              <a:t> = v</a:t>
            </a:r>
            <a:r>
              <a:rPr lang="en-IE" baseline="30000" dirty="0"/>
              <a:t>2</a:t>
            </a:r>
            <a:r>
              <a:rPr lang="en-IE" dirty="0"/>
              <a:t>/R = </a:t>
            </a:r>
            <a:r>
              <a:rPr lang="el-GR" dirty="0"/>
              <a:t>ω</a:t>
            </a:r>
            <a:r>
              <a:rPr lang="en-IE" baseline="30000" dirty="0"/>
              <a:t>2</a:t>
            </a:r>
            <a:r>
              <a:rPr lang="en-IE" dirty="0"/>
              <a:t>R</a:t>
            </a:r>
          </a:p>
          <a:p>
            <a:pPr>
              <a:buFont typeface="Arial" pitchFamily="34" charset="0"/>
              <a:buChar char="•"/>
            </a:pPr>
            <a:r>
              <a:rPr lang="el-GR" dirty="0"/>
              <a:t>τ</a:t>
            </a:r>
            <a:r>
              <a:rPr lang="en-IE" dirty="0"/>
              <a:t> = force x distance</a:t>
            </a:r>
          </a:p>
        </p:txBody>
      </p:sp>
      <p:sp>
        <p:nvSpPr>
          <p:cNvPr id="4" name="Content Placeholder 3"/>
          <p:cNvSpPr>
            <a:spLocks noGrp="1"/>
          </p:cNvSpPr>
          <p:nvPr>
            <p:ph sz="half" idx="2"/>
          </p:nvPr>
        </p:nvSpPr>
        <p:spPr/>
        <p:txBody>
          <a:bodyPr/>
          <a:lstStyle/>
          <a:p>
            <a:pPr>
              <a:buFont typeface="Arial" pitchFamily="34" charset="0"/>
              <a:buChar char="•"/>
            </a:pPr>
            <a:r>
              <a:rPr lang="en-IE" dirty="0"/>
              <a:t>ω = ω</a:t>
            </a:r>
            <a:r>
              <a:rPr lang="en-IE" baseline="-25000" dirty="0"/>
              <a:t>0</a:t>
            </a:r>
            <a:r>
              <a:rPr lang="en-IE" dirty="0"/>
              <a:t> + </a:t>
            </a:r>
            <a:r>
              <a:rPr lang="en-IE" dirty="0" err="1"/>
              <a:t>αt</a:t>
            </a:r>
            <a:endParaRPr lang="en-IE" dirty="0"/>
          </a:p>
          <a:p>
            <a:pPr>
              <a:buFont typeface="Arial" pitchFamily="34" charset="0"/>
              <a:buChar char="•"/>
            </a:pPr>
            <a:r>
              <a:rPr lang="en-IE" dirty="0"/>
              <a:t>θ = ω</a:t>
            </a:r>
            <a:r>
              <a:rPr lang="en-IE" baseline="-25000" dirty="0"/>
              <a:t>0</a:t>
            </a:r>
            <a:r>
              <a:rPr lang="en-IE" dirty="0"/>
              <a:t>t + ½ αt</a:t>
            </a:r>
            <a:r>
              <a:rPr lang="en-IE" baseline="30000" dirty="0"/>
              <a:t>2</a:t>
            </a:r>
          </a:p>
          <a:p>
            <a:pPr>
              <a:buFont typeface="Arial" pitchFamily="34" charset="0"/>
              <a:buChar char="•"/>
            </a:pPr>
            <a:r>
              <a:rPr lang="en-IE" dirty="0"/>
              <a:t>ω</a:t>
            </a:r>
            <a:r>
              <a:rPr lang="en-IE" baseline="30000" dirty="0"/>
              <a:t>2</a:t>
            </a:r>
            <a:r>
              <a:rPr lang="en-IE" dirty="0"/>
              <a:t> = ω</a:t>
            </a:r>
            <a:r>
              <a:rPr lang="en-IE" baseline="-25000" dirty="0"/>
              <a:t>0</a:t>
            </a:r>
            <a:r>
              <a:rPr lang="en-IE" baseline="30000" dirty="0"/>
              <a:t>2</a:t>
            </a:r>
            <a:r>
              <a:rPr lang="en-IE" dirty="0"/>
              <a:t> + 2αθ</a:t>
            </a:r>
          </a:p>
          <a:p>
            <a:pPr>
              <a:buFont typeface="Arial" pitchFamily="34" charset="0"/>
              <a:buChar char="•"/>
            </a:pPr>
            <a:r>
              <a:rPr lang="en-IE" dirty="0"/>
              <a:t>θ = (ω</a:t>
            </a:r>
            <a:r>
              <a:rPr lang="en-IE" baseline="-25000" dirty="0"/>
              <a:t>0</a:t>
            </a:r>
            <a:r>
              <a:rPr lang="en-IE" dirty="0"/>
              <a:t> + ω)t / 2</a:t>
            </a:r>
          </a:p>
          <a:p>
            <a:pPr>
              <a:buFont typeface="Arial" pitchFamily="34" charset="0"/>
              <a:buChar char="•"/>
            </a:pPr>
            <a:r>
              <a:rPr lang="en-IE" dirty="0"/>
              <a:t>I = </a:t>
            </a:r>
            <a:r>
              <a:rPr lang="el-GR" dirty="0"/>
              <a:t>Σ</a:t>
            </a:r>
            <a:r>
              <a:rPr lang="en-IE" dirty="0"/>
              <a:t>mR</a:t>
            </a:r>
            <a:r>
              <a:rPr lang="en-IE" baseline="30000" dirty="0"/>
              <a:t>2</a:t>
            </a:r>
          </a:p>
          <a:p>
            <a:pPr>
              <a:buFont typeface="Arial" pitchFamily="34" charset="0"/>
              <a:buChar char="•"/>
            </a:pPr>
            <a:r>
              <a:rPr lang="el-GR" dirty="0"/>
              <a:t>τ</a:t>
            </a:r>
            <a:r>
              <a:rPr lang="en-IE" dirty="0"/>
              <a:t> = </a:t>
            </a:r>
            <a:r>
              <a:rPr lang="en-IE" dirty="0" err="1"/>
              <a:t>Iα</a:t>
            </a:r>
            <a:endParaRPr lang="en-IE" dirty="0"/>
          </a:p>
          <a:p>
            <a:pPr>
              <a:buFont typeface="Arial" pitchFamily="34" charset="0"/>
              <a:buChar char="•"/>
            </a:pPr>
            <a:r>
              <a:rPr lang="en-IE" dirty="0"/>
              <a:t>RKE = ½Iω</a:t>
            </a:r>
            <a:r>
              <a:rPr lang="en-IE" baseline="30000" dirty="0"/>
              <a:t>2</a:t>
            </a:r>
            <a:r>
              <a:rPr lang="en-IE" dirty="0"/>
              <a:t> </a:t>
            </a:r>
          </a:p>
          <a:p>
            <a:pPr>
              <a:buFont typeface="Arial" pitchFamily="34" charset="0"/>
              <a:buChar char="•"/>
            </a:pPr>
            <a:r>
              <a:rPr lang="en-IE" dirty="0"/>
              <a:t>L = </a:t>
            </a:r>
            <a:r>
              <a:rPr lang="en-IE" dirty="0" err="1"/>
              <a:t>Iω</a:t>
            </a:r>
            <a:endParaRPr lang="en-IE" dirty="0"/>
          </a:p>
          <a:p>
            <a:pPr>
              <a:buFont typeface="Arial" pitchFamily="34" charset="0"/>
              <a:buChar char="•"/>
            </a:pPr>
            <a:r>
              <a:rPr lang="en-IE" dirty="0" err="1"/>
              <a:t>L</a:t>
            </a:r>
            <a:r>
              <a:rPr lang="en-IE" baseline="-25000" dirty="0" err="1"/>
              <a:t>before</a:t>
            </a:r>
            <a:r>
              <a:rPr lang="en-IE" dirty="0"/>
              <a:t> = </a:t>
            </a:r>
            <a:r>
              <a:rPr lang="en-IE" dirty="0" err="1"/>
              <a:t>L</a:t>
            </a:r>
            <a:r>
              <a:rPr lang="en-IE" baseline="-25000" dirty="0" err="1"/>
              <a:t>after</a:t>
            </a:r>
            <a:endParaRPr lang="en-IE" baseline="-25000" dirty="0"/>
          </a:p>
        </p:txBody>
      </p:sp>
      <p:sp>
        <p:nvSpPr>
          <p:cNvPr id="5" name="Slide Number Placeholder 4"/>
          <p:cNvSpPr>
            <a:spLocks noGrp="1"/>
          </p:cNvSpPr>
          <p:nvPr>
            <p:ph type="sldNum" idx="10"/>
          </p:nvPr>
        </p:nvSpPr>
        <p:spPr/>
        <p:txBody>
          <a:bodyPr/>
          <a:lstStyle/>
          <a:p>
            <a:fld id="{D5AAFA2B-6629-436B-8C2B-F2E4074EC49A}" type="slidenum">
              <a:rPr lang="en-IE" smtClean="0"/>
              <a:pPr/>
              <a:t>46</a:t>
            </a:fld>
            <a:endParaRPr lang="en-IE"/>
          </a:p>
        </p:txBody>
      </p:sp>
    </p:spTree>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1800" b="0" i="0" u="none" strike="noStrike" cap="none" normalizeH="0" baseline="0" smtClean="0">
            <a:ln>
              <a:noFill/>
            </a:ln>
            <a:solidFill>
              <a:schemeClr val="bg1"/>
            </a:solidFill>
            <a:effectLst/>
            <a:latin typeface="Arial" pitchFamily="34" charset="0"/>
            <a:ea typeface="DejaVu Sans"/>
            <a:cs typeface="DejaVu Sans"/>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8" charset="0"/>
          <a:buNone/>
          <a:tabLst/>
          <a:defRPr kumimoji="0" lang="en-GB" sz="1800" b="0" i="0" u="none" strike="noStrike" cap="none" normalizeH="0" baseline="0" smtClean="0">
            <a:ln>
              <a:noFill/>
            </a:ln>
            <a:solidFill>
              <a:schemeClr val="bg1"/>
            </a:solidFill>
            <a:effectLst/>
            <a:latin typeface="Arial" pitchFamily="34" charset="0"/>
            <a:ea typeface="DejaVu Sans"/>
            <a:cs typeface="DejaVu Sans"/>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3976</TotalTime>
  <Words>2890</Words>
  <Application>Microsoft Office PowerPoint</Application>
  <PresentationFormat>Custom</PresentationFormat>
  <Paragraphs>495</Paragraphs>
  <Slides>46</Slides>
  <Notes>42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4" baseType="lpstr">
      <vt:lpstr>Arial</vt:lpstr>
      <vt:lpstr>Calibri</vt:lpstr>
      <vt:lpstr>DejaVu Sans</vt:lpstr>
      <vt:lpstr>Symbol</vt:lpstr>
      <vt:lpstr>Times New Roman</vt:lpstr>
      <vt:lpstr>Wingdings</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Speed and Acceleration on a Circle</vt:lpstr>
      <vt:lpstr>Speed and Acceleration on a Circle Tangential and Radial Acceleration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Angular Momentum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Biomechanics Summary</vt:lpstr>
      <vt:lpstr>Biomechanics 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Biomechanics</dc:title>
  <dc:creator>Eugene</dc:creator>
  <cp:lastModifiedBy>Eugene Hickey</cp:lastModifiedBy>
  <cp:revision>240</cp:revision>
  <cp:lastPrinted>1601-01-01T00:00:00Z</cp:lastPrinted>
  <dcterms:created xsi:type="dcterms:W3CDTF">1601-01-01T00:00:00Z</dcterms:created>
  <dcterms:modified xsi:type="dcterms:W3CDTF">2023-05-09T09:49:39Z</dcterms:modified>
</cp:coreProperties>
</file>